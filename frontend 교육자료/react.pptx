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819" r:id="rId2"/>
    <p:sldId id="822" r:id="rId3"/>
    <p:sldId id="825" r:id="rId4"/>
    <p:sldId id="818" r:id="rId5"/>
    <p:sldId id="824" r:id="rId6"/>
    <p:sldId id="833" r:id="rId7"/>
    <p:sldId id="834" r:id="rId8"/>
    <p:sldId id="835" r:id="rId9"/>
    <p:sldId id="836" r:id="rId10"/>
    <p:sldId id="837" r:id="rId11"/>
    <p:sldId id="838" r:id="rId12"/>
    <p:sldId id="839" r:id="rId13"/>
    <p:sldId id="840" r:id="rId14"/>
    <p:sldId id="841" r:id="rId15"/>
    <p:sldId id="842" r:id="rId16"/>
    <p:sldId id="843" r:id="rId17"/>
    <p:sldId id="831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3FF"/>
    <a:srgbClr val="FC4C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5449" autoAdjust="0"/>
  </p:normalViewPr>
  <p:slideViewPr>
    <p:cSldViewPr snapToGrid="0">
      <p:cViewPr varScale="1">
        <p:scale>
          <a:sx n="128" d="100"/>
          <a:sy n="128" d="100"/>
        </p:scale>
        <p:origin x="17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64AF55-E316-43DE-B2B2-61924C35482E}" type="datetimeFigureOut">
              <a:rPr lang="ko-KR" altLang="en-US" smtClean="0"/>
              <a:t>2025. 2. 27.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2C787D-22B2-4657-96EC-990D19AEB8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6286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C787D-22B2-4657-96EC-990D19AEB86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308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586BD-0F56-465E-90DD-4F7EB5C22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2D75AF-8D7E-477A-B06A-773B54B18A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2D08B3-A9A6-4CA5-94A5-60BE4193B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2025. 2. 27.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5B2C64-F6D0-4564-A934-9F517F7C4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881C62-2657-4643-9CC9-89D68799A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8526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9BCD5E-CF2F-45CD-A1C5-FACE037AE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340CAA-7987-4F30-B10A-034CDBA23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8DEE94-B9EB-437B-B87B-4D6343955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2025. 2. 27.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C7A974-A07A-49C2-B147-F6EC85053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4EDD24-940C-445F-B974-623173FA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6671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55FC26-2554-4ACE-AD62-BF4C0D150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F7A203-776E-48E1-8F52-E0C061723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2283AA-0163-40C4-BD15-4B5D9779A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2025. 2. 27.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A8905D-720A-4884-BF88-251296BD5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1F5B7E-479B-4C2C-9C2F-FC3D3BAF2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6219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78C707-FFC8-4A24-BA23-EF9EC4467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160DF4-3AB1-42B3-8971-B823E5CB29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6BFC4C-B0FA-4F91-8D27-3D1AF4C2C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FAC31B-12B8-44B6-A9E9-8F967BCFB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2025. 2. 27.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FAD4C5-4E96-46C0-9033-3CF48A722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F5A243-79AB-498E-9F6B-C0EA9EA19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2856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839153-E8CD-49CF-A352-CE2C89DD0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D2D86D-B04B-4F6E-8B70-CEEE8EE74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DF040F-70C5-4670-BDE4-017C92D5B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02EE54B-8A53-409D-B09E-64BD2F952B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2B72209-6EC7-4418-A78D-417AB466F5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F99256C-B33C-4980-B58A-185F1B508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2025. 2. 27.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0D41821-F2CE-4C29-8132-70323EDD6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8C219DB-B597-4742-98CD-2CAE4BE50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8688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6D106D-5995-4C96-A34B-80776AE9E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FF2DA30-6E46-4781-A24E-22BEFDC93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2025. 2. 27.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E6DFE5-8E83-400E-805F-69D1FE73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D16593-628A-472D-A9C3-C41BD888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8798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9B1C4D2-3722-4C1D-B0E4-3ABC0DA4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2025. 2. 27.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3A393B7-AE11-4029-9D65-0BDEFB02D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9F3B94-79EC-477D-B625-FF12E870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109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D40AC1-6795-4CA4-8863-90C130E9F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AA3D37-5CDD-4F3C-8395-110B38116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09C48F-85AB-4E64-BEFA-3A18C6A9F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C7D03F-6B67-4E51-B669-6A0E67E1E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2025. 2. 27.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481C9-7778-4E3B-A752-9007B5C85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C20EB4-E727-4E37-91E3-2D601E7FF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0834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0C0D57-3EBF-4D7D-9103-029D562A3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925C662-F8E6-4896-9E6B-19D16B2099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ED9F6B-4286-432D-A5CB-100E7F776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AD39F7-71D8-4D10-B6E7-04E0D95EB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2025. 2. 27.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3C73A8-E25B-4949-B956-80A5EC260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7CE8D1-E11F-4E87-B585-E1E5C946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8801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98AADC-F389-4BCD-9E52-49B7E6490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A3D60F-143D-47A7-90DD-8D2052D74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D2913F-34A8-4E19-BE54-298D842C8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2025. 2. 27.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6ADB15-0821-4678-8A84-0615C9618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5E1647-A311-42C8-900F-03252A535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0695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42E21EA-AC61-43C5-AA22-71763E0491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D08377-D434-4883-933D-05403373BC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6BEFAE-52A5-4771-A24E-66D37EDBF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2025. 2. 27.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F5FDAD-E360-45AB-9254-5D5A1437A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79758A-1063-49CC-A47B-5A24925A9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562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718C337-9B27-40D3-A9B2-4005EE7EA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69189F-28A1-4057-8CE9-3B76810BF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F256D8-7BB6-49E2-954E-EF9E05DBF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2025. 2. 27.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38B22D-A8A6-4CDF-89EF-E670765EC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BBC4C3-52FC-436A-A3AE-F6A5F52B6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2059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096742-40DA-084E-A437-86FE713EC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8EF10402-83F7-A2FF-6CC3-3AB754179022}"/>
              </a:ext>
            </a:extLst>
          </p:cNvPr>
          <p:cNvSpPr/>
          <p:nvPr/>
        </p:nvSpPr>
        <p:spPr>
          <a:xfrm>
            <a:off x="4026772" y="2731302"/>
            <a:ext cx="6005258" cy="1006840"/>
          </a:xfrm>
          <a:custGeom>
            <a:avLst/>
            <a:gdLst>
              <a:gd name="connsiteX0" fmla="*/ 410589 w 6005258"/>
              <a:gd name="connsiteY0" fmla="*/ 0 h 1006840"/>
              <a:gd name="connsiteX1" fmla="*/ 5501838 w 6005258"/>
              <a:gd name="connsiteY1" fmla="*/ 0 h 1006840"/>
              <a:gd name="connsiteX2" fmla="*/ 6005258 w 6005258"/>
              <a:gd name="connsiteY2" fmla="*/ 503420 h 1006840"/>
              <a:gd name="connsiteX3" fmla="*/ 5501838 w 6005258"/>
              <a:gd name="connsiteY3" fmla="*/ 1006840 h 1006840"/>
              <a:gd name="connsiteX4" fmla="*/ 0 w 6005258"/>
              <a:gd name="connsiteY4" fmla="*/ 1006840 h 1006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05258" h="1006840">
                <a:moveTo>
                  <a:pt x="410589" y="0"/>
                </a:moveTo>
                <a:lnTo>
                  <a:pt x="5501838" y="0"/>
                </a:lnTo>
                <a:cubicBezTo>
                  <a:pt x="5779869" y="0"/>
                  <a:pt x="6005258" y="225389"/>
                  <a:pt x="6005258" y="503420"/>
                </a:cubicBezTo>
                <a:cubicBezTo>
                  <a:pt x="6005258" y="781451"/>
                  <a:pt x="5779869" y="1006840"/>
                  <a:pt x="5501838" y="1006840"/>
                </a:cubicBezTo>
                <a:lnTo>
                  <a:pt x="0" y="1006840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600" i="1" kern="0" dirty="0">
                <a:ln w="952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3</a:t>
            </a:r>
            <a:r>
              <a:rPr kumimoji="0" lang="en-US" altLang="ko-KR" sz="36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.</a:t>
            </a:r>
            <a:r>
              <a:rPr kumimoji="0" lang="ko-KR" altLang="en-US" sz="36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 </a:t>
            </a:r>
            <a:r>
              <a:rPr kumimoji="0" lang="en-US" altLang="ko-KR" sz="36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REACT.JS</a:t>
            </a:r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C0383F5C-86A7-2256-81F4-37D601A2CCCC}"/>
              </a:ext>
            </a:extLst>
          </p:cNvPr>
          <p:cNvSpPr/>
          <p:nvPr/>
        </p:nvSpPr>
        <p:spPr>
          <a:xfrm>
            <a:off x="2976384" y="2587892"/>
            <a:ext cx="1694251" cy="1006840"/>
          </a:xfrm>
          <a:custGeom>
            <a:avLst/>
            <a:gdLst>
              <a:gd name="connsiteX0" fmla="*/ 503420 w 1694251"/>
              <a:gd name="connsiteY0" fmla="*/ 0 h 1006840"/>
              <a:gd name="connsiteX1" fmla="*/ 1694251 w 1694251"/>
              <a:gd name="connsiteY1" fmla="*/ 0 h 1006840"/>
              <a:gd name="connsiteX2" fmla="*/ 1283661 w 1694251"/>
              <a:gd name="connsiteY2" fmla="*/ 1006840 h 1006840"/>
              <a:gd name="connsiteX3" fmla="*/ 503420 w 1694251"/>
              <a:gd name="connsiteY3" fmla="*/ 1006840 h 1006840"/>
              <a:gd name="connsiteX4" fmla="*/ 0 w 1694251"/>
              <a:gd name="connsiteY4" fmla="*/ 503420 h 1006840"/>
              <a:gd name="connsiteX5" fmla="*/ 503420 w 1694251"/>
              <a:gd name="connsiteY5" fmla="*/ 0 h 1006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94251" h="1006840">
                <a:moveTo>
                  <a:pt x="503420" y="0"/>
                </a:moveTo>
                <a:lnTo>
                  <a:pt x="1694251" y="0"/>
                </a:lnTo>
                <a:lnTo>
                  <a:pt x="1283661" y="1006840"/>
                </a:lnTo>
                <a:lnTo>
                  <a:pt x="503420" y="1006840"/>
                </a:lnTo>
                <a:cubicBezTo>
                  <a:pt x="225389" y="1006840"/>
                  <a:pt x="0" y="781451"/>
                  <a:pt x="0" y="503420"/>
                </a:cubicBezTo>
                <a:cubicBezTo>
                  <a:pt x="0" y="225389"/>
                  <a:pt x="225389" y="0"/>
                  <a:pt x="5034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ko-KR" altLang="en-US" sz="1600" i="1" kern="0" dirty="0">
                <a:ln w="9525">
                  <a:noFill/>
                </a:ln>
                <a:solidFill>
                  <a:prstClr val="black"/>
                </a:solidFill>
                <a:latin typeface="맑은 고딕" panose="020F0502020204030204"/>
                <a:ea typeface="Tmon몬소리 Black" panose="02000A03000000000000" pitchFamily="2" charset="-127"/>
              </a:rPr>
              <a:t>인턴 교육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D046E6F6-1B37-138B-48CF-C5EFAC5530D4}"/>
              </a:ext>
            </a:extLst>
          </p:cNvPr>
          <p:cNvSpPr/>
          <p:nvPr/>
        </p:nvSpPr>
        <p:spPr>
          <a:xfrm>
            <a:off x="4026772" y="3595228"/>
            <a:ext cx="230109" cy="142914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4216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3F0D79-A2AF-2B1D-A2F4-2429EC928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9770B1B5-3E49-5630-F59D-A46A27E3408F}"/>
              </a:ext>
            </a:extLst>
          </p:cNvPr>
          <p:cNvSpPr/>
          <p:nvPr/>
        </p:nvSpPr>
        <p:spPr>
          <a:xfrm>
            <a:off x="6127775" y="269693"/>
            <a:ext cx="1066250" cy="5048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44605977-7CF0-BDB1-BD98-C5B7FEB46C0E}"/>
              </a:ext>
            </a:extLst>
          </p:cNvPr>
          <p:cNvSpPr/>
          <p:nvPr/>
        </p:nvSpPr>
        <p:spPr>
          <a:xfrm>
            <a:off x="1105947" y="269693"/>
            <a:ext cx="5898940" cy="504826"/>
          </a:xfrm>
          <a:custGeom>
            <a:avLst/>
            <a:gdLst>
              <a:gd name="connsiteX0" fmla="*/ 205868 w 5898940"/>
              <a:gd name="connsiteY0" fmla="*/ 0 h 504826"/>
              <a:gd name="connsiteX1" fmla="*/ 5646527 w 5898940"/>
              <a:gd name="connsiteY1" fmla="*/ 0 h 504826"/>
              <a:gd name="connsiteX2" fmla="*/ 5898940 w 5898940"/>
              <a:gd name="connsiteY2" fmla="*/ 252413 h 504826"/>
              <a:gd name="connsiteX3" fmla="*/ 5898939 w 5898940"/>
              <a:gd name="connsiteY3" fmla="*/ 252413 h 504826"/>
              <a:gd name="connsiteX4" fmla="*/ 5646526 w 5898940"/>
              <a:gd name="connsiteY4" fmla="*/ 504826 h 504826"/>
              <a:gd name="connsiteX5" fmla="*/ 0 w 5898940"/>
              <a:gd name="connsiteY5" fmla="*/ 504825 h 50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8940" h="504826">
                <a:moveTo>
                  <a:pt x="205868" y="0"/>
                </a:moveTo>
                <a:lnTo>
                  <a:pt x="5646527" y="0"/>
                </a:lnTo>
                <a:cubicBezTo>
                  <a:pt x="5785931" y="0"/>
                  <a:pt x="5898940" y="113009"/>
                  <a:pt x="5898940" y="252413"/>
                </a:cubicBezTo>
                <a:lnTo>
                  <a:pt x="5898939" y="252413"/>
                </a:lnTo>
                <a:cubicBezTo>
                  <a:pt x="5898939" y="391817"/>
                  <a:pt x="5785930" y="504826"/>
                  <a:pt x="5646526" y="504826"/>
                </a:cubicBezTo>
                <a:lnTo>
                  <a:pt x="0" y="504825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r>
              <a:rPr kumimoji="0" lang="ko-KR" altLang="en-US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목차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951A5045-A1C2-30E2-10A4-DE40A2362764}"/>
              </a:ext>
            </a:extLst>
          </p:cNvPr>
          <p:cNvSpPr/>
          <p:nvPr/>
        </p:nvSpPr>
        <p:spPr>
          <a:xfrm>
            <a:off x="1106471" y="693043"/>
            <a:ext cx="129121" cy="80193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FF30EB1C-BD99-EC58-346A-5356CB93CCCD}"/>
              </a:ext>
            </a:extLst>
          </p:cNvPr>
          <p:cNvSpPr/>
          <p:nvPr/>
        </p:nvSpPr>
        <p:spPr>
          <a:xfrm>
            <a:off x="371476" y="188218"/>
            <a:ext cx="1066250" cy="504825"/>
          </a:xfrm>
          <a:custGeom>
            <a:avLst/>
            <a:gdLst>
              <a:gd name="connsiteX0" fmla="*/ 0 w 1066250"/>
              <a:gd name="connsiteY0" fmla="*/ 252412 h 504825"/>
              <a:gd name="connsiteX1" fmla="*/ 0 w 1066250"/>
              <a:gd name="connsiteY1" fmla="*/ 252413 h 504825"/>
              <a:gd name="connsiteX2" fmla="*/ 0 w 1066250"/>
              <a:gd name="connsiteY2" fmla="*/ 252413 h 504825"/>
              <a:gd name="connsiteX3" fmla="*/ 252413 w 1066250"/>
              <a:gd name="connsiteY3" fmla="*/ 0 h 504825"/>
              <a:gd name="connsiteX4" fmla="*/ 1066250 w 1066250"/>
              <a:gd name="connsiteY4" fmla="*/ 0 h 504825"/>
              <a:gd name="connsiteX5" fmla="*/ 860382 w 1066250"/>
              <a:gd name="connsiteY5" fmla="*/ 504825 h 504825"/>
              <a:gd name="connsiteX6" fmla="*/ 252413 w 1066250"/>
              <a:gd name="connsiteY6" fmla="*/ 504825 h 504825"/>
              <a:gd name="connsiteX7" fmla="*/ 19836 w 1066250"/>
              <a:gd name="connsiteY7" fmla="*/ 350663 h 504825"/>
              <a:gd name="connsiteX8" fmla="*/ 0 w 1066250"/>
              <a:gd name="connsiteY8" fmla="*/ 252413 h 504825"/>
              <a:gd name="connsiteX9" fmla="*/ 19836 w 1066250"/>
              <a:gd name="connsiteY9" fmla="*/ 154162 h 504825"/>
              <a:gd name="connsiteX10" fmla="*/ 252413 w 1066250"/>
              <a:gd name="connsiteY10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250" h="504825">
                <a:moveTo>
                  <a:pt x="0" y="252412"/>
                </a:moveTo>
                <a:lnTo>
                  <a:pt x="0" y="252413"/>
                </a:lnTo>
                <a:lnTo>
                  <a:pt x="0" y="252413"/>
                </a:lnTo>
                <a:close/>
                <a:moveTo>
                  <a:pt x="252413" y="0"/>
                </a:moveTo>
                <a:lnTo>
                  <a:pt x="1066250" y="0"/>
                </a:lnTo>
                <a:lnTo>
                  <a:pt x="860382" y="504825"/>
                </a:lnTo>
                <a:lnTo>
                  <a:pt x="252413" y="504825"/>
                </a:lnTo>
                <a:cubicBezTo>
                  <a:pt x="147860" y="504825"/>
                  <a:pt x="58154" y="441257"/>
                  <a:pt x="19836" y="350663"/>
                </a:cubicBezTo>
                <a:lnTo>
                  <a:pt x="0" y="252413"/>
                </a:lnTo>
                <a:lnTo>
                  <a:pt x="19836" y="154162"/>
                </a:lnTo>
                <a:cubicBezTo>
                  <a:pt x="58154" y="63568"/>
                  <a:pt x="147860" y="0"/>
                  <a:pt x="252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1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E29F52AB-B745-BC91-15E3-0B212C3A63A1}"/>
              </a:ext>
            </a:extLst>
          </p:cNvPr>
          <p:cNvCxnSpPr/>
          <p:nvPr/>
        </p:nvCxnSpPr>
        <p:spPr>
          <a:xfrm>
            <a:off x="7092426" y="504825"/>
            <a:ext cx="5112000" cy="0"/>
          </a:xfrm>
          <a:prstGeom prst="line">
            <a:avLst/>
          </a:prstGeom>
          <a:ln w="3175">
            <a:solidFill>
              <a:srgbClr val="FC4C4C"/>
            </a:solidFill>
            <a:prstDash val="dash"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43D13C4-2E59-6855-FD6C-E6905F0D7333}"/>
              </a:ext>
            </a:extLst>
          </p:cNvPr>
          <p:cNvSpPr txBox="1"/>
          <p:nvPr/>
        </p:nvSpPr>
        <p:spPr>
          <a:xfrm>
            <a:off x="5031283" y="2595727"/>
            <a:ext cx="2192983" cy="1666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ko-KR" sz="14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1 /</a:t>
            </a:r>
            <a:r>
              <a:rPr lang="ko-KR" altLang="en-US" sz="14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 개발환경 구성</a:t>
            </a:r>
            <a:endParaRPr lang="en-US" altLang="ko-KR" sz="14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algn="ctr">
              <a:lnSpc>
                <a:spcPct val="150000"/>
              </a:lnSpc>
              <a:defRPr/>
            </a:pPr>
            <a:endParaRPr lang="en-US" altLang="ko-KR" sz="14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ko-KR" sz="14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2 / React</a:t>
            </a:r>
            <a:r>
              <a:rPr lang="ko-KR" altLang="en-US" sz="14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란</a:t>
            </a:r>
            <a:endParaRPr lang="en-US" altLang="ko-KR" sz="14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algn="ctr">
              <a:lnSpc>
                <a:spcPct val="150000"/>
              </a:lnSpc>
              <a:defRPr/>
            </a:pPr>
            <a:endParaRPr lang="en-US" altLang="ko-KR" sz="14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ko-KR" sz="1400" b="1" dirty="0">
                <a:solidFill>
                  <a:prstClr val="black">
                    <a:lumMod val="65000"/>
                    <a:lumOff val="35000"/>
                  </a:prstClr>
                </a:solidFill>
                <a:cs typeface="Aharoni" panose="02010803020104030203" pitchFamily="2" charset="-79"/>
              </a:rPr>
              <a:t>3 / </a:t>
            </a:r>
            <a:r>
              <a:rPr lang="ko-KR" altLang="en-US" sz="1400" b="1" dirty="0">
                <a:solidFill>
                  <a:prstClr val="black">
                    <a:lumMod val="65000"/>
                    <a:lumOff val="35000"/>
                  </a:prstClr>
                </a:solidFill>
                <a:cs typeface="Aharoni" panose="02010803020104030203" pitchFamily="2" charset="-79"/>
              </a:rPr>
              <a:t>실습</a:t>
            </a:r>
            <a:endParaRPr lang="en-US" altLang="ko-KR" sz="1400" b="1" dirty="0">
              <a:solidFill>
                <a:prstClr val="black">
                  <a:lumMod val="65000"/>
                  <a:lumOff val="35000"/>
                </a:prstClr>
              </a:solidFill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145784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94ADAD-360E-F618-D523-20CEAFA6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97433B9-6C02-1C2B-45ED-A193987A6010}"/>
              </a:ext>
            </a:extLst>
          </p:cNvPr>
          <p:cNvSpPr/>
          <p:nvPr/>
        </p:nvSpPr>
        <p:spPr>
          <a:xfrm>
            <a:off x="6127775" y="269693"/>
            <a:ext cx="1066250" cy="5048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27B79836-C8E4-E3E7-472D-F6AD3E1BB1D1}"/>
              </a:ext>
            </a:extLst>
          </p:cNvPr>
          <p:cNvSpPr/>
          <p:nvPr/>
        </p:nvSpPr>
        <p:spPr>
          <a:xfrm>
            <a:off x="1105947" y="269693"/>
            <a:ext cx="5898940" cy="504826"/>
          </a:xfrm>
          <a:custGeom>
            <a:avLst/>
            <a:gdLst>
              <a:gd name="connsiteX0" fmla="*/ 205868 w 5898940"/>
              <a:gd name="connsiteY0" fmla="*/ 0 h 504826"/>
              <a:gd name="connsiteX1" fmla="*/ 5646527 w 5898940"/>
              <a:gd name="connsiteY1" fmla="*/ 0 h 504826"/>
              <a:gd name="connsiteX2" fmla="*/ 5898940 w 5898940"/>
              <a:gd name="connsiteY2" fmla="*/ 252413 h 504826"/>
              <a:gd name="connsiteX3" fmla="*/ 5898939 w 5898940"/>
              <a:gd name="connsiteY3" fmla="*/ 252413 h 504826"/>
              <a:gd name="connsiteX4" fmla="*/ 5646526 w 5898940"/>
              <a:gd name="connsiteY4" fmla="*/ 504826 h 504826"/>
              <a:gd name="connsiteX5" fmla="*/ 0 w 5898940"/>
              <a:gd name="connsiteY5" fmla="*/ 504825 h 50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8940" h="504826">
                <a:moveTo>
                  <a:pt x="205868" y="0"/>
                </a:moveTo>
                <a:lnTo>
                  <a:pt x="5646527" y="0"/>
                </a:lnTo>
                <a:cubicBezTo>
                  <a:pt x="5785931" y="0"/>
                  <a:pt x="5898940" y="113009"/>
                  <a:pt x="5898940" y="252413"/>
                </a:cubicBezTo>
                <a:lnTo>
                  <a:pt x="5898939" y="252413"/>
                </a:lnTo>
                <a:cubicBezTo>
                  <a:pt x="5898939" y="391817"/>
                  <a:pt x="5785930" y="504826"/>
                  <a:pt x="5646526" y="504826"/>
                </a:cubicBezTo>
                <a:lnTo>
                  <a:pt x="0" y="504825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r>
              <a:rPr kumimoji="0" lang="ko-KR" altLang="en-US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개발환경 구성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89417891-6592-305C-AEA7-3152DA4BFF00}"/>
              </a:ext>
            </a:extLst>
          </p:cNvPr>
          <p:cNvSpPr/>
          <p:nvPr/>
        </p:nvSpPr>
        <p:spPr>
          <a:xfrm>
            <a:off x="1106471" y="693043"/>
            <a:ext cx="129121" cy="80193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77693F93-20BD-0A20-1AB3-F40A924B6BE1}"/>
              </a:ext>
            </a:extLst>
          </p:cNvPr>
          <p:cNvSpPr/>
          <p:nvPr/>
        </p:nvSpPr>
        <p:spPr>
          <a:xfrm>
            <a:off x="371476" y="188218"/>
            <a:ext cx="1066250" cy="504825"/>
          </a:xfrm>
          <a:custGeom>
            <a:avLst/>
            <a:gdLst>
              <a:gd name="connsiteX0" fmla="*/ 0 w 1066250"/>
              <a:gd name="connsiteY0" fmla="*/ 252412 h 504825"/>
              <a:gd name="connsiteX1" fmla="*/ 0 w 1066250"/>
              <a:gd name="connsiteY1" fmla="*/ 252413 h 504825"/>
              <a:gd name="connsiteX2" fmla="*/ 0 w 1066250"/>
              <a:gd name="connsiteY2" fmla="*/ 252413 h 504825"/>
              <a:gd name="connsiteX3" fmla="*/ 252413 w 1066250"/>
              <a:gd name="connsiteY3" fmla="*/ 0 h 504825"/>
              <a:gd name="connsiteX4" fmla="*/ 1066250 w 1066250"/>
              <a:gd name="connsiteY4" fmla="*/ 0 h 504825"/>
              <a:gd name="connsiteX5" fmla="*/ 860382 w 1066250"/>
              <a:gd name="connsiteY5" fmla="*/ 504825 h 504825"/>
              <a:gd name="connsiteX6" fmla="*/ 252413 w 1066250"/>
              <a:gd name="connsiteY6" fmla="*/ 504825 h 504825"/>
              <a:gd name="connsiteX7" fmla="*/ 19836 w 1066250"/>
              <a:gd name="connsiteY7" fmla="*/ 350663 h 504825"/>
              <a:gd name="connsiteX8" fmla="*/ 0 w 1066250"/>
              <a:gd name="connsiteY8" fmla="*/ 252413 h 504825"/>
              <a:gd name="connsiteX9" fmla="*/ 19836 w 1066250"/>
              <a:gd name="connsiteY9" fmla="*/ 154162 h 504825"/>
              <a:gd name="connsiteX10" fmla="*/ 252413 w 1066250"/>
              <a:gd name="connsiteY10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250" h="504825">
                <a:moveTo>
                  <a:pt x="0" y="252412"/>
                </a:moveTo>
                <a:lnTo>
                  <a:pt x="0" y="252413"/>
                </a:lnTo>
                <a:lnTo>
                  <a:pt x="0" y="252413"/>
                </a:lnTo>
                <a:close/>
                <a:moveTo>
                  <a:pt x="252413" y="0"/>
                </a:moveTo>
                <a:lnTo>
                  <a:pt x="1066250" y="0"/>
                </a:lnTo>
                <a:lnTo>
                  <a:pt x="860382" y="504825"/>
                </a:lnTo>
                <a:lnTo>
                  <a:pt x="252413" y="504825"/>
                </a:lnTo>
                <a:cubicBezTo>
                  <a:pt x="147860" y="504825"/>
                  <a:pt x="58154" y="441257"/>
                  <a:pt x="19836" y="350663"/>
                </a:cubicBezTo>
                <a:lnTo>
                  <a:pt x="0" y="252413"/>
                </a:lnTo>
                <a:lnTo>
                  <a:pt x="19836" y="154162"/>
                </a:lnTo>
                <a:cubicBezTo>
                  <a:pt x="58154" y="63568"/>
                  <a:pt x="147860" y="0"/>
                  <a:pt x="252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i="1" kern="0" dirty="0">
                <a:ln w="9525">
                  <a:noFill/>
                </a:ln>
                <a:solidFill>
                  <a:prstClr val="black"/>
                </a:solidFill>
                <a:latin typeface="맑은 고딕" panose="020F0502020204030204"/>
                <a:ea typeface="Tmon몬소리 Black" panose="02000A03000000000000" pitchFamily="2" charset="-127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FB4EE29-C09E-7602-727E-237B08C776E1}"/>
              </a:ext>
            </a:extLst>
          </p:cNvPr>
          <p:cNvCxnSpPr/>
          <p:nvPr/>
        </p:nvCxnSpPr>
        <p:spPr>
          <a:xfrm>
            <a:off x="7092426" y="504825"/>
            <a:ext cx="5112000" cy="0"/>
          </a:xfrm>
          <a:prstGeom prst="line">
            <a:avLst/>
          </a:prstGeom>
          <a:ln w="3175">
            <a:solidFill>
              <a:srgbClr val="FC4C4C"/>
            </a:solidFill>
            <a:prstDash val="dash"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E5D6E26-9AB9-BF21-4162-72E7DBF14AC3}"/>
              </a:ext>
            </a:extLst>
          </p:cNvPr>
          <p:cNvSpPr/>
          <p:nvPr/>
        </p:nvSpPr>
        <p:spPr>
          <a:xfrm>
            <a:off x="4206153" y="1042212"/>
            <a:ext cx="5506678" cy="373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effectLst/>
              </a:rPr>
              <a:t>프로젝트 생성</a:t>
            </a:r>
            <a:endParaRPr lang="en-US" altLang="ko-KR" sz="1400" b="1" dirty="0">
              <a:effectLst/>
            </a:endParaRPr>
          </a:p>
        </p:txBody>
      </p:sp>
      <p:pic>
        <p:nvPicPr>
          <p:cNvPr id="2062" name="Picture 14" descr="React JS] 바닐라 JS - MVC">
            <a:extLst>
              <a:ext uri="{FF2B5EF4-FFF2-40B4-BE49-F238E27FC236}">
                <a16:creationId xmlns:a16="http://schemas.microsoft.com/office/drawing/2014/main" id="{274E3B6D-189E-3C22-A748-83647C688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419" y="1327290"/>
            <a:ext cx="2876045" cy="1889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7328FF6-6B70-EF6A-87D3-C9A1092F3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3292" y="773236"/>
            <a:ext cx="7772400" cy="29979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30506D2-6B7F-4DF1-C3FE-48FA1E81EB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153" y="3234226"/>
            <a:ext cx="3342675" cy="342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33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94ADAD-360E-F618-D523-20CEAFA6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97433B9-6C02-1C2B-45ED-A193987A6010}"/>
              </a:ext>
            </a:extLst>
          </p:cNvPr>
          <p:cNvSpPr/>
          <p:nvPr/>
        </p:nvSpPr>
        <p:spPr>
          <a:xfrm>
            <a:off x="6127775" y="269693"/>
            <a:ext cx="1066250" cy="5048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27B79836-C8E4-E3E7-472D-F6AD3E1BB1D1}"/>
              </a:ext>
            </a:extLst>
          </p:cNvPr>
          <p:cNvSpPr/>
          <p:nvPr/>
        </p:nvSpPr>
        <p:spPr>
          <a:xfrm>
            <a:off x="1105947" y="269693"/>
            <a:ext cx="5898940" cy="504826"/>
          </a:xfrm>
          <a:custGeom>
            <a:avLst/>
            <a:gdLst>
              <a:gd name="connsiteX0" fmla="*/ 205868 w 5898940"/>
              <a:gd name="connsiteY0" fmla="*/ 0 h 504826"/>
              <a:gd name="connsiteX1" fmla="*/ 5646527 w 5898940"/>
              <a:gd name="connsiteY1" fmla="*/ 0 h 504826"/>
              <a:gd name="connsiteX2" fmla="*/ 5898940 w 5898940"/>
              <a:gd name="connsiteY2" fmla="*/ 252413 h 504826"/>
              <a:gd name="connsiteX3" fmla="*/ 5898939 w 5898940"/>
              <a:gd name="connsiteY3" fmla="*/ 252413 h 504826"/>
              <a:gd name="connsiteX4" fmla="*/ 5646526 w 5898940"/>
              <a:gd name="connsiteY4" fmla="*/ 504826 h 504826"/>
              <a:gd name="connsiteX5" fmla="*/ 0 w 5898940"/>
              <a:gd name="connsiteY5" fmla="*/ 504825 h 50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8940" h="504826">
                <a:moveTo>
                  <a:pt x="205868" y="0"/>
                </a:moveTo>
                <a:lnTo>
                  <a:pt x="5646527" y="0"/>
                </a:lnTo>
                <a:cubicBezTo>
                  <a:pt x="5785931" y="0"/>
                  <a:pt x="5898940" y="113009"/>
                  <a:pt x="5898940" y="252413"/>
                </a:cubicBezTo>
                <a:lnTo>
                  <a:pt x="5898939" y="252413"/>
                </a:lnTo>
                <a:cubicBezTo>
                  <a:pt x="5898939" y="391817"/>
                  <a:pt x="5785930" y="504826"/>
                  <a:pt x="5646526" y="504826"/>
                </a:cubicBezTo>
                <a:lnTo>
                  <a:pt x="0" y="504825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REACT JS</a:t>
            </a:r>
            <a:r>
              <a:rPr kumimoji="0" lang="ko-KR" altLang="en-US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란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89417891-6592-305C-AEA7-3152DA4BFF00}"/>
              </a:ext>
            </a:extLst>
          </p:cNvPr>
          <p:cNvSpPr/>
          <p:nvPr/>
        </p:nvSpPr>
        <p:spPr>
          <a:xfrm>
            <a:off x="1106471" y="693043"/>
            <a:ext cx="129121" cy="80193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77693F93-20BD-0A20-1AB3-F40A924B6BE1}"/>
              </a:ext>
            </a:extLst>
          </p:cNvPr>
          <p:cNvSpPr/>
          <p:nvPr/>
        </p:nvSpPr>
        <p:spPr>
          <a:xfrm>
            <a:off x="371476" y="188218"/>
            <a:ext cx="1066250" cy="504825"/>
          </a:xfrm>
          <a:custGeom>
            <a:avLst/>
            <a:gdLst>
              <a:gd name="connsiteX0" fmla="*/ 0 w 1066250"/>
              <a:gd name="connsiteY0" fmla="*/ 252412 h 504825"/>
              <a:gd name="connsiteX1" fmla="*/ 0 w 1066250"/>
              <a:gd name="connsiteY1" fmla="*/ 252413 h 504825"/>
              <a:gd name="connsiteX2" fmla="*/ 0 w 1066250"/>
              <a:gd name="connsiteY2" fmla="*/ 252413 h 504825"/>
              <a:gd name="connsiteX3" fmla="*/ 252413 w 1066250"/>
              <a:gd name="connsiteY3" fmla="*/ 0 h 504825"/>
              <a:gd name="connsiteX4" fmla="*/ 1066250 w 1066250"/>
              <a:gd name="connsiteY4" fmla="*/ 0 h 504825"/>
              <a:gd name="connsiteX5" fmla="*/ 860382 w 1066250"/>
              <a:gd name="connsiteY5" fmla="*/ 504825 h 504825"/>
              <a:gd name="connsiteX6" fmla="*/ 252413 w 1066250"/>
              <a:gd name="connsiteY6" fmla="*/ 504825 h 504825"/>
              <a:gd name="connsiteX7" fmla="*/ 19836 w 1066250"/>
              <a:gd name="connsiteY7" fmla="*/ 350663 h 504825"/>
              <a:gd name="connsiteX8" fmla="*/ 0 w 1066250"/>
              <a:gd name="connsiteY8" fmla="*/ 252413 h 504825"/>
              <a:gd name="connsiteX9" fmla="*/ 19836 w 1066250"/>
              <a:gd name="connsiteY9" fmla="*/ 154162 h 504825"/>
              <a:gd name="connsiteX10" fmla="*/ 252413 w 1066250"/>
              <a:gd name="connsiteY10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250" h="504825">
                <a:moveTo>
                  <a:pt x="0" y="252412"/>
                </a:moveTo>
                <a:lnTo>
                  <a:pt x="0" y="252413"/>
                </a:lnTo>
                <a:lnTo>
                  <a:pt x="0" y="252413"/>
                </a:lnTo>
                <a:close/>
                <a:moveTo>
                  <a:pt x="252413" y="0"/>
                </a:moveTo>
                <a:lnTo>
                  <a:pt x="1066250" y="0"/>
                </a:lnTo>
                <a:lnTo>
                  <a:pt x="860382" y="504825"/>
                </a:lnTo>
                <a:lnTo>
                  <a:pt x="252413" y="504825"/>
                </a:lnTo>
                <a:cubicBezTo>
                  <a:pt x="147860" y="504825"/>
                  <a:pt x="58154" y="441257"/>
                  <a:pt x="19836" y="350663"/>
                </a:cubicBezTo>
                <a:lnTo>
                  <a:pt x="0" y="252413"/>
                </a:lnTo>
                <a:lnTo>
                  <a:pt x="19836" y="154162"/>
                </a:lnTo>
                <a:cubicBezTo>
                  <a:pt x="58154" y="63568"/>
                  <a:pt x="147860" y="0"/>
                  <a:pt x="252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Tmon몬소리 Black" panose="02000A03000000000000" pitchFamily="2" charset="-127"/>
                <a:cs typeface="+mn-cs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FB4EE29-C09E-7602-727E-237B08C776E1}"/>
              </a:ext>
            </a:extLst>
          </p:cNvPr>
          <p:cNvCxnSpPr/>
          <p:nvPr/>
        </p:nvCxnSpPr>
        <p:spPr>
          <a:xfrm>
            <a:off x="7092426" y="504825"/>
            <a:ext cx="5112000" cy="0"/>
          </a:xfrm>
          <a:prstGeom prst="line">
            <a:avLst/>
          </a:prstGeom>
          <a:ln w="3175">
            <a:solidFill>
              <a:srgbClr val="FC4C4C"/>
            </a:solidFill>
            <a:prstDash val="dash"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E5D6E26-9AB9-BF21-4162-72E7DBF14AC3}"/>
              </a:ext>
            </a:extLst>
          </p:cNvPr>
          <p:cNvSpPr/>
          <p:nvPr/>
        </p:nvSpPr>
        <p:spPr>
          <a:xfrm>
            <a:off x="1105947" y="2969538"/>
            <a:ext cx="9320759" cy="19092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 err="1"/>
              <a:t>React.js</a:t>
            </a:r>
            <a:r>
              <a:rPr lang="ko-KR" altLang="en-US" sz="1000" b="0" dirty="0">
                <a:effectLst/>
              </a:rPr>
              <a:t>는 </a:t>
            </a:r>
            <a:r>
              <a:rPr lang="en" altLang="ko-KR" sz="1000" dirty="0"/>
              <a:t>Facebook</a:t>
            </a:r>
            <a:r>
              <a:rPr lang="ko-KR" altLang="en-US" sz="1000" dirty="0"/>
              <a:t>에서 개발한 </a:t>
            </a:r>
            <a:r>
              <a:rPr lang="ko-KR" altLang="en-US" sz="1000" b="1" dirty="0"/>
              <a:t>컴포넌트 기반 </a:t>
            </a:r>
            <a:r>
              <a:rPr lang="en" altLang="ko-KR" sz="1000" b="1" dirty="0"/>
              <a:t>UI </a:t>
            </a:r>
            <a:r>
              <a:rPr lang="ko-KR" altLang="en-US" sz="1000" b="1" dirty="0"/>
              <a:t>라이브러리</a:t>
            </a:r>
            <a:endParaRPr lang="en-US" altLang="ko-KR" sz="1000" b="1" dirty="0"/>
          </a:p>
          <a:p>
            <a:pPr>
              <a:lnSpc>
                <a:spcPct val="150000"/>
              </a:lnSpc>
            </a:pPr>
            <a:r>
              <a:rPr lang="en" altLang="ko-KR" sz="1000" b="1" dirty="0"/>
              <a:t>Virtual DOM</a:t>
            </a:r>
            <a:r>
              <a:rPr lang="ko-KR" altLang="en-US" sz="1000" dirty="0"/>
              <a:t>을 활용하여 빠른 렌더링 가능</a:t>
            </a: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ko-KR" altLang="en-US" sz="1000" b="1" dirty="0"/>
              <a:t>재사용 가능한 컴포넌트</a:t>
            </a:r>
            <a:r>
              <a:rPr lang="ko-KR" altLang="en-US" sz="1000" dirty="0"/>
              <a:t>를 만들어 유지보수 효율적</a:t>
            </a: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en" altLang="ko-KR" sz="1000" dirty="0"/>
              <a:t>SPA(Single Page Application) </a:t>
            </a:r>
            <a:r>
              <a:rPr lang="ko-KR" altLang="en-US" sz="1000" dirty="0"/>
              <a:t>개발에 적합</a:t>
            </a:r>
            <a:endParaRPr lang="en-US" altLang="ko-KR" sz="1000" dirty="0"/>
          </a:p>
          <a:p>
            <a:pPr>
              <a:lnSpc>
                <a:spcPct val="150000"/>
              </a:lnSpc>
            </a:pP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ko-KR" altLang="en-US" sz="1000" dirty="0"/>
              <a:t>* </a:t>
            </a:r>
            <a:r>
              <a:rPr lang="en" altLang="ko-KR" sz="1000" dirty="0">
                <a:effectLst/>
              </a:rPr>
              <a:t>SPA (Single Page Application) </a:t>
            </a:r>
            <a:r>
              <a:rPr lang="ko-KR" altLang="en-US" sz="1000" dirty="0">
                <a:effectLst/>
              </a:rPr>
              <a:t>방식</a:t>
            </a:r>
            <a:br>
              <a:rPr lang="ko-KR" altLang="en-US" sz="1000" dirty="0"/>
            </a:br>
            <a:r>
              <a:rPr lang="ko-KR" altLang="en-US" sz="1000" dirty="0">
                <a:effectLst/>
              </a:rPr>
              <a:t> </a:t>
            </a:r>
            <a:r>
              <a:rPr lang="en-US" altLang="ko-KR" sz="1000" dirty="0">
                <a:effectLst/>
              </a:rPr>
              <a:t>- </a:t>
            </a:r>
            <a:r>
              <a:rPr lang="ko-KR" altLang="en-US" sz="1000" dirty="0">
                <a:effectLst/>
              </a:rPr>
              <a:t>기존 웹 페이지 </a:t>
            </a:r>
            <a:r>
              <a:rPr lang="ko-KR" altLang="en-US" sz="1000" dirty="0" err="1">
                <a:effectLst/>
              </a:rPr>
              <a:t>처럼</a:t>
            </a:r>
            <a:r>
              <a:rPr lang="en-US" altLang="ko-KR" sz="1000" dirty="0">
                <a:effectLst/>
              </a:rPr>
              <a:t>(</a:t>
            </a:r>
            <a:r>
              <a:rPr lang="en" altLang="ko-KR" sz="1000" dirty="0">
                <a:effectLst/>
              </a:rPr>
              <a:t>MPA </a:t>
            </a:r>
            <a:r>
              <a:rPr lang="ko-KR" altLang="en-US" sz="1000" dirty="0">
                <a:effectLst/>
              </a:rPr>
              <a:t>방식</a:t>
            </a:r>
            <a:r>
              <a:rPr lang="en-US" altLang="ko-KR" sz="1000" dirty="0">
                <a:effectLst/>
              </a:rPr>
              <a:t>) </a:t>
            </a:r>
            <a:r>
              <a:rPr lang="ko-KR" altLang="en-US" sz="1000" dirty="0" err="1">
                <a:effectLst/>
              </a:rPr>
              <a:t>여러개의</a:t>
            </a:r>
            <a:r>
              <a:rPr lang="ko-KR" altLang="en-US" sz="1000" dirty="0">
                <a:effectLst/>
              </a:rPr>
              <a:t> 페이지를 사용</a:t>
            </a:r>
            <a:r>
              <a:rPr lang="en-US" altLang="ko-KR" sz="1000" dirty="0">
                <a:effectLst/>
              </a:rPr>
              <a:t>, </a:t>
            </a:r>
            <a:r>
              <a:rPr lang="ko-KR" altLang="en-US" sz="1000" dirty="0">
                <a:effectLst/>
              </a:rPr>
              <a:t>새로운 페이지를 </a:t>
            </a:r>
            <a:r>
              <a:rPr lang="ko-KR" altLang="en-US" sz="1000" dirty="0" err="1">
                <a:effectLst/>
              </a:rPr>
              <a:t>로드하는</a:t>
            </a:r>
            <a:r>
              <a:rPr lang="ko-KR" altLang="en-US" sz="1000" dirty="0">
                <a:effectLst/>
              </a:rPr>
              <a:t> 방식이 아니다</a:t>
            </a:r>
            <a:r>
              <a:rPr lang="en-US" altLang="ko-KR" sz="1000" dirty="0">
                <a:effectLst/>
              </a:rPr>
              <a:t>.</a:t>
            </a:r>
            <a:br>
              <a:rPr lang="ko-KR" altLang="en-US" sz="1000" dirty="0"/>
            </a:br>
            <a:r>
              <a:rPr lang="ko-KR" altLang="en-US" sz="1000" dirty="0">
                <a:effectLst/>
              </a:rPr>
              <a:t> </a:t>
            </a:r>
            <a:r>
              <a:rPr lang="en-US" altLang="ko-KR" sz="1000" dirty="0">
                <a:effectLst/>
              </a:rPr>
              <a:t>- </a:t>
            </a:r>
            <a:r>
              <a:rPr lang="ko-KR" altLang="en-US" sz="1000" dirty="0">
                <a:effectLst/>
              </a:rPr>
              <a:t>새로운 페이지를 </a:t>
            </a:r>
            <a:r>
              <a:rPr lang="ko-KR" altLang="en-US" sz="1000" dirty="0" err="1">
                <a:effectLst/>
              </a:rPr>
              <a:t>로드하지</a:t>
            </a:r>
            <a:r>
              <a:rPr lang="ko-KR" altLang="en-US" sz="1000" dirty="0">
                <a:effectLst/>
              </a:rPr>
              <a:t> 않고 하나의 페이지 안에서 필요한 데이터만 가져오는 형태를 가진다</a:t>
            </a:r>
            <a:r>
              <a:rPr lang="en-US" altLang="ko-KR" sz="1000" dirty="0">
                <a:effectLst/>
              </a:rPr>
              <a:t>.</a:t>
            </a:r>
            <a:endParaRPr lang="ko-KR" altLang="en-US" sz="1000" dirty="0"/>
          </a:p>
        </p:txBody>
      </p:sp>
      <p:sp>
        <p:nvSpPr>
          <p:cNvPr id="16" name="모서리가 둥근 직사각형 85">
            <a:extLst>
              <a:ext uri="{FF2B5EF4-FFF2-40B4-BE49-F238E27FC236}">
                <a16:creationId xmlns:a16="http://schemas.microsoft.com/office/drawing/2014/main" id="{1E46909D-38C5-F835-2E38-E81A920426D5}"/>
              </a:ext>
            </a:extLst>
          </p:cNvPr>
          <p:cNvSpPr/>
          <p:nvPr/>
        </p:nvSpPr>
        <p:spPr>
          <a:xfrm>
            <a:off x="1245188" y="5455146"/>
            <a:ext cx="9732093" cy="821713"/>
          </a:xfrm>
          <a:prstGeom prst="roundRect">
            <a:avLst>
              <a:gd name="adj" fmla="val 14131"/>
            </a:avLst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08000" rIns="180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node</a:t>
            </a:r>
            <a:r>
              <a:rPr lang="ko-KR" altLang="en-US" sz="1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altLang="ko-KR" sz="1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–v</a:t>
            </a:r>
            <a:r>
              <a:rPr lang="ko-KR" altLang="en-US" sz="1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로 </a:t>
            </a:r>
            <a:r>
              <a:rPr lang="en-US" altLang="ko-KR" sz="1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nodejs</a:t>
            </a:r>
            <a:r>
              <a:rPr lang="ko-KR" altLang="en-US" sz="1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가 설치되어 있는지 확인</a:t>
            </a:r>
            <a:r>
              <a:rPr lang="en-US" altLang="ko-KR" sz="1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!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1978A37-9430-1EE1-27D4-7DD6728A3B46}"/>
              </a:ext>
            </a:extLst>
          </p:cNvPr>
          <p:cNvGrpSpPr/>
          <p:nvPr/>
        </p:nvGrpSpPr>
        <p:grpSpPr>
          <a:xfrm>
            <a:off x="1389108" y="5252216"/>
            <a:ext cx="832598" cy="342707"/>
            <a:chOff x="1389108" y="5252216"/>
            <a:chExt cx="832598" cy="342707"/>
          </a:xfrm>
          <a:solidFill>
            <a:srgbClr val="FC4C4C"/>
          </a:solidFill>
        </p:grpSpPr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DCBC95AA-155E-BFDE-7AED-C1B1DA59ED78}"/>
                </a:ext>
              </a:extLst>
            </p:cNvPr>
            <p:cNvSpPr/>
            <p:nvPr/>
          </p:nvSpPr>
          <p:spPr>
            <a:xfrm rot="10800000">
              <a:off x="1389108" y="5450881"/>
              <a:ext cx="180650" cy="144042"/>
            </a:xfrm>
            <a:custGeom>
              <a:avLst/>
              <a:gdLst>
                <a:gd name="connsiteX0" fmla="*/ 123069 w 204570"/>
                <a:gd name="connsiteY0" fmla="*/ 163115 h 163115"/>
                <a:gd name="connsiteX1" fmla="*/ 0 w 204570"/>
                <a:gd name="connsiteY1" fmla="*/ 163115 h 163115"/>
                <a:gd name="connsiteX2" fmla="*/ 11488 w 204570"/>
                <a:gd name="connsiteY2" fmla="*/ 126530 h 163115"/>
                <a:gd name="connsiteX3" fmla="*/ 204570 w 204570"/>
                <a:gd name="connsiteY3" fmla="*/ 0 h 163115"/>
                <a:gd name="connsiteX4" fmla="*/ 124201 w 204570"/>
                <a:gd name="connsiteY4" fmla="*/ 151314 h 163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570" h="163115">
                  <a:moveTo>
                    <a:pt x="123069" y="163115"/>
                  </a:moveTo>
                  <a:lnTo>
                    <a:pt x="0" y="163115"/>
                  </a:lnTo>
                  <a:lnTo>
                    <a:pt x="11488" y="126530"/>
                  </a:lnTo>
                  <a:cubicBezTo>
                    <a:pt x="43299" y="52174"/>
                    <a:pt x="117772" y="0"/>
                    <a:pt x="204570" y="0"/>
                  </a:cubicBezTo>
                  <a:cubicBezTo>
                    <a:pt x="161707" y="43124"/>
                    <a:pt x="134917" y="96000"/>
                    <a:pt x="124201" y="15131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 sz="1600">
                <a:solidFill>
                  <a:prstClr val="white"/>
                </a:solidFill>
              </a:endParaRPr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B0C37BA9-AB16-0185-E8CC-A8020B2F5713}"/>
                </a:ext>
              </a:extLst>
            </p:cNvPr>
            <p:cNvSpPr/>
            <p:nvPr/>
          </p:nvSpPr>
          <p:spPr>
            <a:xfrm>
              <a:off x="1458498" y="5252216"/>
              <a:ext cx="763208" cy="306959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altLang="ko-KR" sz="1400" i="1" dirty="0">
                  <a:solidFill>
                    <a:prstClr val="white"/>
                  </a:solidFill>
                  <a:latin typeface="Tmon몬소리 Black" panose="02000A03000000000000" pitchFamily="2" charset="-127"/>
                  <a:ea typeface="Tmon몬소리 Black" panose="02000A03000000000000" pitchFamily="2" charset="-127"/>
                </a:rPr>
                <a:t>Check</a:t>
              </a:r>
              <a:endParaRPr lang="ko-KR" altLang="en-US" sz="1400" i="1" dirty="0"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endParaRPr>
            </a:p>
          </p:txBody>
        </p:sp>
      </p:grpSp>
      <p:sp>
        <p:nvSpPr>
          <p:cNvPr id="11" name="자유형 80">
            <a:extLst>
              <a:ext uri="{FF2B5EF4-FFF2-40B4-BE49-F238E27FC236}">
                <a16:creationId xmlns:a16="http://schemas.microsoft.com/office/drawing/2014/main" id="{1EAEB1AE-5571-5F9D-9450-EAF6A41A90B5}"/>
              </a:ext>
            </a:extLst>
          </p:cNvPr>
          <p:cNvSpPr/>
          <p:nvPr/>
        </p:nvSpPr>
        <p:spPr>
          <a:xfrm>
            <a:off x="1346797" y="1954003"/>
            <a:ext cx="976518" cy="1021718"/>
          </a:xfrm>
          <a:custGeom>
            <a:avLst/>
            <a:gdLst>
              <a:gd name="connsiteX0" fmla="*/ 1921397 w 1921397"/>
              <a:gd name="connsiteY0" fmla="*/ 0 h 1759351"/>
              <a:gd name="connsiteX1" fmla="*/ 0 w 1921397"/>
              <a:gd name="connsiteY1" fmla="*/ 1307939 h 1759351"/>
              <a:gd name="connsiteX2" fmla="*/ 11574 w 1921397"/>
              <a:gd name="connsiteY2" fmla="*/ 1759351 h 1759351"/>
              <a:gd name="connsiteX0" fmla="*/ 1921397 w 1921397"/>
              <a:gd name="connsiteY0" fmla="*/ 0 h 1759351"/>
              <a:gd name="connsiteX1" fmla="*/ 0 w 1921397"/>
              <a:gd name="connsiteY1" fmla="*/ 1307939 h 1759351"/>
              <a:gd name="connsiteX2" fmla="*/ 8399 w 1921397"/>
              <a:gd name="connsiteY2" fmla="*/ 1759351 h 1759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21397" h="1759351">
                <a:moveTo>
                  <a:pt x="1921397" y="0"/>
                </a:moveTo>
                <a:lnTo>
                  <a:pt x="0" y="1307939"/>
                </a:lnTo>
                <a:lnTo>
                  <a:pt x="8399" y="1759351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  <a:prstDash val="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1026" name="Picture 2" descr="React.js 공식문서 정리 - Main Components">
            <a:extLst>
              <a:ext uri="{FF2B5EF4-FFF2-40B4-BE49-F238E27FC236}">
                <a16:creationId xmlns:a16="http://schemas.microsoft.com/office/drawing/2014/main" id="{BCE5793D-1E6B-9A03-1005-FF678C2DC7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947" y="1051154"/>
            <a:ext cx="2912671" cy="1660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5970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94ADAD-360E-F618-D523-20CEAFA6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97433B9-6C02-1C2B-45ED-A193987A6010}"/>
              </a:ext>
            </a:extLst>
          </p:cNvPr>
          <p:cNvSpPr/>
          <p:nvPr/>
        </p:nvSpPr>
        <p:spPr>
          <a:xfrm>
            <a:off x="6127775" y="269693"/>
            <a:ext cx="1066250" cy="5048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27B79836-C8E4-E3E7-472D-F6AD3E1BB1D1}"/>
              </a:ext>
            </a:extLst>
          </p:cNvPr>
          <p:cNvSpPr/>
          <p:nvPr/>
        </p:nvSpPr>
        <p:spPr>
          <a:xfrm>
            <a:off x="1105947" y="269693"/>
            <a:ext cx="5898940" cy="504826"/>
          </a:xfrm>
          <a:custGeom>
            <a:avLst/>
            <a:gdLst>
              <a:gd name="connsiteX0" fmla="*/ 205868 w 5898940"/>
              <a:gd name="connsiteY0" fmla="*/ 0 h 504826"/>
              <a:gd name="connsiteX1" fmla="*/ 5646527 w 5898940"/>
              <a:gd name="connsiteY1" fmla="*/ 0 h 504826"/>
              <a:gd name="connsiteX2" fmla="*/ 5898940 w 5898940"/>
              <a:gd name="connsiteY2" fmla="*/ 252413 h 504826"/>
              <a:gd name="connsiteX3" fmla="*/ 5898939 w 5898940"/>
              <a:gd name="connsiteY3" fmla="*/ 252413 h 504826"/>
              <a:gd name="connsiteX4" fmla="*/ 5646526 w 5898940"/>
              <a:gd name="connsiteY4" fmla="*/ 504826 h 504826"/>
              <a:gd name="connsiteX5" fmla="*/ 0 w 5898940"/>
              <a:gd name="connsiteY5" fmla="*/ 504825 h 50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8940" h="504826">
                <a:moveTo>
                  <a:pt x="205868" y="0"/>
                </a:moveTo>
                <a:lnTo>
                  <a:pt x="5646527" y="0"/>
                </a:lnTo>
                <a:cubicBezTo>
                  <a:pt x="5785931" y="0"/>
                  <a:pt x="5898940" y="113009"/>
                  <a:pt x="5898940" y="252413"/>
                </a:cubicBezTo>
                <a:lnTo>
                  <a:pt x="5898939" y="252413"/>
                </a:lnTo>
                <a:cubicBezTo>
                  <a:pt x="5898939" y="391817"/>
                  <a:pt x="5785930" y="504826"/>
                  <a:pt x="5646526" y="504826"/>
                </a:cubicBezTo>
                <a:lnTo>
                  <a:pt x="0" y="504825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REACT JS</a:t>
            </a:r>
            <a:r>
              <a:rPr kumimoji="0" lang="ko-KR" altLang="en-US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란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89417891-6592-305C-AEA7-3152DA4BFF00}"/>
              </a:ext>
            </a:extLst>
          </p:cNvPr>
          <p:cNvSpPr/>
          <p:nvPr/>
        </p:nvSpPr>
        <p:spPr>
          <a:xfrm>
            <a:off x="1106471" y="693043"/>
            <a:ext cx="129121" cy="80193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77693F93-20BD-0A20-1AB3-F40A924B6BE1}"/>
              </a:ext>
            </a:extLst>
          </p:cNvPr>
          <p:cNvSpPr/>
          <p:nvPr/>
        </p:nvSpPr>
        <p:spPr>
          <a:xfrm>
            <a:off x="371476" y="188218"/>
            <a:ext cx="1066250" cy="504825"/>
          </a:xfrm>
          <a:custGeom>
            <a:avLst/>
            <a:gdLst>
              <a:gd name="connsiteX0" fmla="*/ 0 w 1066250"/>
              <a:gd name="connsiteY0" fmla="*/ 252412 h 504825"/>
              <a:gd name="connsiteX1" fmla="*/ 0 w 1066250"/>
              <a:gd name="connsiteY1" fmla="*/ 252413 h 504825"/>
              <a:gd name="connsiteX2" fmla="*/ 0 w 1066250"/>
              <a:gd name="connsiteY2" fmla="*/ 252413 h 504825"/>
              <a:gd name="connsiteX3" fmla="*/ 252413 w 1066250"/>
              <a:gd name="connsiteY3" fmla="*/ 0 h 504825"/>
              <a:gd name="connsiteX4" fmla="*/ 1066250 w 1066250"/>
              <a:gd name="connsiteY4" fmla="*/ 0 h 504825"/>
              <a:gd name="connsiteX5" fmla="*/ 860382 w 1066250"/>
              <a:gd name="connsiteY5" fmla="*/ 504825 h 504825"/>
              <a:gd name="connsiteX6" fmla="*/ 252413 w 1066250"/>
              <a:gd name="connsiteY6" fmla="*/ 504825 h 504825"/>
              <a:gd name="connsiteX7" fmla="*/ 19836 w 1066250"/>
              <a:gd name="connsiteY7" fmla="*/ 350663 h 504825"/>
              <a:gd name="connsiteX8" fmla="*/ 0 w 1066250"/>
              <a:gd name="connsiteY8" fmla="*/ 252413 h 504825"/>
              <a:gd name="connsiteX9" fmla="*/ 19836 w 1066250"/>
              <a:gd name="connsiteY9" fmla="*/ 154162 h 504825"/>
              <a:gd name="connsiteX10" fmla="*/ 252413 w 1066250"/>
              <a:gd name="connsiteY10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250" h="504825">
                <a:moveTo>
                  <a:pt x="0" y="252412"/>
                </a:moveTo>
                <a:lnTo>
                  <a:pt x="0" y="252413"/>
                </a:lnTo>
                <a:lnTo>
                  <a:pt x="0" y="252413"/>
                </a:lnTo>
                <a:close/>
                <a:moveTo>
                  <a:pt x="252413" y="0"/>
                </a:moveTo>
                <a:lnTo>
                  <a:pt x="1066250" y="0"/>
                </a:lnTo>
                <a:lnTo>
                  <a:pt x="860382" y="504825"/>
                </a:lnTo>
                <a:lnTo>
                  <a:pt x="252413" y="504825"/>
                </a:lnTo>
                <a:cubicBezTo>
                  <a:pt x="147860" y="504825"/>
                  <a:pt x="58154" y="441257"/>
                  <a:pt x="19836" y="350663"/>
                </a:cubicBezTo>
                <a:lnTo>
                  <a:pt x="0" y="252413"/>
                </a:lnTo>
                <a:lnTo>
                  <a:pt x="19836" y="154162"/>
                </a:lnTo>
                <a:cubicBezTo>
                  <a:pt x="58154" y="63568"/>
                  <a:pt x="147860" y="0"/>
                  <a:pt x="252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Tmon몬소리 Black" panose="02000A03000000000000" pitchFamily="2" charset="-127"/>
                <a:cs typeface="+mn-cs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FB4EE29-C09E-7602-727E-237B08C776E1}"/>
              </a:ext>
            </a:extLst>
          </p:cNvPr>
          <p:cNvCxnSpPr/>
          <p:nvPr/>
        </p:nvCxnSpPr>
        <p:spPr>
          <a:xfrm>
            <a:off x="7092426" y="504825"/>
            <a:ext cx="5112000" cy="0"/>
          </a:xfrm>
          <a:prstGeom prst="line">
            <a:avLst/>
          </a:prstGeom>
          <a:ln w="3175">
            <a:solidFill>
              <a:srgbClr val="FC4C4C"/>
            </a:solidFill>
            <a:prstDash val="dash"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AEED067-33A6-400C-5B47-32DADBD98444}"/>
              </a:ext>
            </a:extLst>
          </p:cNvPr>
          <p:cNvSpPr/>
          <p:nvPr/>
        </p:nvSpPr>
        <p:spPr>
          <a:xfrm>
            <a:off x="3534255" y="1719425"/>
            <a:ext cx="7319540" cy="1546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JSX</a:t>
            </a:r>
          </a:p>
          <a:p>
            <a:pPr>
              <a:lnSpc>
                <a:spcPct val="150000"/>
              </a:lnSpc>
            </a:pPr>
            <a:endParaRPr lang="en" altLang="ko-KR" sz="1000" dirty="0"/>
          </a:p>
          <a:p>
            <a:pPr>
              <a:lnSpc>
                <a:spcPct val="150000"/>
              </a:lnSpc>
            </a:pPr>
            <a:r>
              <a:rPr lang="en" altLang="ko-KR" sz="1000" dirty="0"/>
              <a:t>JSX(JavaScript XML)</a:t>
            </a:r>
            <a:r>
              <a:rPr lang="ko-KR" altLang="en-US" sz="1000" dirty="0"/>
              <a:t>는 </a:t>
            </a:r>
            <a:r>
              <a:rPr lang="en" altLang="ko-KR" sz="1000" dirty="0"/>
              <a:t>JavaScript</a:t>
            </a:r>
            <a:r>
              <a:rPr lang="ko-KR" altLang="en-US" sz="1000" dirty="0"/>
              <a:t>에서 </a:t>
            </a:r>
            <a:r>
              <a:rPr lang="en" altLang="ko-KR" sz="1000" dirty="0"/>
              <a:t>HTML</a:t>
            </a:r>
            <a:r>
              <a:rPr lang="ko-KR" altLang="en-US" sz="1000" dirty="0"/>
              <a:t>을 작성할 수 있게 도와주는 문법</a:t>
            </a: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en" altLang="ko-KR" sz="1000" dirty="0"/>
              <a:t>✔ JavaScript </a:t>
            </a:r>
            <a:r>
              <a:rPr lang="ko-KR" altLang="en-US" sz="1000" dirty="0"/>
              <a:t>코드 내에서 </a:t>
            </a:r>
            <a:r>
              <a:rPr lang="en" altLang="ko-KR" sz="1000" dirty="0"/>
              <a:t>HTML</a:t>
            </a:r>
            <a:r>
              <a:rPr lang="ko-KR" altLang="en-US" sz="1000" dirty="0"/>
              <a:t>을 작성할 수 있음</a:t>
            </a:r>
            <a:br>
              <a:rPr lang="ko-KR" altLang="en-US" sz="1000" dirty="0"/>
            </a:br>
            <a:r>
              <a:rPr lang="ko-KR" altLang="en-US" sz="1000" dirty="0"/>
              <a:t>✔ </a:t>
            </a:r>
            <a:r>
              <a:rPr lang="en" altLang="ko-KR" sz="1000" dirty="0"/>
              <a:t>class </a:t>
            </a:r>
            <a:r>
              <a:rPr lang="ko-KR" altLang="en-US" sz="1000" dirty="0"/>
              <a:t>대신 </a:t>
            </a:r>
            <a:r>
              <a:rPr lang="en" altLang="ko-KR" sz="1000" dirty="0" err="1"/>
              <a:t>className</a:t>
            </a:r>
            <a:r>
              <a:rPr lang="en" altLang="ko-KR" sz="1000" dirty="0"/>
              <a:t> </a:t>
            </a:r>
            <a:r>
              <a:rPr lang="ko-KR" altLang="en-US" sz="1000" dirty="0"/>
              <a:t>사용</a:t>
            </a:r>
            <a:br>
              <a:rPr lang="ko-KR" altLang="en-US" sz="1000" dirty="0"/>
            </a:br>
            <a:r>
              <a:rPr lang="ko-KR" altLang="en-US" sz="1000" dirty="0"/>
              <a:t>✔ 반드시 하나의 부모 요소로 감싸야 함</a:t>
            </a:r>
            <a:endParaRPr lang="en-US" altLang="ko-KR" sz="10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4" name="Picture 14" descr="React JS] 바닐라 JS - MVC">
            <a:extLst>
              <a:ext uri="{FF2B5EF4-FFF2-40B4-BE49-F238E27FC236}">
                <a16:creationId xmlns:a16="http://schemas.microsoft.com/office/drawing/2014/main" id="{78EA7FFD-0557-236B-E79A-1F0D3161A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45" y="2484092"/>
            <a:ext cx="2876045" cy="1889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97FF257-7A0A-4BCC-E0FA-AE6637864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8687" y="2927910"/>
            <a:ext cx="7772400" cy="256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301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94ADAD-360E-F618-D523-20CEAFA6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97433B9-6C02-1C2B-45ED-A193987A6010}"/>
              </a:ext>
            </a:extLst>
          </p:cNvPr>
          <p:cNvSpPr/>
          <p:nvPr/>
        </p:nvSpPr>
        <p:spPr>
          <a:xfrm>
            <a:off x="6127775" y="269693"/>
            <a:ext cx="1066250" cy="5048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27B79836-C8E4-E3E7-472D-F6AD3E1BB1D1}"/>
              </a:ext>
            </a:extLst>
          </p:cNvPr>
          <p:cNvSpPr/>
          <p:nvPr/>
        </p:nvSpPr>
        <p:spPr>
          <a:xfrm>
            <a:off x="1105947" y="269693"/>
            <a:ext cx="5898940" cy="504826"/>
          </a:xfrm>
          <a:custGeom>
            <a:avLst/>
            <a:gdLst>
              <a:gd name="connsiteX0" fmla="*/ 205868 w 5898940"/>
              <a:gd name="connsiteY0" fmla="*/ 0 h 504826"/>
              <a:gd name="connsiteX1" fmla="*/ 5646527 w 5898940"/>
              <a:gd name="connsiteY1" fmla="*/ 0 h 504826"/>
              <a:gd name="connsiteX2" fmla="*/ 5898940 w 5898940"/>
              <a:gd name="connsiteY2" fmla="*/ 252413 h 504826"/>
              <a:gd name="connsiteX3" fmla="*/ 5898939 w 5898940"/>
              <a:gd name="connsiteY3" fmla="*/ 252413 h 504826"/>
              <a:gd name="connsiteX4" fmla="*/ 5646526 w 5898940"/>
              <a:gd name="connsiteY4" fmla="*/ 504826 h 504826"/>
              <a:gd name="connsiteX5" fmla="*/ 0 w 5898940"/>
              <a:gd name="connsiteY5" fmla="*/ 504825 h 50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8940" h="504826">
                <a:moveTo>
                  <a:pt x="205868" y="0"/>
                </a:moveTo>
                <a:lnTo>
                  <a:pt x="5646527" y="0"/>
                </a:lnTo>
                <a:cubicBezTo>
                  <a:pt x="5785931" y="0"/>
                  <a:pt x="5898940" y="113009"/>
                  <a:pt x="5898940" y="252413"/>
                </a:cubicBezTo>
                <a:lnTo>
                  <a:pt x="5898939" y="252413"/>
                </a:lnTo>
                <a:cubicBezTo>
                  <a:pt x="5898939" y="391817"/>
                  <a:pt x="5785930" y="504826"/>
                  <a:pt x="5646526" y="504826"/>
                </a:cubicBezTo>
                <a:lnTo>
                  <a:pt x="0" y="504825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REACT JS</a:t>
            </a:r>
            <a:r>
              <a:rPr kumimoji="0" lang="ko-KR" altLang="en-US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란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89417891-6592-305C-AEA7-3152DA4BFF00}"/>
              </a:ext>
            </a:extLst>
          </p:cNvPr>
          <p:cNvSpPr/>
          <p:nvPr/>
        </p:nvSpPr>
        <p:spPr>
          <a:xfrm>
            <a:off x="1106471" y="693043"/>
            <a:ext cx="129121" cy="80193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77693F93-20BD-0A20-1AB3-F40A924B6BE1}"/>
              </a:ext>
            </a:extLst>
          </p:cNvPr>
          <p:cNvSpPr/>
          <p:nvPr/>
        </p:nvSpPr>
        <p:spPr>
          <a:xfrm>
            <a:off x="371476" y="188218"/>
            <a:ext cx="1066250" cy="504825"/>
          </a:xfrm>
          <a:custGeom>
            <a:avLst/>
            <a:gdLst>
              <a:gd name="connsiteX0" fmla="*/ 0 w 1066250"/>
              <a:gd name="connsiteY0" fmla="*/ 252412 h 504825"/>
              <a:gd name="connsiteX1" fmla="*/ 0 w 1066250"/>
              <a:gd name="connsiteY1" fmla="*/ 252413 h 504825"/>
              <a:gd name="connsiteX2" fmla="*/ 0 w 1066250"/>
              <a:gd name="connsiteY2" fmla="*/ 252413 h 504825"/>
              <a:gd name="connsiteX3" fmla="*/ 252413 w 1066250"/>
              <a:gd name="connsiteY3" fmla="*/ 0 h 504825"/>
              <a:gd name="connsiteX4" fmla="*/ 1066250 w 1066250"/>
              <a:gd name="connsiteY4" fmla="*/ 0 h 504825"/>
              <a:gd name="connsiteX5" fmla="*/ 860382 w 1066250"/>
              <a:gd name="connsiteY5" fmla="*/ 504825 h 504825"/>
              <a:gd name="connsiteX6" fmla="*/ 252413 w 1066250"/>
              <a:gd name="connsiteY6" fmla="*/ 504825 h 504825"/>
              <a:gd name="connsiteX7" fmla="*/ 19836 w 1066250"/>
              <a:gd name="connsiteY7" fmla="*/ 350663 h 504825"/>
              <a:gd name="connsiteX8" fmla="*/ 0 w 1066250"/>
              <a:gd name="connsiteY8" fmla="*/ 252413 h 504825"/>
              <a:gd name="connsiteX9" fmla="*/ 19836 w 1066250"/>
              <a:gd name="connsiteY9" fmla="*/ 154162 h 504825"/>
              <a:gd name="connsiteX10" fmla="*/ 252413 w 1066250"/>
              <a:gd name="connsiteY10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250" h="504825">
                <a:moveTo>
                  <a:pt x="0" y="252412"/>
                </a:moveTo>
                <a:lnTo>
                  <a:pt x="0" y="252413"/>
                </a:lnTo>
                <a:lnTo>
                  <a:pt x="0" y="252413"/>
                </a:lnTo>
                <a:close/>
                <a:moveTo>
                  <a:pt x="252413" y="0"/>
                </a:moveTo>
                <a:lnTo>
                  <a:pt x="1066250" y="0"/>
                </a:lnTo>
                <a:lnTo>
                  <a:pt x="860382" y="504825"/>
                </a:lnTo>
                <a:lnTo>
                  <a:pt x="252413" y="504825"/>
                </a:lnTo>
                <a:cubicBezTo>
                  <a:pt x="147860" y="504825"/>
                  <a:pt x="58154" y="441257"/>
                  <a:pt x="19836" y="350663"/>
                </a:cubicBezTo>
                <a:lnTo>
                  <a:pt x="0" y="252413"/>
                </a:lnTo>
                <a:lnTo>
                  <a:pt x="19836" y="154162"/>
                </a:lnTo>
                <a:cubicBezTo>
                  <a:pt x="58154" y="63568"/>
                  <a:pt x="147860" y="0"/>
                  <a:pt x="252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Tmon몬소리 Black" panose="02000A03000000000000" pitchFamily="2" charset="-127"/>
                <a:cs typeface="+mn-cs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FB4EE29-C09E-7602-727E-237B08C776E1}"/>
              </a:ext>
            </a:extLst>
          </p:cNvPr>
          <p:cNvCxnSpPr/>
          <p:nvPr/>
        </p:nvCxnSpPr>
        <p:spPr>
          <a:xfrm>
            <a:off x="7092426" y="504825"/>
            <a:ext cx="5112000" cy="0"/>
          </a:xfrm>
          <a:prstGeom prst="line">
            <a:avLst/>
          </a:prstGeom>
          <a:ln w="3175">
            <a:solidFill>
              <a:srgbClr val="FC4C4C"/>
            </a:solidFill>
            <a:prstDash val="dash"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AEED067-33A6-400C-5B47-32DADBD98444}"/>
              </a:ext>
            </a:extLst>
          </p:cNvPr>
          <p:cNvSpPr/>
          <p:nvPr/>
        </p:nvSpPr>
        <p:spPr>
          <a:xfrm>
            <a:off x="4818548" y="1044804"/>
            <a:ext cx="7319540" cy="33933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컴포넌트 생성</a:t>
            </a:r>
            <a:endParaRPr lang="en-US" altLang="ko-KR" sz="1400" b="1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>
              <a:lnSpc>
                <a:spcPct val="150000"/>
              </a:lnSpc>
            </a:pPr>
            <a:endParaRPr lang="en" altLang="ko-KR" sz="1000" dirty="0"/>
          </a:p>
          <a:p>
            <a:pPr>
              <a:lnSpc>
                <a:spcPct val="150000"/>
              </a:lnSpc>
            </a:pPr>
            <a:r>
              <a:rPr lang="en" altLang="ko-KR" sz="1000" dirty="0"/>
              <a:t>React</a:t>
            </a:r>
            <a:r>
              <a:rPr lang="ko-KR" altLang="en-US" sz="1000" dirty="0"/>
              <a:t>에서는 </a:t>
            </a:r>
            <a:r>
              <a:rPr lang="en" altLang="ko-KR" sz="1000" dirty="0"/>
              <a:t>UI</a:t>
            </a:r>
            <a:r>
              <a:rPr lang="ko-KR" altLang="en-US" sz="1000" dirty="0" err="1"/>
              <a:t>를</a:t>
            </a:r>
            <a:r>
              <a:rPr lang="ko-KR" altLang="en-US" sz="1000" dirty="0"/>
              <a:t> </a:t>
            </a:r>
            <a:r>
              <a:rPr lang="ko-KR" altLang="en-US" sz="1000" b="1" dirty="0"/>
              <a:t>컴포넌트</a:t>
            </a:r>
            <a:r>
              <a:rPr lang="ko-KR" altLang="en-US" sz="1000" dirty="0"/>
              <a:t> 단위로 관리</a:t>
            </a:r>
            <a:br>
              <a:rPr lang="ko-KR" altLang="en-US" sz="1000" dirty="0"/>
            </a:br>
            <a:r>
              <a:rPr lang="ko-KR" altLang="en-US" sz="1000" dirty="0"/>
              <a:t>✔ </a:t>
            </a:r>
            <a:r>
              <a:rPr lang="ko-KR" altLang="en-US" sz="1000" b="1" dirty="0"/>
              <a:t>함수형 컴포넌트</a:t>
            </a:r>
            <a:endParaRPr lang="en-US" altLang="ko-KR" sz="1000" b="1" dirty="0"/>
          </a:p>
          <a:p>
            <a:pPr>
              <a:lnSpc>
                <a:spcPct val="150000"/>
              </a:lnSpc>
            </a:pPr>
            <a:endParaRPr lang="en-US" altLang="ko-KR" sz="1000" b="1" dirty="0"/>
          </a:p>
          <a:p>
            <a:pPr>
              <a:lnSpc>
                <a:spcPct val="150000"/>
              </a:lnSpc>
            </a:pPr>
            <a:endParaRPr lang="en-US" altLang="ko-KR" sz="1000" b="1" dirty="0"/>
          </a:p>
          <a:p>
            <a:pPr>
              <a:lnSpc>
                <a:spcPct val="150000"/>
              </a:lnSpc>
            </a:pPr>
            <a:endParaRPr lang="en-US" altLang="ko-KR" sz="1000" b="1" dirty="0"/>
          </a:p>
          <a:p>
            <a:pPr>
              <a:lnSpc>
                <a:spcPct val="150000"/>
              </a:lnSpc>
            </a:pPr>
            <a:endParaRPr lang="en-US" altLang="ko-KR" sz="1000" b="1" dirty="0"/>
          </a:p>
          <a:p>
            <a:pPr>
              <a:lnSpc>
                <a:spcPct val="150000"/>
              </a:lnSpc>
            </a:pPr>
            <a:endParaRPr lang="en-US" altLang="ko-KR" sz="1000" b="1" dirty="0"/>
          </a:p>
          <a:p>
            <a:pPr>
              <a:lnSpc>
                <a:spcPct val="150000"/>
              </a:lnSpc>
            </a:pPr>
            <a:endParaRPr lang="en-US" altLang="ko-KR" sz="1000" b="1" dirty="0"/>
          </a:p>
          <a:p>
            <a:pPr>
              <a:lnSpc>
                <a:spcPct val="150000"/>
              </a:lnSpc>
            </a:pPr>
            <a:endParaRPr lang="en-US" altLang="ko-KR" sz="1000" b="1" dirty="0"/>
          </a:p>
          <a:p>
            <a:pPr>
              <a:lnSpc>
                <a:spcPct val="150000"/>
              </a:lnSpc>
            </a:pPr>
            <a:endParaRPr lang="en-US" altLang="ko-KR" sz="1000" b="1" dirty="0"/>
          </a:p>
          <a:p>
            <a:pPr>
              <a:lnSpc>
                <a:spcPct val="150000"/>
              </a:lnSpc>
            </a:pPr>
            <a:br>
              <a:rPr lang="ko-KR" altLang="en-US" sz="1000" dirty="0"/>
            </a:br>
            <a:r>
              <a:rPr lang="ko-KR" altLang="en-US" sz="1000" dirty="0"/>
              <a:t>✔ </a:t>
            </a:r>
            <a:r>
              <a:rPr lang="ko-KR" altLang="en-US" sz="1000" b="1" dirty="0"/>
              <a:t>클래스형 컴포넌트</a:t>
            </a:r>
            <a:endParaRPr lang="en-US" altLang="ko-KR" sz="10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4" name="Picture 14" descr="React JS] 바닐라 JS - MVC">
            <a:extLst>
              <a:ext uri="{FF2B5EF4-FFF2-40B4-BE49-F238E27FC236}">
                <a16:creationId xmlns:a16="http://schemas.microsoft.com/office/drawing/2014/main" id="{78EA7FFD-0557-236B-E79A-1F0D3161A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45" y="2484092"/>
            <a:ext cx="2876045" cy="1889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1E376E2-8089-6CC1-96D9-82A0ED7D4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3702" y="1716426"/>
            <a:ext cx="4850435" cy="217884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415EF98-E284-13F6-4ABA-FBABF5C942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3702" y="3944967"/>
            <a:ext cx="5140646" cy="2913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750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94ADAD-360E-F618-D523-20CEAFA6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97433B9-6C02-1C2B-45ED-A193987A6010}"/>
              </a:ext>
            </a:extLst>
          </p:cNvPr>
          <p:cNvSpPr/>
          <p:nvPr/>
        </p:nvSpPr>
        <p:spPr>
          <a:xfrm>
            <a:off x="6127775" y="269693"/>
            <a:ext cx="1066250" cy="5048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27B79836-C8E4-E3E7-472D-F6AD3E1BB1D1}"/>
              </a:ext>
            </a:extLst>
          </p:cNvPr>
          <p:cNvSpPr/>
          <p:nvPr/>
        </p:nvSpPr>
        <p:spPr>
          <a:xfrm>
            <a:off x="1105947" y="269693"/>
            <a:ext cx="5898940" cy="504826"/>
          </a:xfrm>
          <a:custGeom>
            <a:avLst/>
            <a:gdLst>
              <a:gd name="connsiteX0" fmla="*/ 205868 w 5898940"/>
              <a:gd name="connsiteY0" fmla="*/ 0 h 504826"/>
              <a:gd name="connsiteX1" fmla="*/ 5646527 w 5898940"/>
              <a:gd name="connsiteY1" fmla="*/ 0 h 504826"/>
              <a:gd name="connsiteX2" fmla="*/ 5898940 w 5898940"/>
              <a:gd name="connsiteY2" fmla="*/ 252413 h 504826"/>
              <a:gd name="connsiteX3" fmla="*/ 5898939 w 5898940"/>
              <a:gd name="connsiteY3" fmla="*/ 252413 h 504826"/>
              <a:gd name="connsiteX4" fmla="*/ 5646526 w 5898940"/>
              <a:gd name="connsiteY4" fmla="*/ 504826 h 504826"/>
              <a:gd name="connsiteX5" fmla="*/ 0 w 5898940"/>
              <a:gd name="connsiteY5" fmla="*/ 504825 h 50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8940" h="504826">
                <a:moveTo>
                  <a:pt x="205868" y="0"/>
                </a:moveTo>
                <a:lnTo>
                  <a:pt x="5646527" y="0"/>
                </a:lnTo>
                <a:cubicBezTo>
                  <a:pt x="5785931" y="0"/>
                  <a:pt x="5898940" y="113009"/>
                  <a:pt x="5898940" y="252413"/>
                </a:cubicBezTo>
                <a:lnTo>
                  <a:pt x="5898939" y="252413"/>
                </a:lnTo>
                <a:cubicBezTo>
                  <a:pt x="5898939" y="391817"/>
                  <a:pt x="5785930" y="504826"/>
                  <a:pt x="5646526" y="504826"/>
                </a:cubicBezTo>
                <a:lnTo>
                  <a:pt x="0" y="504825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REACT JS</a:t>
            </a:r>
            <a:r>
              <a:rPr kumimoji="0" lang="ko-KR" altLang="en-US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란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89417891-6592-305C-AEA7-3152DA4BFF00}"/>
              </a:ext>
            </a:extLst>
          </p:cNvPr>
          <p:cNvSpPr/>
          <p:nvPr/>
        </p:nvSpPr>
        <p:spPr>
          <a:xfrm>
            <a:off x="1106471" y="693043"/>
            <a:ext cx="129121" cy="80193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77693F93-20BD-0A20-1AB3-F40A924B6BE1}"/>
              </a:ext>
            </a:extLst>
          </p:cNvPr>
          <p:cNvSpPr/>
          <p:nvPr/>
        </p:nvSpPr>
        <p:spPr>
          <a:xfrm>
            <a:off x="371476" y="188218"/>
            <a:ext cx="1066250" cy="504825"/>
          </a:xfrm>
          <a:custGeom>
            <a:avLst/>
            <a:gdLst>
              <a:gd name="connsiteX0" fmla="*/ 0 w 1066250"/>
              <a:gd name="connsiteY0" fmla="*/ 252412 h 504825"/>
              <a:gd name="connsiteX1" fmla="*/ 0 w 1066250"/>
              <a:gd name="connsiteY1" fmla="*/ 252413 h 504825"/>
              <a:gd name="connsiteX2" fmla="*/ 0 w 1066250"/>
              <a:gd name="connsiteY2" fmla="*/ 252413 h 504825"/>
              <a:gd name="connsiteX3" fmla="*/ 252413 w 1066250"/>
              <a:gd name="connsiteY3" fmla="*/ 0 h 504825"/>
              <a:gd name="connsiteX4" fmla="*/ 1066250 w 1066250"/>
              <a:gd name="connsiteY4" fmla="*/ 0 h 504825"/>
              <a:gd name="connsiteX5" fmla="*/ 860382 w 1066250"/>
              <a:gd name="connsiteY5" fmla="*/ 504825 h 504825"/>
              <a:gd name="connsiteX6" fmla="*/ 252413 w 1066250"/>
              <a:gd name="connsiteY6" fmla="*/ 504825 h 504825"/>
              <a:gd name="connsiteX7" fmla="*/ 19836 w 1066250"/>
              <a:gd name="connsiteY7" fmla="*/ 350663 h 504825"/>
              <a:gd name="connsiteX8" fmla="*/ 0 w 1066250"/>
              <a:gd name="connsiteY8" fmla="*/ 252413 h 504825"/>
              <a:gd name="connsiteX9" fmla="*/ 19836 w 1066250"/>
              <a:gd name="connsiteY9" fmla="*/ 154162 h 504825"/>
              <a:gd name="connsiteX10" fmla="*/ 252413 w 1066250"/>
              <a:gd name="connsiteY10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250" h="504825">
                <a:moveTo>
                  <a:pt x="0" y="252412"/>
                </a:moveTo>
                <a:lnTo>
                  <a:pt x="0" y="252413"/>
                </a:lnTo>
                <a:lnTo>
                  <a:pt x="0" y="252413"/>
                </a:lnTo>
                <a:close/>
                <a:moveTo>
                  <a:pt x="252413" y="0"/>
                </a:moveTo>
                <a:lnTo>
                  <a:pt x="1066250" y="0"/>
                </a:lnTo>
                <a:lnTo>
                  <a:pt x="860382" y="504825"/>
                </a:lnTo>
                <a:lnTo>
                  <a:pt x="252413" y="504825"/>
                </a:lnTo>
                <a:cubicBezTo>
                  <a:pt x="147860" y="504825"/>
                  <a:pt x="58154" y="441257"/>
                  <a:pt x="19836" y="350663"/>
                </a:cubicBezTo>
                <a:lnTo>
                  <a:pt x="0" y="252413"/>
                </a:lnTo>
                <a:lnTo>
                  <a:pt x="19836" y="154162"/>
                </a:lnTo>
                <a:cubicBezTo>
                  <a:pt x="58154" y="63568"/>
                  <a:pt x="147860" y="0"/>
                  <a:pt x="252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Tmon몬소리 Black" panose="02000A03000000000000" pitchFamily="2" charset="-127"/>
                <a:cs typeface="+mn-cs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FB4EE29-C09E-7602-727E-237B08C776E1}"/>
              </a:ext>
            </a:extLst>
          </p:cNvPr>
          <p:cNvCxnSpPr/>
          <p:nvPr/>
        </p:nvCxnSpPr>
        <p:spPr>
          <a:xfrm>
            <a:off x="7092426" y="504825"/>
            <a:ext cx="5112000" cy="0"/>
          </a:xfrm>
          <a:prstGeom prst="line">
            <a:avLst/>
          </a:prstGeom>
          <a:ln w="3175">
            <a:solidFill>
              <a:srgbClr val="FC4C4C"/>
            </a:solidFill>
            <a:prstDash val="dash"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AEED067-33A6-400C-5B47-32DADBD98444}"/>
              </a:ext>
            </a:extLst>
          </p:cNvPr>
          <p:cNvSpPr/>
          <p:nvPr/>
        </p:nvSpPr>
        <p:spPr>
          <a:xfrm>
            <a:off x="3249447" y="1284539"/>
            <a:ext cx="3739043" cy="13090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Props</a:t>
            </a:r>
            <a:r>
              <a: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와 </a:t>
            </a:r>
            <a: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State</a:t>
            </a:r>
          </a:p>
          <a:p>
            <a:pPr>
              <a:lnSpc>
                <a:spcPct val="150000"/>
              </a:lnSpc>
            </a:pPr>
            <a:endParaRPr lang="en" altLang="ko-KR" sz="1000" dirty="0"/>
          </a:p>
          <a:p>
            <a:pPr>
              <a:lnSpc>
                <a:spcPct val="150000"/>
              </a:lnSpc>
            </a:pPr>
            <a:r>
              <a:rPr lang="en-US" altLang="ko-KR" sz="1000" b="1" dirty="0"/>
              <a:t>[Props]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+mn-ea"/>
              </a:rPr>
              <a:t>부모 컴포넌트가 자식 컴포넌트에게 데이터를 전달하는 방법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/>
              <a:t>읽기 전용</a:t>
            </a:r>
            <a:r>
              <a:rPr lang="en-US" altLang="ko-KR" sz="1000" dirty="0"/>
              <a:t>(</a:t>
            </a:r>
            <a:r>
              <a:rPr lang="en" altLang="ko-KR" sz="1000" dirty="0"/>
              <a:t>immutable) → </a:t>
            </a:r>
            <a:r>
              <a:rPr lang="ko-KR" altLang="en-US" sz="1000" dirty="0"/>
              <a:t>변경할 수 없음</a:t>
            </a:r>
          </a:p>
        </p:txBody>
      </p:sp>
      <p:pic>
        <p:nvPicPr>
          <p:cNvPr id="4" name="Picture 14" descr="React JS] 바닐라 JS - MVC">
            <a:extLst>
              <a:ext uri="{FF2B5EF4-FFF2-40B4-BE49-F238E27FC236}">
                <a16:creationId xmlns:a16="http://schemas.microsoft.com/office/drawing/2014/main" id="{78EA7FFD-0557-236B-E79A-1F0D3161A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45" y="2484092"/>
            <a:ext cx="2876045" cy="1889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CD52DD8-C17D-668D-4A7A-996A4DE0C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6821" y="2232458"/>
            <a:ext cx="4687957" cy="238118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3B75798-DE35-8496-DC66-65E7930411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8061" y="2134090"/>
            <a:ext cx="5163652" cy="3844052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95E63C6E-D221-7FE9-4C1E-08F56C557581}"/>
              </a:ext>
            </a:extLst>
          </p:cNvPr>
          <p:cNvSpPr/>
          <p:nvPr/>
        </p:nvSpPr>
        <p:spPr>
          <a:xfrm>
            <a:off x="7516061" y="1806248"/>
            <a:ext cx="3739043" cy="755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b="1" dirty="0"/>
              <a:t>[State]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+mn-ea"/>
              </a:rPr>
              <a:t>컴포넌트</a:t>
            </a:r>
            <a:r>
              <a:rPr lang="en-US" altLang="ko-KR" sz="1000" dirty="0">
                <a:latin typeface="+mn-ea"/>
              </a:rPr>
              <a:t> </a:t>
            </a:r>
            <a:r>
              <a:rPr lang="ko-KR" altLang="en-US" sz="1000" dirty="0">
                <a:latin typeface="+mn-ea"/>
              </a:rPr>
              <a:t>내부에서 관리되는 값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 err="1"/>
              <a:t>useState</a:t>
            </a:r>
            <a:r>
              <a:rPr lang="ko-KR" altLang="en-US" sz="1000" dirty="0" err="1"/>
              <a:t>를</a:t>
            </a:r>
            <a:r>
              <a:rPr lang="ko-KR" altLang="en-US" sz="1000" dirty="0"/>
              <a:t> 사용하여 변경 가능</a:t>
            </a:r>
          </a:p>
        </p:txBody>
      </p:sp>
    </p:spTree>
    <p:extLst>
      <p:ext uri="{BB962C8B-B14F-4D97-AF65-F5344CB8AC3E}">
        <p14:creationId xmlns:p14="http://schemas.microsoft.com/office/powerpoint/2010/main" val="1371233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94ADAD-360E-F618-D523-20CEAFA6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97433B9-6C02-1C2B-45ED-A193987A6010}"/>
              </a:ext>
            </a:extLst>
          </p:cNvPr>
          <p:cNvSpPr/>
          <p:nvPr/>
        </p:nvSpPr>
        <p:spPr>
          <a:xfrm>
            <a:off x="6127775" y="269693"/>
            <a:ext cx="1066250" cy="5048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27B79836-C8E4-E3E7-472D-F6AD3E1BB1D1}"/>
              </a:ext>
            </a:extLst>
          </p:cNvPr>
          <p:cNvSpPr/>
          <p:nvPr/>
        </p:nvSpPr>
        <p:spPr>
          <a:xfrm>
            <a:off x="1105947" y="269693"/>
            <a:ext cx="5898940" cy="504826"/>
          </a:xfrm>
          <a:custGeom>
            <a:avLst/>
            <a:gdLst>
              <a:gd name="connsiteX0" fmla="*/ 205868 w 5898940"/>
              <a:gd name="connsiteY0" fmla="*/ 0 h 504826"/>
              <a:gd name="connsiteX1" fmla="*/ 5646527 w 5898940"/>
              <a:gd name="connsiteY1" fmla="*/ 0 h 504826"/>
              <a:gd name="connsiteX2" fmla="*/ 5898940 w 5898940"/>
              <a:gd name="connsiteY2" fmla="*/ 252413 h 504826"/>
              <a:gd name="connsiteX3" fmla="*/ 5898939 w 5898940"/>
              <a:gd name="connsiteY3" fmla="*/ 252413 h 504826"/>
              <a:gd name="connsiteX4" fmla="*/ 5646526 w 5898940"/>
              <a:gd name="connsiteY4" fmla="*/ 504826 h 504826"/>
              <a:gd name="connsiteX5" fmla="*/ 0 w 5898940"/>
              <a:gd name="connsiteY5" fmla="*/ 504825 h 50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8940" h="504826">
                <a:moveTo>
                  <a:pt x="205868" y="0"/>
                </a:moveTo>
                <a:lnTo>
                  <a:pt x="5646527" y="0"/>
                </a:lnTo>
                <a:cubicBezTo>
                  <a:pt x="5785931" y="0"/>
                  <a:pt x="5898940" y="113009"/>
                  <a:pt x="5898940" y="252413"/>
                </a:cubicBezTo>
                <a:lnTo>
                  <a:pt x="5898939" y="252413"/>
                </a:lnTo>
                <a:cubicBezTo>
                  <a:pt x="5898939" y="391817"/>
                  <a:pt x="5785930" y="504826"/>
                  <a:pt x="5646526" y="504826"/>
                </a:cubicBezTo>
                <a:lnTo>
                  <a:pt x="0" y="504825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REACT JS</a:t>
            </a:r>
            <a:r>
              <a:rPr kumimoji="0" lang="ko-KR" altLang="en-US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란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89417891-6592-305C-AEA7-3152DA4BFF00}"/>
              </a:ext>
            </a:extLst>
          </p:cNvPr>
          <p:cNvSpPr/>
          <p:nvPr/>
        </p:nvSpPr>
        <p:spPr>
          <a:xfrm>
            <a:off x="1106471" y="693043"/>
            <a:ext cx="129121" cy="80193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77693F93-20BD-0A20-1AB3-F40A924B6BE1}"/>
              </a:ext>
            </a:extLst>
          </p:cNvPr>
          <p:cNvSpPr/>
          <p:nvPr/>
        </p:nvSpPr>
        <p:spPr>
          <a:xfrm>
            <a:off x="371476" y="188218"/>
            <a:ext cx="1066250" cy="504825"/>
          </a:xfrm>
          <a:custGeom>
            <a:avLst/>
            <a:gdLst>
              <a:gd name="connsiteX0" fmla="*/ 0 w 1066250"/>
              <a:gd name="connsiteY0" fmla="*/ 252412 h 504825"/>
              <a:gd name="connsiteX1" fmla="*/ 0 w 1066250"/>
              <a:gd name="connsiteY1" fmla="*/ 252413 h 504825"/>
              <a:gd name="connsiteX2" fmla="*/ 0 w 1066250"/>
              <a:gd name="connsiteY2" fmla="*/ 252413 h 504825"/>
              <a:gd name="connsiteX3" fmla="*/ 252413 w 1066250"/>
              <a:gd name="connsiteY3" fmla="*/ 0 h 504825"/>
              <a:gd name="connsiteX4" fmla="*/ 1066250 w 1066250"/>
              <a:gd name="connsiteY4" fmla="*/ 0 h 504825"/>
              <a:gd name="connsiteX5" fmla="*/ 860382 w 1066250"/>
              <a:gd name="connsiteY5" fmla="*/ 504825 h 504825"/>
              <a:gd name="connsiteX6" fmla="*/ 252413 w 1066250"/>
              <a:gd name="connsiteY6" fmla="*/ 504825 h 504825"/>
              <a:gd name="connsiteX7" fmla="*/ 19836 w 1066250"/>
              <a:gd name="connsiteY7" fmla="*/ 350663 h 504825"/>
              <a:gd name="connsiteX8" fmla="*/ 0 w 1066250"/>
              <a:gd name="connsiteY8" fmla="*/ 252413 h 504825"/>
              <a:gd name="connsiteX9" fmla="*/ 19836 w 1066250"/>
              <a:gd name="connsiteY9" fmla="*/ 154162 h 504825"/>
              <a:gd name="connsiteX10" fmla="*/ 252413 w 1066250"/>
              <a:gd name="connsiteY10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250" h="504825">
                <a:moveTo>
                  <a:pt x="0" y="252412"/>
                </a:moveTo>
                <a:lnTo>
                  <a:pt x="0" y="252413"/>
                </a:lnTo>
                <a:lnTo>
                  <a:pt x="0" y="252413"/>
                </a:lnTo>
                <a:close/>
                <a:moveTo>
                  <a:pt x="252413" y="0"/>
                </a:moveTo>
                <a:lnTo>
                  <a:pt x="1066250" y="0"/>
                </a:lnTo>
                <a:lnTo>
                  <a:pt x="860382" y="504825"/>
                </a:lnTo>
                <a:lnTo>
                  <a:pt x="252413" y="504825"/>
                </a:lnTo>
                <a:cubicBezTo>
                  <a:pt x="147860" y="504825"/>
                  <a:pt x="58154" y="441257"/>
                  <a:pt x="19836" y="350663"/>
                </a:cubicBezTo>
                <a:lnTo>
                  <a:pt x="0" y="252413"/>
                </a:lnTo>
                <a:lnTo>
                  <a:pt x="19836" y="154162"/>
                </a:lnTo>
                <a:cubicBezTo>
                  <a:pt x="58154" y="63568"/>
                  <a:pt x="147860" y="0"/>
                  <a:pt x="252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Tmon몬소리 Black" panose="02000A03000000000000" pitchFamily="2" charset="-127"/>
                <a:cs typeface="+mn-cs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FB4EE29-C09E-7602-727E-237B08C776E1}"/>
              </a:ext>
            </a:extLst>
          </p:cNvPr>
          <p:cNvCxnSpPr/>
          <p:nvPr/>
        </p:nvCxnSpPr>
        <p:spPr>
          <a:xfrm>
            <a:off x="7092426" y="504825"/>
            <a:ext cx="5112000" cy="0"/>
          </a:xfrm>
          <a:prstGeom prst="line">
            <a:avLst/>
          </a:prstGeom>
          <a:ln w="3175">
            <a:solidFill>
              <a:srgbClr val="FC4C4C"/>
            </a:solidFill>
            <a:prstDash val="dash"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AEED067-33A6-400C-5B47-32DADBD98444}"/>
              </a:ext>
            </a:extLst>
          </p:cNvPr>
          <p:cNvSpPr/>
          <p:nvPr/>
        </p:nvSpPr>
        <p:spPr>
          <a:xfrm>
            <a:off x="3345117" y="1462134"/>
            <a:ext cx="7319540" cy="84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이벤트 핸들링</a:t>
            </a:r>
            <a:endParaRPr lang="en-US" altLang="ko-KR" sz="1400" b="1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>
              <a:lnSpc>
                <a:spcPct val="150000"/>
              </a:lnSpc>
            </a:pPr>
            <a:endParaRPr lang="en" altLang="ko-KR" sz="1000" dirty="0"/>
          </a:p>
          <a:p>
            <a:pPr>
              <a:lnSpc>
                <a:spcPct val="150000"/>
              </a:lnSpc>
            </a:pPr>
            <a:r>
              <a:rPr lang="ko-KR" altLang="en-US" sz="1000" dirty="0"/>
              <a:t>클릭 이벤트 처리</a:t>
            </a:r>
            <a:r>
              <a:rPr lang="en-US" altLang="ko-KR" sz="1000" dirty="0"/>
              <a:t>			</a:t>
            </a:r>
            <a:r>
              <a:rPr lang="ko-KR" altLang="en-US" sz="1000" dirty="0"/>
              <a:t>           </a:t>
            </a:r>
            <a:r>
              <a:rPr lang="ko-KR" altLang="en-US" sz="1000" dirty="0" err="1"/>
              <a:t>입력값</a:t>
            </a:r>
            <a:r>
              <a:rPr lang="ko-KR" altLang="en-US" sz="1000" dirty="0"/>
              <a:t> 변경 이벤트</a:t>
            </a:r>
            <a:endParaRPr lang="en" altLang="ko-KR" sz="1000" dirty="0"/>
          </a:p>
        </p:txBody>
      </p:sp>
      <p:pic>
        <p:nvPicPr>
          <p:cNvPr id="4" name="Picture 14" descr="React JS] 바닐라 JS - MVC">
            <a:extLst>
              <a:ext uri="{FF2B5EF4-FFF2-40B4-BE49-F238E27FC236}">
                <a16:creationId xmlns:a16="http://schemas.microsoft.com/office/drawing/2014/main" id="{78EA7FFD-0557-236B-E79A-1F0D3161A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45" y="2484092"/>
            <a:ext cx="2876045" cy="1889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7E3805A-A565-ED4B-86C6-6324BE6676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4937" y="2016368"/>
            <a:ext cx="4574281" cy="232344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67F6704-2064-2B48-03D9-B31F37E9DA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1865" y="1971024"/>
            <a:ext cx="5055926" cy="376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409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94ADAD-360E-F618-D523-20CEAFA6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97433B9-6C02-1C2B-45ED-A193987A6010}"/>
              </a:ext>
            </a:extLst>
          </p:cNvPr>
          <p:cNvSpPr/>
          <p:nvPr/>
        </p:nvSpPr>
        <p:spPr>
          <a:xfrm>
            <a:off x="6127775" y="269693"/>
            <a:ext cx="1066250" cy="5048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27B79836-C8E4-E3E7-472D-F6AD3E1BB1D1}"/>
              </a:ext>
            </a:extLst>
          </p:cNvPr>
          <p:cNvSpPr/>
          <p:nvPr/>
        </p:nvSpPr>
        <p:spPr>
          <a:xfrm>
            <a:off x="1105947" y="269693"/>
            <a:ext cx="5898940" cy="504826"/>
          </a:xfrm>
          <a:custGeom>
            <a:avLst/>
            <a:gdLst>
              <a:gd name="connsiteX0" fmla="*/ 205868 w 5898940"/>
              <a:gd name="connsiteY0" fmla="*/ 0 h 504826"/>
              <a:gd name="connsiteX1" fmla="*/ 5646527 w 5898940"/>
              <a:gd name="connsiteY1" fmla="*/ 0 h 504826"/>
              <a:gd name="connsiteX2" fmla="*/ 5898940 w 5898940"/>
              <a:gd name="connsiteY2" fmla="*/ 252413 h 504826"/>
              <a:gd name="connsiteX3" fmla="*/ 5898939 w 5898940"/>
              <a:gd name="connsiteY3" fmla="*/ 252413 h 504826"/>
              <a:gd name="connsiteX4" fmla="*/ 5646526 w 5898940"/>
              <a:gd name="connsiteY4" fmla="*/ 504826 h 504826"/>
              <a:gd name="connsiteX5" fmla="*/ 0 w 5898940"/>
              <a:gd name="connsiteY5" fmla="*/ 504825 h 50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8940" h="504826">
                <a:moveTo>
                  <a:pt x="205868" y="0"/>
                </a:moveTo>
                <a:lnTo>
                  <a:pt x="5646527" y="0"/>
                </a:lnTo>
                <a:cubicBezTo>
                  <a:pt x="5785931" y="0"/>
                  <a:pt x="5898940" y="113009"/>
                  <a:pt x="5898940" y="252413"/>
                </a:cubicBezTo>
                <a:lnTo>
                  <a:pt x="5898939" y="252413"/>
                </a:lnTo>
                <a:cubicBezTo>
                  <a:pt x="5898939" y="391817"/>
                  <a:pt x="5785930" y="504826"/>
                  <a:pt x="5646526" y="504826"/>
                </a:cubicBezTo>
                <a:lnTo>
                  <a:pt x="0" y="504825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REACT JS</a:t>
            </a:r>
            <a:r>
              <a:rPr kumimoji="0" lang="ko-KR" altLang="en-US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란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89417891-6592-305C-AEA7-3152DA4BFF00}"/>
              </a:ext>
            </a:extLst>
          </p:cNvPr>
          <p:cNvSpPr/>
          <p:nvPr/>
        </p:nvSpPr>
        <p:spPr>
          <a:xfrm>
            <a:off x="1106471" y="693043"/>
            <a:ext cx="129121" cy="80193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77693F93-20BD-0A20-1AB3-F40A924B6BE1}"/>
              </a:ext>
            </a:extLst>
          </p:cNvPr>
          <p:cNvSpPr/>
          <p:nvPr/>
        </p:nvSpPr>
        <p:spPr>
          <a:xfrm>
            <a:off x="371476" y="188218"/>
            <a:ext cx="1066250" cy="504825"/>
          </a:xfrm>
          <a:custGeom>
            <a:avLst/>
            <a:gdLst>
              <a:gd name="connsiteX0" fmla="*/ 0 w 1066250"/>
              <a:gd name="connsiteY0" fmla="*/ 252412 h 504825"/>
              <a:gd name="connsiteX1" fmla="*/ 0 w 1066250"/>
              <a:gd name="connsiteY1" fmla="*/ 252413 h 504825"/>
              <a:gd name="connsiteX2" fmla="*/ 0 w 1066250"/>
              <a:gd name="connsiteY2" fmla="*/ 252413 h 504825"/>
              <a:gd name="connsiteX3" fmla="*/ 252413 w 1066250"/>
              <a:gd name="connsiteY3" fmla="*/ 0 h 504825"/>
              <a:gd name="connsiteX4" fmla="*/ 1066250 w 1066250"/>
              <a:gd name="connsiteY4" fmla="*/ 0 h 504825"/>
              <a:gd name="connsiteX5" fmla="*/ 860382 w 1066250"/>
              <a:gd name="connsiteY5" fmla="*/ 504825 h 504825"/>
              <a:gd name="connsiteX6" fmla="*/ 252413 w 1066250"/>
              <a:gd name="connsiteY6" fmla="*/ 504825 h 504825"/>
              <a:gd name="connsiteX7" fmla="*/ 19836 w 1066250"/>
              <a:gd name="connsiteY7" fmla="*/ 350663 h 504825"/>
              <a:gd name="connsiteX8" fmla="*/ 0 w 1066250"/>
              <a:gd name="connsiteY8" fmla="*/ 252413 h 504825"/>
              <a:gd name="connsiteX9" fmla="*/ 19836 w 1066250"/>
              <a:gd name="connsiteY9" fmla="*/ 154162 h 504825"/>
              <a:gd name="connsiteX10" fmla="*/ 252413 w 1066250"/>
              <a:gd name="connsiteY10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250" h="504825">
                <a:moveTo>
                  <a:pt x="0" y="252412"/>
                </a:moveTo>
                <a:lnTo>
                  <a:pt x="0" y="252413"/>
                </a:lnTo>
                <a:lnTo>
                  <a:pt x="0" y="252413"/>
                </a:lnTo>
                <a:close/>
                <a:moveTo>
                  <a:pt x="252413" y="0"/>
                </a:moveTo>
                <a:lnTo>
                  <a:pt x="1066250" y="0"/>
                </a:lnTo>
                <a:lnTo>
                  <a:pt x="860382" y="504825"/>
                </a:lnTo>
                <a:lnTo>
                  <a:pt x="252413" y="504825"/>
                </a:lnTo>
                <a:cubicBezTo>
                  <a:pt x="147860" y="504825"/>
                  <a:pt x="58154" y="441257"/>
                  <a:pt x="19836" y="350663"/>
                </a:cubicBezTo>
                <a:lnTo>
                  <a:pt x="0" y="252413"/>
                </a:lnTo>
                <a:lnTo>
                  <a:pt x="19836" y="154162"/>
                </a:lnTo>
                <a:cubicBezTo>
                  <a:pt x="58154" y="63568"/>
                  <a:pt x="147860" y="0"/>
                  <a:pt x="252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Tmon몬소리 Black" panose="02000A03000000000000" pitchFamily="2" charset="-127"/>
                <a:cs typeface="+mn-cs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FB4EE29-C09E-7602-727E-237B08C776E1}"/>
              </a:ext>
            </a:extLst>
          </p:cNvPr>
          <p:cNvCxnSpPr/>
          <p:nvPr/>
        </p:nvCxnSpPr>
        <p:spPr>
          <a:xfrm>
            <a:off x="7092426" y="504825"/>
            <a:ext cx="5112000" cy="0"/>
          </a:xfrm>
          <a:prstGeom prst="line">
            <a:avLst/>
          </a:prstGeom>
          <a:ln w="3175">
            <a:solidFill>
              <a:srgbClr val="FC4C4C"/>
            </a:solidFill>
            <a:prstDash val="dash"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AEED067-33A6-400C-5B47-32DADBD98444}"/>
              </a:ext>
            </a:extLst>
          </p:cNvPr>
          <p:cNvSpPr/>
          <p:nvPr/>
        </p:nvSpPr>
        <p:spPr>
          <a:xfrm>
            <a:off x="4355272" y="1740429"/>
            <a:ext cx="7319540" cy="84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API </a:t>
            </a:r>
            <a:r>
              <a: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연동</a:t>
            </a:r>
            <a:endParaRPr lang="en-US" altLang="ko-KR" sz="1400" b="1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>
              <a:lnSpc>
                <a:spcPct val="150000"/>
              </a:lnSpc>
            </a:pPr>
            <a:endParaRPr lang="en" altLang="ko-KR" sz="1000" dirty="0"/>
          </a:p>
          <a:p>
            <a:pPr>
              <a:lnSpc>
                <a:spcPct val="150000"/>
              </a:lnSpc>
            </a:pPr>
            <a:r>
              <a:rPr lang="en-US" altLang="ko-KR" sz="1000" dirty="0"/>
              <a:t>Fetch API</a:t>
            </a:r>
            <a:r>
              <a:rPr lang="ko-KR" altLang="en-US" sz="1000" dirty="0"/>
              <a:t> 사용</a:t>
            </a:r>
            <a:endParaRPr lang="en" altLang="ko-KR" sz="1000" dirty="0"/>
          </a:p>
        </p:txBody>
      </p:sp>
      <p:pic>
        <p:nvPicPr>
          <p:cNvPr id="4" name="Picture 14" descr="React JS] 바닐라 JS - MVC">
            <a:extLst>
              <a:ext uri="{FF2B5EF4-FFF2-40B4-BE49-F238E27FC236}">
                <a16:creationId xmlns:a16="http://schemas.microsoft.com/office/drawing/2014/main" id="{78EA7FFD-0557-236B-E79A-1F0D3161A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45" y="2484092"/>
            <a:ext cx="2876045" cy="1889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952FB5B-CAE0-0142-F400-7A883317C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1373" y="2203364"/>
            <a:ext cx="5479054" cy="342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031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94ADAD-360E-F618-D523-20CEAFA6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97433B9-6C02-1C2B-45ED-A193987A6010}"/>
              </a:ext>
            </a:extLst>
          </p:cNvPr>
          <p:cNvSpPr/>
          <p:nvPr/>
        </p:nvSpPr>
        <p:spPr>
          <a:xfrm>
            <a:off x="6127775" y="269693"/>
            <a:ext cx="1066250" cy="5048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27B79836-C8E4-E3E7-472D-F6AD3E1BB1D1}"/>
              </a:ext>
            </a:extLst>
          </p:cNvPr>
          <p:cNvSpPr/>
          <p:nvPr/>
        </p:nvSpPr>
        <p:spPr>
          <a:xfrm>
            <a:off x="1105947" y="269693"/>
            <a:ext cx="5898940" cy="504826"/>
          </a:xfrm>
          <a:custGeom>
            <a:avLst/>
            <a:gdLst>
              <a:gd name="connsiteX0" fmla="*/ 205868 w 5898940"/>
              <a:gd name="connsiteY0" fmla="*/ 0 h 504826"/>
              <a:gd name="connsiteX1" fmla="*/ 5646527 w 5898940"/>
              <a:gd name="connsiteY1" fmla="*/ 0 h 504826"/>
              <a:gd name="connsiteX2" fmla="*/ 5898940 w 5898940"/>
              <a:gd name="connsiteY2" fmla="*/ 252413 h 504826"/>
              <a:gd name="connsiteX3" fmla="*/ 5898939 w 5898940"/>
              <a:gd name="connsiteY3" fmla="*/ 252413 h 504826"/>
              <a:gd name="connsiteX4" fmla="*/ 5646526 w 5898940"/>
              <a:gd name="connsiteY4" fmla="*/ 504826 h 504826"/>
              <a:gd name="connsiteX5" fmla="*/ 0 w 5898940"/>
              <a:gd name="connsiteY5" fmla="*/ 504825 h 50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8940" h="504826">
                <a:moveTo>
                  <a:pt x="205868" y="0"/>
                </a:moveTo>
                <a:lnTo>
                  <a:pt x="5646527" y="0"/>
                </a:lnTo>
                <a:cubicBezTo>
                  <a:pt x="5785931" y="0"/>
                  <a:pt x="5898940" y="113009"/>
                  <a:pt x="5898940" y="252413"/>
                </a:cubicBezTo>
                <a:lnTo>
                  <a:pt x="5898939" y="252413"/>
                </a:lnTo>
                <a:cubicBezTo>
                  <a:pt x="5898939" y="391817"/>
                  <a:pt x="5785930" y="504826"/>
                  <a:pt x="5646526" y="504826"/>
                </a:cubicBezTo>
                <a:lnTo>
                  <a:pt x="0" y="504825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REACT JS</a:t>
            </a:r>
            <a:r>
              <a:rPr kumimoji="0" lang="ko-KR" altLang="en-US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란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89417891-6592-305C-AEA7-3152DA4BFF00}"/>
              </a:ext>
            </a:extLst>
          </p:cNvPr>
          <p:cNvSpPr/>
          <p:nvPr/>
        </p:nvSpPr>
        <p:spPr>
          <a:xfrm>
            <a:off x="1106471" y="693043"/>
            <a:ext cx="129121" cy="80193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77693F93-20BD-0A20-1AB3-F40A924B6BE1}"/>
              </a:ext>
            </a:extLst>
          </p:cNvPr>
          <p:cNvSpPr/>
          <p:nvPr/>
        </p:nvSpPr>
        <p:spPr>
          <a:xfrm>
            <a:off x="371476" y="188218"/>
            <a:ext cx="1066250" cy="504825"/>
          </a:xfrm>
          <a:custGeom>
            <a:avLst/>
            <a:gdLst>
              <a:gd name="connsiteX0" fmla="*/ 0 w 1066250"/>
              <a:gd name="connsiteY0" fmla="*/ 252412 h 504825"/>
              <a:gd name="connsiteX1" fmla="*/ 0 w 1066250"/>
              <a:gd name="connsiteY1" fmla="*/ 252413 h 504825"/>
              <a:gd name="connsiteX2" fmla="*/ 0 w 1066250"/>
              <a:gd name="connsiteY2" fmla="*/ 252413 h 504825"/>
              <a:gd name="connsiteX3" fmla="*/ 252413 w 1066250"/>
              <a:gd name="connsiteY3" fmla="*/ 0 h 504825"/>
              <a:gd name="connsiteX4" fmla="*/ 1066250 w 1066250"/>
              <a:gd name="connsiteY4" fmla="*/ 0 h 504825"/>
              <a:gd name="connsiteX5" fmla="*/ 860382 w 1066250"/>
              <a:gd name="connsiteY5" fmla="*/ 504825 h 504825"/>
              <a:gd name="connsiteX6" fmla="*/ 252413 w 1066250"/>
              <a:gd name="connsiteY6" fmla="*/ 504825 h 504825"/>
              <a:gd name="connsiteX7" fmla="*/ 19836 w 1066250"/>
              <a:gd name="connsiteY7" fmla="*/ 350663 h 504825"/>
              <a:gd name="connsiteX8" fmla="*/ 0 w 1066250"/>
              <a:gd name="connsiteY8" fmla="*/ 252413 h 504825"/>
              <a:gd name="connsiteX9" fmla="*/ 19836 w 1066250"/>
              <a:gd name="connsiteY9" fmla="*/ 154162 h 504825"/>
              <a:gd name="connsiteX10" fmla="*/ 252413 w 1066250"/>
              <a:gd name="connsiteY10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250" h="504825">
                <a:moveTo>
                  <a:pt x="0" y="252412"/>
                </a:moveTo>
                <a:lnTo>
                  <a:pt x="0" y="252413"/>
                </a:lnTo>
                <a:lnTo>
                  <a:pt x="0" y="252413"/>
                </a:lnTo>
                <a:close/>
                <a:moveTo>
                  <a:pt x="252413" y="0"/>
                </a:moveTo>
                <a:lnTo>
                  <a:pt x="1066250" y="0"/>
                </a:lnTo>
                <a:lnTo>
                  <a:pt x="860382" y="504825"/>
                </a:lnTo>
                <a:lnTo>
                  <a:pt x="252413" y="504825"/>
                </a:lnTo>
                <a:cubicBezTo>
                  <a:pt x="147860" y="504825"/>
                  <a:pt x="58154" y="441257"/>
                  <a:pt x="19836" y="350663"/>
                </a:cubicBezTo>
                <a:lnTo>
                  <a:pt x="0" y="252413"/>
                </a:lnTo>
                <a:lnTo>
                  <a:pt x="19836" y="154162"/>
                </a:lnTo>
                <a:cubicBezTo>
                  <a:pt x="58154" y="63568"/>
                  <a:pt x="147860" y="0"/>
                  <a:pt x="252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Tmon몬소리 Black" panose="02000A03000000000000" pitchFamily="2" charset="-127"/>
                <a:cs typeface="+mn-cs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FB4EE29-C09E-7602-727E-237B08C776E1}"/>
              </a:ext>
            </a:extLst>
          </p:cNvPr>
          <p:cNvCxnSpPr/>
          <p:nvPr/>
        </p:nvCxnSpPr>
        <p:spPr>
          <a:xfrm>
            <a:off x="7092426" y="504825"/>
            <a:ext cx="5112000" cy="0"/>
          </a:xfrm>
          <a:prstGeom prst="line">
            <a:avLst/>
          </a:prstGeom>
          <a:ln w="3175">
            <a:solidFill>
              <a:srgbClr val="FC4C4C"/>
            </a:solidFill>
            <a:prstDash val="dash"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AEED067-33A6-400C-5B47-32DADBD98444}"/>
              </a:ext>
            </a:extLst>
          </p:cNvPr>
          <p:cNvSpPr/>
          <p:nvPr/>
        </p:nvSpPr>
        <p:spPr>
          <a:xfrm>
            <a:off x="2664010" y="943160"/>
            <a:ext cx="8325214" cy="2001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React Router</a:t>
            </a:r>
          </a:p>
          <a:p>
            <a:pPr>
              <a:lnSpc>
                <a:spcPct val="150000"/>
              </a:lnSpc>
            </a:pPr>
            <a:endParaRPr lang="en" altLang="ko-KR" sz="1000" dirty="0"/>
          </a:p>
          <a:p>
            <a:pPr>
              <a:lnSpc>
                <a:spcPct val="150000"/>
              </a:lnSpc>
            </a:pPr>
            <a:r>
              <a:rPr lang="en-US" altLang="ko-KR" sz="1000" dirty="0"/>
              <a:t>-</a:t>
            </a:r>
            <a:r>
              <a:rPr lang="ko-KR" altLang="en-US" sz="1000" dirty="0"/>
              <a:t> </a:t>
            </a:r>
            <a:r>
              <a:rPr lang="en" altLang="ko-KR" sz="1000" dirty="0"/>
              <a:t>React-Router</a:t>
            </a:r>
            <a:r>
              <a:rPr lang="ko-KR" altLang="en-US" sz="1000" dirty="0"/>
              <a:t>는 신규 페이지를 불러오지 않는 상황에서 각각의 </a:t>
            </a:r>
            <a:r>
              <a:rPr lang="en" altLang="ko-KR" sz="1000" dirty="0" err="1"/>
              <a:t>url</a:t>
            </a:r>
            <a:r>
              <a:rPr lang="ko-KR" altLang="en-US" sz="1000" dirty="0"/>
              <a:t>에 따라 선택된 데이터를 하나의 페이지에서 렌더링 해주는 라이브러리라고 볼 수 있다</a:t>
            </a:r>
            <a:r>
              <a:rPr lang="en-US" altLang="ko-KR" sz="10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effectLst/>
                <a:latin typeface="Noto Sans Demilight"/>
              </a:rPr>
              <a:t> </a:t>
            </a:r>
            <a:r>
              <a:rPr lang="en-US" altLang="ko-KR" sz="1000" dirty="0">
                <a:effectLst/>
                <a:latin typeface="Noto Sans Demilight"/>
              </a:rPr>
              <a:t>- </a:t>
            </a:r>
            <a:r>
              <a:rPr lang="ko-KR" altLang="en-US" sz="1000" dirty="0">
                <a:effectLst/>
                <a:latin typeface="Noto Sans Demilight"/>
              </a:rPr>
              <a:t>사용자가 입력한 주소를 감지하는 역할을 하며</a:t>
            </a:r>
            <a:r>
              <a:rPr lang="en-US" altLang="ko-KR" sz="1000" dirty="0">
                <a:effectLst/>
                <a:latin typeface="Noto Sans Demilight"/>
              </a:rPr>
              <a:t>, </a:t>
            </a:r>
            <a:r>
              <a:rPr lang="ko-KR" altLang="en-US" sz="1000" dirty="0">
                <a:effectLst/>
                <a:latin typeface="Noto Sans Demilight"/>
              </a:rPr>
              <a:t>여러 환경에서 동작할 수 있도록 여러 </a:t>
            </a:r>
            <a:r>
              <a:rPr lang="ko-KR" altLang="en-US" sz="1000" dirty="0" err="1">
                <a:effectLst/>
                <a:latin typeface="Noto Sans Demilight"/>
              </a:rPr>
              <a:t>종유의</a:t>
            </a:r>
            <a:r>
              <a:rPr lang="ko-KR" altLang="en-US" sz="1000" dirty="0">
                <a:effectLst/>
                <a:latin typeface="Noto Sans Demilight"/>
              </a:rPr>
              <a:t> 라우터 컴포넌트를 제공한다</a:t>
            </a:r>
            <a:r>
              <a:rPr lang="en-US" altLang="ko-KR" sz="1000" dirty="0">
                <a:effectLst/>
                <a:latin typeface="Noto Sans Demilight"/>
              </a:rPr>
              <a:t>. </a:t>
            </a:r>
            <a:br>
              <a:rPr lang="ko-KR" altLang="en-US" sz="1000" dirty="0"/>
            </a:br>
            <a:r>
              <a:rPr lang="ko-KR" altLang="en-US" sz="1000" dirty="0">
                <a:effectLst/>
                <a:latin typeface="Noto Sans Demilight"/>
              </a:rPr>
              <a:t> </a:t>
            </a:r>
            <a:r>
              <a:rPr lang="en-US" altLang="ko-KR" sz="1000" dirty="0">
                <a:effectLst/>
                <a:latin typeface="Noto Sans Demilight"/>
              </a:rPr>
              <a:t>- </a:t>
            </a:r>
            <a:r>
              <a:rPr lang="ko-KR" altLang="en-US" sz="1000" dirty="0">
                <a:effectLst/>
                <a:latin typeface="Noto Sans Demilight"/>
              </a:rPr>
              <a:t>이중 가장 많이 사용하는 라우터 컴포넌트는 </a:t>
            </a:r>
            <a:r>
              <a:rPr lang="en" altLang="ko-KR" sz="1000" dirty="0" err="1">
                <a:effectLst/>
                <a:latin typeface="Noto Sans Demilight"/>
              </a:rPr>
              <a:t>BrowserRouter</a:t>
            </a:r>
            <a:r>
              <a:rPr lang="ko-KR" altLang="en-US" sz="1000" dirty="0">
                <a:effectLst/>
                <a:latin typeface="Noto Sans Demilight"/>
              </a:rPr>
              <a:t>와 </a:t>
            </a:r>
            <a:r>
              <a:rPr lang="en" altLang="ko-KR" sz="1000" dirty="0" err="1">
                <a:effectLst/>
                <a:latin typeface="Noto Sans Demilight"/>
              </a:rPr>
              <a:t>HashRouter</a:t>
            </a:r>
            <a:r>
              <a:rPr lang="ko-KR" altLang="en-US" sz="1000" dirty="0">
                <a:effectLst/>
                <a:latin typeface="Noto Sans Demilight"/>
              </a:rPr>
              <a:t>이다</a:t>
            </a:r>
            <a:r>
              <a:rPr lang="en-US" altLang="ko-KR" sz="1000" dirty="0">
                <a:effectLst/>
                <a:latin typeface="Noto Sans Demilight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000" dirty="0">
              <a:effectLst/>
              <a:latin typeface="Noto Sans Demilight"/>
            </a:endParaRPr>
          </a:p>
          <a:p>
            <a:pPr>
              <a:lnSpc>
                <a:spcPct val="150000"/>
              </a:lnSpc>
            </a:pPr>
            <a:r>
              <a:rPr lang="en-US" altLang="ko-KR" sz="10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CSR VS SSR</a:t>
            </a:r>
            <a:endParaRPr lang="en" altLang="ko-KR" sz="1000" dirty="0"/>
          </a:p>
        </p:txBody>
      </p:sp>
      <p:pic>
        <p:nvPicPr>
          <p:cNvPr id="4" name="Picture 14" descr="React JS] 바닐라 JS - MVC">
            <a:extLst>
              <a:ext uri="{FF2B5EF4-FFF2-40B4-BE49-F238E27FC236}">
                <a16:creationId xmlns:a16="http://schemas.microsoft.com/office/drawing/2014/main" id="{78EA7FFD-0557-236B-E79A-1F0D3161A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45" y="1152734"/>
            <a:ext cx="2876045" cy="1889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23C66A0-4438-9E64-0516-4BBA01A43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3311" y="2944734"/>
            <a:ext cx="5364930" cy="129301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BAF1B63-F4D2-33A9-0029-069A430622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3311" y="4349235"/>
            <a:ext cx="5188932" cy="217533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F74A094-CECD-7C93-63A4-BBAB48E29E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7253" y="2554361"/>
            <a:ext cx="4264747" cy="3933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76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94ADAD-360E-F618-D523-20CEAFA6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97433B9-6C02-1C2B-45ED-A193987A6010}"/>
              </a:ext>
            </a:extLst>
          </p:cNvPr>
          <p:cNvSpPr/>
          <p:nvPr/>
        </p:nvSpPr>
        <p:spPr>
          <a:xfrm>
            <a:off x="6127775" y="269693"/>
            <a:ext cx="1066250" cy="5048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27B79836-C8E4-E3E7-472D-F6AD3E1BB1D1}"/>
              </a:ext>
            </a:extLst>
          </p:cNvPr>
          <p:cNvSpPr/>
          <p:nvPr/>
        </p:nvSpPr>
        <p:spPr>
          <a:xfrm>
            <a:off x="1105947" y="269693"/>
            <a:ext cx="5898940" cy="504826"/>
          </a:xfrm>
          <a:custGeom>
            <a:avLst/>
            <a:gdLst>
              <a:gd name="connsiteX0" fmla="*/ 205868 w 5898940"/>
              <a:gd name="connsiteY0" fmla="*/ 0 h 504826"/>
              <a:gd name="connsiteX1" fmla="*/ 5646527 w 5898940"/>
              <a:gd name="connsiteY1" fmla="*/ 0 h 504826"/>
              <a:gd name="connsiteX2" fmla="*/ 5898940 w 5898940"/>
              <a:gd name="connsiteY2" fmla="*/ 252413 h 504826"/>
              <a:gd name="connsiteX3" fmla="*/ 5898939 w 5898940"/>
              <a:gd name="connsiteY3" fmla="*/ 252413 h 504826"/>
              <a:gd name="connsiteX4" fmla="*/ 5646526 w 5898940"/>
              <a:gd name="connsiteY4" fmla="*/ 504826 h 504826"/>
              <a:gd name="connsiteX5" fmla="*/ 0 w 5898940"/>
              <a:gd name="connsiteY5" fmla="*/ 504825 h 50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8940" h="504826">
                <a:moveTo>
                  <a:pt x="205868" y="0"/>
                </a:moveTo>
                <a:lnTo>
                  <a:pt x="5646527" y="0"/>
                </a:lnTo>
                <a:cubicBezTo>
                  <a:pt x="5785931" y="0"/>
                  <a:pt x="5898940" y="113009"/>
                  <a:pt x="5898940" y="252413"/>
                </a:cubicBezTo>
                <a:lnTo>
                  <a:pt x="5898939" y="252413"/>
                </a:lnTo>
                <a:cubicBezTo>
                  <a:pt x="5898939" y="391817"/>
                  <a:pt x="5785930" y="504826"/>
                  <a:pt x="5646526" y="504826"/>
                </a:cubicBezTo>
                <a:lnTo>
                  <a:pt x="0" y="504825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REACT JS</a:t>
            </a:r>
            <a:r>
              <a:rPr kumimoji="0" lang="ko-KR" altLang="en-US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란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89417891-6592-305C-AEA7-3152DA4BFF00}"/>
              </a:ext>
            </a:extLst>
          </p:cNvPr>
          <p:cNvSpPr/>
          <p:nvPr/>
        </p:nvSpPr>
        <p:spPr>
          <a:xfrm>
            <a:off x="1106471" y="693043"/>
            <a:ext cx="129121" cy="80193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77693F93-20BD-0A20-1AB3-F40A924B6BE1}"/>
              </a:ext>
            </a:extLst>
          </p:cNvPr>
          <p:cNvSpPr/>
          <p:nvPr/>
        </p:nvSpPr>
        <p:spPr>
          <a:xfrm>
            <a:off x="371476" y="188218"/>
            <a:ext cx="1066250" cy="504825"/>
          </a:xfrm>
          <a:custGeom>
            <a:avLst/>
            <a:gdLst>
              <a:gd name="connsiteX0" fmla="*/ 0 w 1066250"/>
              <a:gd name="connsiteY0" fmla="*/ 252412 h 504825"/>
              <a:gd name="connsiteX1" fmla="*/ 0 w 1066250"/>
              <a:gd name="connsiteY1" fmla="*/ 252413 h 504825"/>
              <a:gd name="connsiteX2" fmla="*/ 0 w 1066250"/>
              <a:gd name="connsiteY2" fmla="*/ 252413 h 504825"/>
              <a:gd name="connsiteX3" fmla="*/ 252413 w 1066250"/>
              <a:gd name="connsiteY3" fmla="*/ 0 h 504825"/>
              <a:gd name="connsiteX4" fmla="*/ 1066250 w 1066250"/>
              <a:gd name="connsiteY4" fmla="*/ 0 h 504825"/>
              <a:gd name="connsiteX5" fmla="*/ 860382 w 1066250"/>
              <a:gd name="connsiteY5" fmla="*/ 504825 h 504825"/>
              <a:gd name="connsiteX6" fmla="*/ 252413 w 1066250"/>
              <a:gd name="connsiteY6" fmla="*/ 504825 h 504825"/>
              <a:gd name="connsiteX7" fmla="*/ 19836 w 1066250"/>
              <a:gd name="connsiteY7" fmla="*/ 350663 h 504825"/>
              <a:gd name="connsiteX8" fmla="*/ 0 w 1066250"/>
              <a:gd name="connsiteY8" fmla="*/ 252413 h 504825"/>
              <a:gd name="connsiteX9" fmla="*/ 19836 w 1066250"/>
              <a:gd name="connsiteY9" fmla="*/ 154162 h 504825"/>
              <a:gd name="connsiteX10" fmla="*/ 252413 w 1066250"/>
              <a:gd name="connsiteY10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250" h="504825">
                <a:moveTo>
                  <a:pt x="0" y="252412"/>
                </a:moveTo>
                <a:lnTo>
                  <a:pt x="0" y="252413"/>
                </a:lnTo>
                <a:lnTo>
                  <a:pt x="0" y="252413"/>
                </a:lnTo>
                <a:close/>
                <a:moveTo>
                  <a:pt x="252413" y="0"/>
                </a:moveTo>
                <a:lnTo>
                  <a:pt x="1066250" y="0"/>
                </a:lnTo>
                <a:lnTo>
                  <a:pt x="860382" y="504825"/>
                </a:lnTo>
                <a:lnTo>
                  <a:pt x="252413" y="504825"/>
                </a:lnTo>
                <a:cubicBezTo>
                  <a:pt x="147860" y="504825"/>
                  <a:pt x="58154" y="441257"/>
                  <a:pt x="19836" y="350663"/>
                </a:cubicBezTo>
                <a:lnTo>
                  <a:pt x="0" y="252413"/>
                </a:lnTo>
                <a:lnTo>
                  <a:pt x="19836" y="154162"/>
                </a:lnTo>
                <a:cubicBezTo>
                  <a:pt x="58154" y="63568"/>
                  <a:pt x="147860" y="0"/>
                  <a:pt x="252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Tmon몬소리 Black" panose="02000A03000000000000" pitchFamily="2" charset="-127"/>
                <a:cs typeface="+mn-cs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FB4EE29-C09E-7602-727E-237B08C776E1}"/>
              </a:ext>
            </a:extLst>
          </p:cNvPr>
          <p:cNvCxnSpPr/>
          <p:nvPr/>
        </p:nvCxnSpPr>
        <p:spPr>
          <a:xfrm>
            <a:off x="7092426" y="504825"/>
            <a:ext cx="5112000" cy="0"/>
          </a:xfrm>
          <a:prstGeom prst="line">
            <a:avLst/>
          </a:prstGeom>
          <a:ln w="3175">
            <a:solidFill>
              <a:srgbClr val="FC4C4C"/>
            </a:solidFill>
            <a:prstDash val="dash"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AEED067-33A6-400C-5B47-32DADBD98444}"/>
              </a:ext>
            </a:extLst>
          </p:cNvPr>
          <p:cNvSpPr/>
          <p:nvPr/>
        </p:nvSpPr>
        <p:spPr>
          <a:xfrm>
            <a:off x="3230541" y="1020977"/>
            <a:ext cx="8325214" cy="373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프로젝트 구조</a:t>
            </a:r>
            <a:endParaRPr lang="en-US" altLang="ko-KR" sz="1400" b="1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4" name="Picture 14" descr="React JS] 바닐라 JS - MVC">
            <a:extLst>
              <a:ext uri="{FF2B5EF4-FFF2-40B4-BE49-F238E27FC236}">
                <a16:creationId xmlns:a16="http://schemas.microsoft.com/office/drawing/2014/main" id="{78EA7FFD-0557-236B-E79A-1F0D3161A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45" y="1152734"/>
            <a:ext cx="2876045" cy="1889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85AA9FC-210A-DDE6-F5F5-33FFB43C8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8108" y="1152734"/>
            <a:ext cx="6675783" cy="5563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436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94ADAD-360E-F618-D523-20CEAFA6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97433B9-6C02-1C2B-45ED-A193987A6010}"/>
              </a:ext>
            </a:extLst>
          </p:cNvPr>
          <p:cNvSpPr/>
          <p:nvPr/>
        </p:nvSpPr>
        <p:spPr>
          <a:xfrm>
            <a:off x="6127775" y="269693"/>
            <a:ext cx="1066250" cy="5048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27B79836-C8E4-E3E7-472D-F6AD3E1BB1D1}"/>
              </a:ext>
            </a:extLst>
          </p:cNvPr>
          <p:cNvSpPr/>
          <p:nvPr/>
        </p:nvSpPr>
        <p:spPr>
          <a:xfrm>
            <a:off x="1105947" y="269693"/>
            <a:ext cx="5898940" cy="504826"/>
          </a:xfrm>
          <a:custGeom>
            <a:avLst/>
            <a:gdLst>
              <a:gd name="connsiteX0" fmla="*/ 205868 w 5898940"/>
              <a:gd name="connsiteY0" fmla="*/ 0 h 504826"/>
              <a:gd name="connsiteX1" fmla="*/ 5646527 w 5898940"/>
              <a:gd name="connsiteY1" fmla="*/ 0 h 504826"/>
              <a:gd name="connsiteX2" fmla="*/ 5898940 w 5898940"/>
              <a:gd name="connsiteY2" fmla="*/ 252413 h 504826"/>
              <a:gd name="connsiteX3" fmla="*/ 5898939 w 5898940"/>
              <a:gd name="connsiteY3" fmla="*/ 252413 h 504826"/>
              <a:gd name="connsiteX4" fmla="*/ 5646526 w 5898940"/>
              <a:gd name="connsiteY4" fmla="*/ 504826 h 504826"/>
              <a:gd name="connsiteX5" fmla="*/ 0 w 5898940"/>
              <a:gd name="connsiteY5" fmla="*/ 504825 h 50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8940" h="504826">
                <a:moveTo>
                  <a:pt x="205868" y="0"/>
                </a:moveTo>
                <a:lnTo>
                  <a:pt x="5646527" y="0"/>
                </a:lnTo>
                <a:cubicBezTo>
                  <a:pt x="5785931" y="0"/>
                  <a:pt x="5898940" y="113009"/>
                  <a:pt x="5898940" y="252413"/>
                </a:cubicBezTo>
                <a:lnTo>
                  <a:pt x="5898939" y="252413"/>
                </a:lnTo>
                <a:cubicBezTo>
                  <a:pt x="5898939" y="391817"/>
                  <a:pt x="5785930" y="504826"/>
                  <a:pt x="5646526" y="504826"/>
                </a:cubicBezTo>
                <a:lnTo>
                  <a:pt x="0" y="504825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REACT JS</a:t>
            </a:r>
            <a:r>
              <a:rPr kumimoji="0" lang="ko-KR" altLang="en-US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란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89417891-6592-305C-AEA7-3152DA4BFF00}"/>
              </a:ext>
            </a:extLst>
          </p:cNvPr>
          <p:cNvSpPr/>
          <p:nvPr/>
        </p:nvSpPr>
        <p:spPr>
          <a:xfrm>
            <a:off x="1106471" y="693043"/>
            <a:ext cx="129121" cy="80193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77693F93-20BD-0A20-1AB3-F40A924B6BE1}"/>
              </a:ext>
            </a:extLst>
          </p:cNvPr>
          <p:cNvSpPr/>
          <p:nvPr/>
        </p:nvSpPr>
        <p:spPr>
          <a:xfrm>
            <a:off x="371476" y="188218"/>
            <a:ext cx="1066250" cy="504825"/>
          </a:xfrm>
          <a:custGeom>
            <a:avLst/>
            <a:gdLst>
              <a:gd name="connsiteX0" fmla="*/ 0 w 1066250"/>
              <a:gd name="connsiteY0" fmla="*/ 252412 h 504825"/>
              <a:gd name="connsiteX1" fmla="*/ 0 w 1066250"/>
              <a:gd name="connsiteY1" fmla="*/ 252413 h 504825"/>
              <a:gd name="connsiteX2" fmla="*/ 0 w 1066250"/>
              <a:gd name="connsiteY2" fmla="*/ 252413 h 504825"/>
              <a:gd name="connsiteX3" fmla="*/ 252413 w 1066250"/>
              <a:gd name="connsiteY3" fmla="*/ 0 h 504825"/>
              <a:gd name="connsiteX4" fmla="*/ 1066250 w 1066250"/>
              <a:gd name="connsiteY4" fmla="*/ 0 h 504825"/>
              <a:gd name="connsiteX5" fmla="*/ 860382 w 1066250"/>
              <a:gd name="connsiteY5" fmla="*/ 504825 h 504825"/>
              <a:gd name="connsiteX6" fmla="*/ 252413 w 1066250"/>
              <a:gd name="connsiteY6" fmla="*/ 504825 h 504825"/>
              <a:gd name="connsiteX7" fmla="*/ 19836 w 1066250"/>
              <a:gd name="connsiteY7" fmla="*/ 350663 h 504825"/>
              <a:gd name="connsiteX8" fmla="*/ 0 w 1066250"/>
              <a:gd name="connsiteY8" fmla="*/ 252413 h 504825"/>
              <a:gd name="connsiteX9" fmla="*/ 19836 w 1066250"/>
              <a:gd name="connsiteY9" fmla="*/ 154162 h 504825"/>
              <a:gd name="connsiteX10" fmla="*/ 252413 w 1066250"/>
              <a:gd name="connsiteY10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250" h="504825">
                <a:moveTo>
                  <a:pt x="0" y="252412"/>
                </a:moveTo>
                <a:lnTo>
                  <a:pt x="0" y="252413"/>
                </a:lnTo>
                <a:lnTo>
                  <a:pt x="0" y="252413"/>
                </a:lnTo>
                <a:close/>
                <a:moveTo>
                  <a:pt x="252413" y="0"/>
                </a:moveTo>
                <a:lnTo>
                  <a:pt x="1066250" y="0"/>
                </a:lnTo>
                <a:lnTo>
                  <a:pt x="860382" y="504825"/>
                </a:lnTo>
                <a:lnTo>
                  <a:pt x="252413" y="504825"/>
                </a:lnTo>
                <a:cubicBezTo>
                  <a:pt x="147860" y="504825"/>
                  <a:pt x="58154" y="441257"/>
                  <a:pt x="19836" y="350663"/>
                </a:cubicBezTo>
                <a:lnTo>
                  <a:pt x="0" y="252413"/>
                </a:lnTo>
                <a:lnTo>
                  <a:pt x="19836" y="154162"/>
                </a:lnTo>
                <a:cubicBezTo>
                  <a:pt x="58154" y="63568"/>
                  <a:pt x="147860" y="0"/>
                  <a:pt x="252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Tmon몬소리 Black" panose="02000A03000000000000" pitchFamily="2" charset="-127"/>
                <a:cs typeface="+mn-cs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FB4EE29-C09E-7602-727E-237B08C776E1}"/>
              </a:ext>
            </a:extLst>
          </p:cNvPr>
          <p:cNvCxnSpPr/>
          <p:nvPr/>
        </p:nvCxnSpPr>
        <p:spPr>
          <a:xfrm>
            <a:off x="7092426" y="504825"/>
            <a:ext cx="5112000" cy="0"/>
          </a:xfrm>
          <a:prstGeom prst="line">
            <a:avLst/>
          </a:prstGeom>
          <a:ln w="3175">
            <a:solidFill>
              <a:srgbClr val="FC4C4C"/>
            </a:solidFill>
            <a:prstDash val="dash"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AEED067-33A6-400C-5B47-32DADBD98444}"/>
              </a:ext>
            </a:extLst>
          </p:cNvPr>
          <p:cNvSpPr/>
          <p:nvPr/>
        </p:nvSpPr>
        <p:spPr>
          <a:xfrm>
            <a:off x="3230541" y="1020977"/>
            <a:ext cx="8325214" cy="12569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HOOK</a:t>
            </a:r>
          </a:p>
          <a:p>
            <a:pPr>
              <a:lnSpc>
                <a:spcPct val="150000"/>
              </a:lnSpc>
            </a:pPr>
            <a:endParaRPr lang="en-US" altLang="ko-KR" sz="1400" b="1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useState</a:t>
            </a:r>
            <a:endParaRPr lang="en-US" altLang="ko-KR" sz="1200" b="1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컴포넌트의 상태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(state)</a:t>
            </a:r>
            <a:r>
              <a:rPr lang="ko-KR" altLang="en-US" sz="12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를</a:t>
            </a: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관리하는 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Hook</a:t>
            </a:r>
          </a:p>
        </p:txBody>
      </p:sp>
      <p:pic>
        <p:nvPicPr>
          <p:cNvPr id="4" name="Picture 14" descr="React JS] 바닐라 JS - MVC">
            <a:extLst>
              <a:ext uri="{FF2B5EF4-FFF2-40B4-BE49-F238E27FC236}">
                <a16:creationId xmlns:a16="http://schemas.microsoft.com/office/drawing/2014/main" id="{78EA7FFD-0557-236B-E79A-1F0D3161A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45" y="1152734"/>
            <a:ext cx="2876045" cy="1889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B3A9016-50DE-4CBE-9FE2-0BD04BD2AF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5641" y="1939221"/>
            <a:ext cx="5711687" cy="4252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200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94ADAD-360E-F618-D523-20CEAFA6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97433B9-6C02-1C2B-45ED-A193987A6010}"/>
              </a:ext>
            </a:extLst>
          </p:cNvPr>
          <p:cNvSpPr/>
          <p:nvPr/>
        </p:nvSpPr>
        <p:spPr>
          <a:xfrm>
            <a:off x="6127775" y="269693"/>
            <a:ext cx="1066250" cy="5048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27B79836-C8E4-E3E7-472D-F6AD3E1BB1D1}"/>
              </a:ext>
            </a:extLst>
          </p:cNvPr>
          <p:cNvSpPr/>
          <p:nvPr/>
        </p:nvSpPr>
        <p:spPr>
          <a:xfrm>
            <a:off x="1105947" y="269693"/>
            <a:ext cx="5898940" cy="504826"/>
          </a:xfrm>
          <a:custGeom>
            <a:avLst/>
            <a:gdLst>
              <a:gd name="connsiteX0" fmla="*/ 205868 w 5898940"/>
              <a:gd name="connsiteY0" fmla="*/ 0 h 504826"/>
              <a:gd name="connsiteX1" fmla="*/ 5646527 w 5898940"/>
              <a:gd name="connsiteY1" fmla="*/ 0 h 504826"/>
              <a:gd name="connsiteX2" fmla="*/ 5898940 w 5898940"/>
              <a:gd name="connsiteY2" fmla="*/ 252413 h 504826"/>
              <a:gd name="connsiteX3" fmla="*/ 5898939 w 5898940"/>
              <a:gd name="connsiteY3" fmla="*/ 252413 h 504826"/>
              <a:gd name="connsiteX4" fmla="*/ 5646526 w 5898940"/>
              <a:gd name="connsiteY4" fmla="*/ 504826 h 504826"/>
              <a:gd name="connsiteX5" fmla="*/ 0 w 5898940"/>
              <a:gd name="connsiteY5" fmla="*/ 504825 h 50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8940" h="504826">
                <a:moveTo>
                  <a:pt x="205868" y="0"/>
                </a:moveTo>
                <a:lnTo>
                  <a:pt x="5646527" y="0"/>
                </a:lnTo>
                <a:cubicBezTo>
                  <a:pt x="5785931" y="0"/>
                  <a:pt x="5898940" y="113009"/>
                  <a:pt x="5898940" y="252413"/>
                </a:cubicBezTo>
                <a:lnTo>
                  <a:pt x="5898939" y="252413"/>
                </a:lnTo>
                <a:cubicBezTo>
                  <a:pt x="5898939" y="391817"/>
                  <a:pt x="5785930" y="504826"/>
                  <a:pt x="5646526" y="504826"/>
                </a:cubicBezTo>
                <a:lnTo>
                  <a:pt x="0" y="504825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REACT JS</a:t>
            </a:r>
            <a:r>
              <a:rPr kumimoji="0" lang="ko-KR" altLang="en-US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란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89417891-6592-305C-AEA7-3152DA4BFF00}"/>
              </a:ext>
            </a:extLst>
          </p:cNvPr>
          <p:cNvSpPr/>
          <p:nvPr/>
        </p:nvSpPr>
        <p:spPr>
          <a:xfrm>
            <a:off x="1106471" y="693043"/>
            <a:ext cx="129121" cy="80193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77693F93-20BD-0A20-1AB3-F40A924B6BE1}"/>
              </a:ext>
            </a:extLst>
          </p:cNvPr>
          <p:cNvSpPr/>
          <p:nvPr/>
        </p:nvSpPr>
        <p:spPr>
          <a:xfrm>
            <a:off x="371476" y="188218"/>
            <a:ext cx="1066250" cy="504825"/>
          </a:xfrm>
          <a:custGeom>
            <a:avLst/>
            <a:gdLst>
              <a:gd name="connsiteX0" fmla="*/ 0 w 1066250"/>
              <a:gd name="connsiteY0" fmla="*/ 252412 h 504825"/>
              <a:gd name="connsiteX1" fmla="*/ 0 w 1066250"/>
              <a:gd name="connsiteY1" fmla="*/ 252413 h 504825"/>
              <a:gd name="connsiteX2" fmla="*/ 0 w 1066250"/>
              <a:gd name="connsiteY2" fmla="*/ 252413 h 504825"/>
              <a:gd name="connsiteX3" fmla="*/ 252413 w 1066250"/>
              <a:gd name="connsiteY3" fmla="*/ 0 h 504825"/>
              <a:gd name="connsiteX4" fmla="*/ 1066250 w 1066250"/>
              <a:gd name="connsiteY4" fmla="*/ 0 h 504825"/>
              <a:gd name="connsiteX5" fmla="*/ 860382 w 1066250"/>
              <a:gd name="connsiteY5" fmla="*/ 504825 h 504825"/>
              <a:gd name="connsiteX6" fmla="*/ 252413 w 1066250"/>
              <a:gd name="connsiteY6" fmla="*/ 504825 h 504825"/>
              <a:gd name="connsiteX7" fmla="*/ 19836 w 1066250"/>
              <a:gd name="connsiteY7" fmla="*/ 350663 h 504825"/>
              <a:gd name="connsiteX8" fmla="*/ 0 w 1066250"/>
              <a:gd name="connsiteY8" fmla="*/ 252413 h 504825"/>
              <a:gd name="connsiteX9" fmla="*/ 19836 w 1066250"/>
              <a:gd name="connsiteY9" fmla="*/ 154162 h 504825"/>
              <a:gd name="connsiteX10" fmla="*/ 252413 w 1066250"/>
              <a:gd name="connsiteY10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250" h="504825">
                <a:moveTo>
                  <a:pt x="0" y="252412"/>
                </a:moveTo>
                <a:lnTo>
                  <a:pt x="0" y="252413"/>
                </a:lnTo>
                <a:lnTo>
                  <a:pt x="0" y="252413"/>
                </a:lnTo>
                <a:close/>
                <a:moveTo>
                  <a:pt x="252413" y="0"/>
                </a:moveTo>
                <a:lnTo>
                  <a:pt x="1066250" y="0"/>
                </a:lnTo>
                <a:lnTo>
                  <a:pt x="860382" y="504825"/>
                </a:lnTo>
                <a:lnTo>
                  <a:pt x="252413" y="504825"/>
                </a:lnTo>
                <a:cubicBezTo>
                  <a:pt x="147860" y="504825"/>
                  <a:pt x="58154" y="441257"/>
                  <a:pt x="19836" y="350663"/>
                </a:cubicBezTo>
                <a:lnTo>
                  <a:pt x="0" y="252413"/>
                </a:lnTo>
                <a:lnTo>
                  <a:pt x="19836" y="154162"/>
                </a:lnTo>
                <a:cubicBezTo>
                  <a:pt x="58154" y="63568"/>
                  <a:pt x="147860" y="0"/>
                  <a:pt x="252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Tmon몬소리 Black" panose="02000A03000000000000" pitchFamily="2" charset="-127"/>
                <a:cs typeface="+mn-cs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FB4EE29-C09E-7602-727E-237B08C776E1}"/>
              </a:ext>
            </a:extLst>
          </p:cNvPr>
          <p:cNvCxnSpPr/>
          <p:nvPr/>
        </p:nvCxnSpPr>
        <p:spPr>
          <a:xfrm>
            <a:off x="7092426" y="504825"/>
            <a:ext cx="5112000" cy="0"/>
          </a:xfrm>
          <a:prstGeom prst="line">
            <a:avLst/>
          </a:prstGeom>
          <a:ln w="3175">
            <a:solidFill>
              <a:srgbClr val="FC4C4C"/>
            </a:solidFill>
            <a:prstDash val="dash"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AEED067-33A6-400C-5B47-32DADBD98444}"/>
              </a:ext>
            </a:extLst>
          </p:cNvPr>
          <p:cNvSpPr/>
          <p:nvPr/>
        </p:nvSpPr>
        <p:spPr>
          <a:xfrm>
            <a:off x="3230541" y="1020977"/>
            <a:ext cx="8325214" cy="12569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HOOK</a:t>
            </a:r>
          </a:p>
          <a:p>
            <a:pPr>
              <a:lnSpc>
                <a:spcPct val="150000"/>
              </a:lnSpc>
            </a:pPr>
            <a:endParaRPr lang="en-US" altLang="ko-KR" sz="1400" b="1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useEffect</a:t>
            </a:r>
            <a:endParaRPr lang="en-US" altLang="ko-KR" sz="1200" b="1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/>
              <a:t>컴포넌트가 </a:t>
            </a:r>
            <a:r>
              <a:rPr lang="ko-KR" altLang="en-US" sz="1200" dirty="0" err="1"/>
              <a:t>렌더링될</a:t>
            </a:r>
            <a:r>
              <a:rPr lang="ko-KR" altLang="en-US" sz="1200" dirty="0"/>
              <a:t> 때 실행해야 하는 코드</a:t>
            </a:r>
            <a:r>
              <a:rPr lang="en-US" altLang="ko-KR" sz="1200" dirty="0"/>
              <a:t>(</a:t>
            </a:r>
            <a:r>
              <a:rPr lang="ko-KR" altLang="en-US" sz="1200" dirty="0"/>
              <a:t>예</a:t>
            </a:r>
            <a:r>
              <a:rPr lang="en-US" altLang="ko-KR" sz="1200" dirty="0"/>
              <a:t>: </a:t>
            </a:r>
            <a:r>
              <a:rPr lang="en" altLang="ko-KR" sz="1200" dirty="0"/>
              <a:t>API </a:t>
            </a:r>
            <a:r>
              <a:rPr lang="ko-KR" altLang="en-US" sz="1200" dirty="0"/>
              <a:t>호출</a:t>
            </a:r>
            <a:r>
              <a:rPr lang="en-US" altLang="ko-KR" sz="1200" dirty="0"/>
              <a:t>, </a:t>
            </a:r>
            <a:r>
              <a:rPr lang="ko-KR" altLang="en-US" sz="1200" dirty="0"/>
              <a:t>이벤트 </a:t>
            </a:r>
            <a:r>
              <a:rPr lang="ko-KR" altLang="en-US" sz="1200" dirty="0" err="1"/>
              <a:t>리스너</a:t>
            </a:r>
            <a:r>
              <a:rPr lang="en-US" altLang="ko-KR" sz="1200" dirty="0"/>
              <a:t>, </a:t>
            </a:r>
            <a:r>
              <a:rPr lang="ko-KR" altLang="en-US" sz="1200" dirty="0"/>
              <a:t>구독</a:t>
            </a:r>
            <a:r>
              <a:rPr lang="en-US" altLang="ko-KR" sz="1200" dirty="0"/>
              <a:t>)</a:t>
            </a:r>
            <a:r>
              <a:rPr lang="ko-KR" altLang="en-US" sz="1200" dirty="0" err="1"/>
              <a:t>를</a:t>
            </a:r>
            <a:r>
              <a:rPr lang="ko-KR" altLang="en-US" sz="1200" dirty="0"/>
              <a:t> 처리하는 </a:t>
            </a:r>
            <a:r>
              <a:rPr lang="en" altLang="ko-KR" sz="1200" dirty="0"/>
              <a:t>Hook</a:t>
            </a:r>
            <a:endParaRPr lang="en-US" altLang="ko-KR" sz="12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4" name="Picture 14" descr="React JS] 바닐라 JS - MVC">
            <a:extLst>
              <a:ext uri="{FF2B5EF4-FFF2-40B4-BE49-F238E27FC236}">
                <a16:creationId xmlns:a16="http://schemas.microsoft.com/office/drawing/2014/main" id="{78EA7FFD-0557-236B-E79A-1F0D3161A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45" y="1152734"/>
            <a:ext cx="2876045" cy="1889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C9B12F1-F736-FF46-5D96-3DFD9E138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480" y="1924970"/>
            <a:ext cx="4588564" cy="300805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16C3079-6F3A-5A94-4EFC-30E38B8293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7765" y="4702005"/>
            <a:ext cx="5846114" cy="113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855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94ADAD-360E-F618-D523-20CEAFA6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97433B9-6C02-1C2B-45ED-A193987A6010}"/>
              </a:ext>
            </a:extLst>
          </p:cNvPr>
          <p:cNvSpPr/>
          <p:nvPr/>
        </p:nvSpPr>
        <p:spPr>
          <a:xfrm>
            <a:off x="6127775" y="269693"/>
            <a:ext cx="1066250" cy="5048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27B79836-C8E4-E3E7-472D-F6AD3E1BB1D1}"/>
              </a:ext>
            </a:extLst>
          </p:cNvPr>
          <p:cNvSpPr/>
          <p:nvPr/>
        </p:nvSpPr>
        <p:spPr>
          <a:xfrm>
            <a:off x="1105947" y="269693"/>
            <a:ext cx="5898940" cy="504826"/>
          </a:xfrm>
          <a:custGeom>
            <a:avLst/>
            <a:gdLst>
              <a:gd name="connsiteX0" fmla="*/ 205868 w 5898940"/>
              <a:gd name="connsiteY0" fmla="*/ 0 h 504826"/>
              <a:gd name="connsiteX1" fmla="*/ 5646527 w 5898940"/>
              <a:gd name="connsiteY1" fmla="*/ 0 h 504826"/>
              <a:gd name="connsiteX2" fmla="*/ 5898940 w 5898940"/>
              <a:gd name="connsiteY2" fmla="*/ 252413 h 504826"/>
              <a:gd name="connsiteX3" fmla="*/ 5898939 w 5898940"/>
              <a:gd name="connsiteY3" fmla="*/ 252413 h 504826"/>
              <a:gd name="connsiteX4" fmla="*/ 5646526 w 5898940"/>
              <a:gd name="connsiteY4" fmla="*/ 504826 h 504826"/>
              <a:gd name="connsiteX5" fmla="*/ 0 w 5898940"/>
              <a:gd name="connsiteY5" fmla="*/ 504825 h 50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8940" h="504826">
                <a:moveTo>
                  <a:pt x="205868" y="0"/>
                </a:moveTo>
                <a:lnTo>
                  <a:pt x="5646527" y="0"/>
                </a:lnTo>
                <a:cubicBezTo>
                  <a:pt x="5785931" y="0"/>
                  <a:pt x="5898940" y="113009"/>
                  <a:pt x="5898940" y="252413"/>
                </a:cubicBezTo>
                <a:lnTo>
                  <a:pt x="5898939" y="252413"/>
                </a:lnTo>
                <a:cubicBezTo>
                  <a:pt x="5898939" y="391817"/>
                  <a:pt x="5785930" y="504826"/>
                  <a:pt x="5646526" y="504826"/>
                </a:cubicBezTo>
                <a:lnTo>
                  <a:pt x="0" y="504825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REACT JS</a:t>
            </a:r>
            <a:r>
              <a:rPr kumimoji="0" lang="ko-KR" altLang="en-US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란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89417891-6592-305C-AEA7-3152DA4BFF00}"/>
              </a:ext>
            </a:extLst>
          </p:cNvPr>
          <p:cNvSpPr/>
          <p:nvPr/>
        </p:nvSpPr>
        <p:spPr>
          <a:xfrm>
            <a:off x="1106471" y="693043"/>
            <a:ext cx="129121" cy="80193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77693F93-20BD-0A20-1AB3-F40A924B6BE1}"/>
              </a:ext>
            </a:extLst>
          </p:cNvPr>
          <p:cNvSpPr/>
          <p:nvPr/>
        </p:nvSpPr>
        <p:spPr>
          <a:xfrm>
            <a:off x="371476" y="188218"/>
            <a:ext cx="1066250" cy="504825"/>
          </a:xfrm>
          <a:custGeom>
            <a:avLst/>
            <a:gdLst>
              <a:gd name="connsiteX0" fmla="*/ 0 w 1066250"/>
              <a:gd name="connsiteY0" fmla="*/ 252412 h 504825"/>
              <a:gd name="connsiteX1" fmla="*/ 0 w 1066250"/>
              <a:gd name="connsiteY1" fmla="*/ 252413 h 504825"/>
              <a:gd name="connsiteX2" fmla="*/ 0 w 1066250"/>
              <a:gd name="connsiteY2" fmla="*/ 252413 h 504825"/>
              <a:gd name="connsiteX3" fmla="*/ 252413 w 1066250"/>
              <a:gd name="connsiteY3" fmla="*/ 0 h 504825"/>
              <a:gd name="connsiteX4" fmla="*/ 1066250 w 1066250"/>
              <a:gd name="connsiteY4" fmla="*/ 0 h 504825"/>
              <a:gd name="connsiteX5" fmla="*/ 860382 w 1066250"/>
              <a:gd name="connsiteY5" fmla="*/ 504825 h 504825"/>
              <a:gd name="connsiteX6" fmla="*/ 252413 w 1066250"/>
              <a:gd name="connsiteY6" fmla="*/ 504825 h 504825"/>
              <a:gd name="connsiteX7" fmla="*/ 19836 w 1066250"/>
              <a:gd name="connsiteY7" fmla="*/ 350663 h 504825"/>
              <a:gd name="connsiteX8" fmla="*/ 0 w 1066250"/>
              <a:gd name="connsiteY8" fmla="*/ 252413 h 504825"/>
              <a:gd name="connsiteX9" fmla="*/ 19836 w 1066250"/>
              <a:gd name="connsiteY9" fmla="*/ 154162 h 504825"/>
              <a:gd name="connsiteX10" fmla="*/ 252413 w 1066250"/>
              <a:gd name="connsiteY10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250" h="504825">
                <a:moveTo>
                  <a:pt x="0" y="252412"/>
                </a:moveTo>
                <a:lnTo>
                  <a:pt x="0" y="252413"/>
                </a:lnTo>
                <a:lnTo>
                  <a:pt x="0" y="252413"/>
                </a:lnTo>
                <a:close/>
                <a:moveTo>
                  <a:pt x="252413" y="0"/>
                </a:moveTo>
                <a:lnTo>
                  <a:pt x="1066250" y="0"/>
                </a:lnTo>
                <a:lnTo>
                  <a:pt x="860382" y="504825"/>
                </a:lnTo>
                <a:lnTo>
                  <a:pt x="252413" y="504825"/>
                </a:lnTo>
                <a:cubicBezTo>
                  <a:pt x="147860" y="504825"/>
                  <a:pt x="58154" y="441257"/>
                  <a:pt x="19836" y="350663"/>
                </a:cubicBezTo>
                <a:lnTo>
                  <a:pt x="0" y="252413"/>
                </a:lnTo>
                <a:lnTo>
                  <a:pt x="19836" y="154162"/>
                </a:lnTo>
                <a:cubicBezTo>
                  <a:pt x="58154" y="63568"/>
                  <a:pt x="147860" y="0"/>
                  <a:pt x="252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Tmon몬소리 Black" panose="02000A03000000000000" pitchFamily="2" charset="-127"/>
                <a:cs typeface="+mn-cs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FB4EE29-C09E-7602-727E-237B08C776E1}"/>
              </a:ext>
            </a:extLst>
          </p:cNvPr>
          <p:cNvCxnSpPr/>
          <p:nvPr/>
        </p:nvCxnSpPr>
        <p:spPr>
          <a:xfrm>
            <a:off x="7092426" y="504825"/>
            <a:ext cx="5112000" cy="0"/>
          </a:xfrm>
          <a:prstGeom prst="line">
            <a:avLst/>
          </a:prstGeom>
          <a:ln w="3175">
            <a:solidFill>
              <a:srgbClr val="FC4C4C"/>
            </a:solidFill>
            <a:prstDash val="dash"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AEED067-33A6-400C-5B47-32DADBD98444}"/>
              </a:ext>
            </a:extLst>
          </p:cNvPr>
          <p:cNvSpPr/>
          <p:nvPr/>
        </p:nvSpPr>
        <p:spPr>
          <a:xfrm>
            <a:off x="3230541" y="1020977"/>
            <a:ext cx="8325214" cy="12569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HOOK</a:t>
            </a:r>
          </a:p>
          <a:p>
            <a:pPr>
              <a:lnSpc>
                <a:spcPct val="150000"/>
              </a:lnSpc>
            </a:pPr>
            <a:endParaRPr lang="en-US" altLang="ko-KR" sz="1400" b="1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useRef</a:t>
            </a:r>
            <a:endParaRPr lang="en-US" altLang="ko-KR" sz="1200" b="1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/>
              <a:t>컴포넌트의 상태를 변경하지 않고 값 유지 또는 </a:t>
            </a:r>
            <a:r>
              <a:rPr lang="en" altLang="ko-KR" sz="1200" dirty="0"/>
              <a:t>DOM </a:t>
            </a:r>
            <a:r>
              <a:rPr lang="ko-KR" altLang="en-US" sz="1200" dirty="0"/>
              <a:t>요소 직접 접근을 위해 사용하는 </a:t>
            </a:r>
            <a:r>
              <a:rPr lang="en-US" altLang="ko-KR" sz="1200" dirty="0"/>
              <a:t>Hook</a:t>
            </a:r>
            <a:endParaRPr lang="en-US" altLang="ko-KR" sz="12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4" name="Picture 14" descr="React JS] 바닐라 JS - MVC">
            <a:extLst>
              <a:ext uri="{FF2B5EF4-FFF2-40B4-BE49-F238E27FC236}">
                <a16:creationId xmlns:a16="http://schemas.microsoft.com/office/drawing/2014/main" id="{78EA7FFD-0557-236B-E79A-1F0D3161A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45" y="1152734"/>
            <a:ext cx="2876045" cy="1889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632B02F-099A-E7BC-B4FB-DBDF51D01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5904" y="1880343"/>
            <a:ext cx="5035611" cy="434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493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94ADAD-360E-F618-D523-20CEAFA6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97433B9-6C02-1C2B-45ED-A193987A6010}"/>
              </a:ext>
            </a:extLst>
          </p:cNvPr>
          <p:cNvSpPr/>
          <p:nvPr/>
        </p:nvSpPr>
        <p:spPr>
          <a:xfrm>
            <a:off x="6127775" y="269693"/>
            <a:ext cx="1066250" cy="5048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27B79836-C8E4-E3E7-472D-F6AD3E1BB1D1}"/>
              </a:ext>
            </a:extLst>
          </p:cNvPr>
          <p:cNvSpPr/>
          <p:nvPr/>
        </p:nvSpPr>
        <p:spPr>
          <a:xfrm>
            <a:off x="1105947" y="269693"/>
            <a:ext cx="5898940" cy="504826"/>
          </a:xfrm>
          <a:custGeom>
            <a:avLst/>
            <a:gdLst>
              <a:gd name="connsiteX0" fmla="*/ 205868 w 5898940"/>
              <a:gd name="connsiteY0" fmla="*/ 0 h 504826"/>
              <a:gd name="connsiteX1" fmla="*/ 5646527 w 5898940"/>
              <a:gd name="connsiteY1" fmla="*/ 0 h 504826"/>
              <a:gd name="connsiteX2" fmla="*/ 5898940 w 5898940"/>
              <a:gd name="connsiteY2" fmla="*/ 252413 h 504826"/>
              <a:gd name="connsiteX3" fmla="*/ 5898939 w 5898940"/>
              <a:gd name="connsiteY3" fmla="*/ 252413 h 504826"/>
              <a:gd name="connsiteX4" fmla="*/ 5646526 w 5898940"/>
              <a:gd name="connsiteY4" fmla="*/ 504826 h 504826"/>
              <a:gd name="connsiteX5" fmla="*/ 0 w 5898940"/>
              <a:gd name="connsiteY5" fmla="*/ 504825 h 50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8940" h="504826">
                <a:moveTo>
                  <a:pt x="205868" y="0"/>
                </a:moveTo>
                <a:lnTo>
                  <a:pt x="5646527" y="0"/>
                </a:lnTo>
                <a:cubicBezTo>
                  <a:pt x="5785931" y="0"/>
                  <a:pt x="5898940" y="113009"/>
                  <a:pt x="5898940" y="252413"/>
                </a:cubicBezTo>
                <a:lnTo>
                  <a:pt x="5898939" y="252413"/>
                </a:lnTo>
                <a:cubicBezTo>
                  <a:pt x="5898939" y="391817"/>
                  <a:pt x="5785930" y="504826"/>
                  <a:pt x="5646526" y="504826"/>
                </a:cubicBezTo>
                <a:lnTo>
                  <a:pt x="0" y="504825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REACT JS</a:t>
            </a:r>
            <a:r>
              <a:rPr kumimoji="0" lang="ko-KR" altLang="en-US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란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89417891-6592-305C-AEA7-3152DA4BFF00}"/>
              </a:ext>
            </a:extLst>
          </p:cNvPr>
          <p:cNvSpPr/>
          <p:nvPr/>
        </p:nvSpPr>
        <p:spPr>
          <a:xfrm>
            <a:off x="1106471" y="693043"/>
            <a:ext cx="129121" cy="80193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77693F93-20BD-0A20-1AB3-F40A924B6BE1}"/>
              </a:ext>
            </a:extLst>
          </p:cNvPr>
          <p:cNvSpPr/>
          <p:nvPr/>
        </p:nvSpPr>
        <p:spPr>
          <a:xfrm>
            <a:off x="371476" y="188218"/>
            <a:ext cx="1066250" cy="504825"/>
          </a:xfrm>
          <a:custGeom>
            <a:avLst/>
            <a:gdLst>
              <a:gd name="connsiteX0" fmla="*/ 0 w 1066250"/>
              <a:gd name="connsiteY0" fmla="*/ 252412 h 504825"/>
              <a:gd name="connsiteX1" fmla="*/ 0 w 1066250"/>
              <a:gd name="connsiteY1" fmla="*/ 252413 h 504825"/>
              <a:gd name="connsiteX2" fmla="*/ 0 w 1066250"/>
              <a:gd name="connsiteY2" fmla="*/ 252413 h 504825"/>
              <a:gd name="connsiteX3" fmla="*/ 252413 w 1066250"/>
              <a:gd name="connsiteY3" fmla="*/ 0 h 504825"/>
              <a:gd name="connsiteX4" fmla="*/ 1066250 w 1066250"/>
              <a:gd name="connsiteY4" fmla="*/ 0 h 504825"/>
              <a:gd name="connsiteX5" fmla="*/ 860382 w 1066250"/>
              <a:gd name="connsiteY5" fmla="*/ 504825 h 504825"/>
              <a:gd name="connsiteX6" fmla="*/ 252413 w 1066250"/>
              <a:gd name="connsiteY6" fmla="*/ 504825 h 504825"/>
              <a:gd name="connsiteX7" fmla="*/ 19836 w 1066250"/>
              <a:gd name="connsiteY7" fmla="*/ 350663 h 504825"/>
              <a:gd name="connsiteX8" fmla="*/ 0 w 1066250"/>
              <a:gd name="connsiteY8" fmla="*/ 252413 h 504825"/>
              <a:gd name="connsiteX9" fmla="*/ 19836 w 1066250"/>
              <a:gd name="connsiteY9" fmla="*/ 154162 h 504825"/>
              <a:gd name="connsiteX10" fmla="*/ 252413 w 1066250"/>
              <a:gd name="connsiteY10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250" h="504825">
                <a:moveTo>
                  <a:pt x="0" y="252412"/>
                </a:moveTo>
                <a:lnTo>
                  <a:pt x="0" y="252413"/>
                </a:lnTo>
                <a:lnTo>
                  <a:pt x="0" y="252413"/>
                </a:lnTo>
                <a:close/>
                <a:moveTo>
                  <a:pt x="252413" y="0"/>
                </a:moveTo>
                <a:lnTo>
                  <a:pt x="1066250" y="0"/>
                </a:lnTo>
                <a:lnTo>
                  <a:pt x="860382" y="504825"/>
                </a:lnTo>
                <a:lnTo>
                  <a:pt x="252413" y="504825"/>
                </a:lnTo>
                <a:cubicBezTo>
                  <a:pt x="147860" y="504825"/>
                  <a:pt x="58154" y="441257"/>
                  <a:pt x="19836" y="350663"/>
                </a:cubicBezTo>
                <a:lnTo>
                  <a:pt x="0" y="252413"/>
                </a:lnTo>
                <a:lnTo>
                  <a:pt x="19836" y="154162"/>
                </a:lnTo>
                <a:cubicBezTo>
                  <a:pt x="58154" y="63568"/>
                  <a:pt x="147860" y="0"/>
                  <a:pt x="252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Tmon몬소리 Black" panose="02000A03000000000000" pitchFamily="2" charset="-127"/>
                <a:cs typeface="+mn-cs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FB4EE29-C09E-7602-727E-237B08C776E1}"/>
              </a:ext>
            </a:extLst>
          </p:cNvPr>
          <p:cNvCxnSpPr/>
          <p:nvPr/>
        </p:nvCxnSpPr>
        <p:spPr>
          <a:xfrm>
            <a:off x="7092426" y="504825"/>
            <a:ext cx="5112000" cy="0"/>
          </a:xfrm>
          <a:prstGeom prst="line">
            <a:avLst/>
          </a:prstGeom>
          <a:ln w="3175">
            <a:solidFill>
              <a:srgbClr val="FC4C4C"/>
            </a:solidFill>
            <a:prstDash val="dash"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AEED067-33A6-400C-5B47-32DADBD98444}"/>
              </a:ext>
            </a:extLst>
          </p:cNvPr>
          <p:cNvSpPr/>
          <p:nvPr/>
        </p:nvSpPr>
        <p:spPr>
          <a:xfrm>
            <a:off x="3230541" y="1020977"/>
            <a:ext cx="8325214" cy="12569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HOOK</a:t>
            </a:r>
          </a:p>
          <a:p>
            <a:pPr>
              <a:lnSpc>
                <a:spcPct val="150000"/>
              </a:lnSpc>
            </a:pPr>
            <a:endParaRPr lang="en-US" altLang="ko-KR" sz="1400" b="1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useReducer</a:t>
            </a:r>
            <a:endParaRPr lang="en-US" altLang="ko-KR" sz="1200" b="1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en" altLang="ko-KR" sz="1200" dirty="0" err="1"/>
              <a:t>useState</a:t>
            </a:r>
            <a:r>
              <a:rPr lang="ko-KR" altLang="en-US" sz="1200" dirty="0"/>
              <a:t>의 확장형으로</a:t>
            </a:r>
            <a:r>
              <a:rPr lang="en-US" altLang="ko-KR" sz="1200" dirty="0"/>
              <a:t>, </a:t>
            </a:r>
            <a:r>
              <a:rPr lang="ko-KR" altLang="en-US" sz="1200" dirty="0"/>
              <a:t>상태 업데이트 로직을 한 곳에서 관리할 때 사용</a:t>
            </a:r>
            <a:endParaRPr lang="en-US" altLang="ko-KR" sz="12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4" name="Picture 14" descr="React JS] 바닐라 JS - MVC">
            <a:extLst>
              <a:ext uri="{FF2B5EF4-FFF2-40B4-BE49-F238E27FC236}">
                <a16:creationId xmlns:a16="http://schemas.microsoft.com/office/drawing/2014/main" id="{78EA7FFD-0557-236B-E79A-1F0D3161A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45" y="1152734"/>
            <a:ext cx="2876045" cy="1889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1E0AFF7-7F70-F96E-268E-94B1F75FA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478" y="2097641"/>
            <a:ext cx="5493026" cy="4636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8647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94ADAD-360E-F618-D523-20CEAFA6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97433B9-6C02-1C2B-45ED-A193987A6010}"/>
              </a:ext>
            </a:extLst>
          </p:cNvPr>
          <p:cNvSpPr/>
          <p:nvPr/>
        </p:nvSpPr>
        <p:spPr>
          <a:xfrm>
            <a:off x="6127775" y="269693"/>
            <a:ext cx="1066250" cy="5048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27B79836-C8E4-E3E7-472D-F6AD3E1BB1D1}"/>
              </a:ext>
            </a:extLst>
          </p:cNvPr>
          <p:cNvSpPr/>
          <p:nvPr/>
        </p:nvSpPr>
        <p:spPr>
          <a:xfrm>
            <a:off x="1105947" y="269693"/>
            <a:ext cx="5898940" cy="504826"/>
          </a:xfrm>
          <a:custGeom>
            <a:avLst/>
            <a:gdLst>
              <a:gd name="connsiteX0" fmla="*/ 205868 w 5898940"/>
              <a:gd name="connsiteY0" fmla="*/ 0 h 504826"/>
              <a:gd name="connsiteX1" fmla="*/ 5646527 w 5898940"/>
              <a:gd name="connsiteY1" fmla="*/ 0 h 504826"/>
              <a:gd name="connsiteX2" fmla="*/ 5898940 w 5898940"/>
              <a:gd name="connsiteY2" fmla="*/ 252413 h 504826"/>
              <a:gd name="connsiteX3" fmla="*/ 5898939 w 5898940"/>
              <a:gd name="connsiteY3" fmla="*/ 252413 h 504826"/>
              <a:gd name="connsiteX4" fmla="*/ 5646526 w 5898940"/>
              <a:gd name="connsiteY4" fmla="*/ 504826 h 504826"/>
              <a:gd name="connsiteX5" fmla="*/ 0 w 5898940"/>
              <a:gd name="connsiteY5" fmla="*/ 504825 h 50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8940" h="504826">
                <a:moveTo>
                  <a:pt x="205868" y="0"/>
                </a:moveTo>
                <a:lnTo>
                  <a:pt x="5646527" y="0"/>
                </a:lnTo>
                <a:cubicBezTo>
                  <a:pt x="5785931" y="0"/>
                  <a:pt x="5898940" y="113009"/>
                  <a:pt x="5898940" y="252413"/>
                </a:cubicBezTo>
                <a:lnTo>
                  <a:pt x="5898939" y="252413"/>
                </a:lnTo>
                <a:cubicBezTo>
                  <a:pt x="5898939" y="391817"/>
                  <a:pt x="5785930" y="504826"/>
                  <a:pt x="5646526" y="504826"/>
                </a:cubicBezTo>
                <a:lnTo>
                  <a:pt x="0" y="504825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REACT JS</a:t>
            </a:r>
            <a:r>
              <a:rPr kumimoji="0" lang="ko-KR" altLang="en-US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란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89417891-6592-305C-AEA7-3152DA4BFF00}"/>
              </a:ext>
            </a:extLst>
          </p:cNvPr>
          <p:cNvSpPr/>
          <p:nvPr/>
        </p:nvSpPr>
        <p:spPr>
          <a:xfrm>
            <a:off x="1106471" y="693043"/>
            <a:ext cx="129121" cy="80193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77693F93-20BD-0A20-1AB3-F40A924B6BE1}"/>
              </a:ext>
            </a:extLst>
          </p:cNvPr>
          <p:cNvSpPr/>
          <p:nvPr/>
        </p:nvSpPr>
        <p:spPr>
          <a:xfrm>
            <a:off x="371476" y="188218"/>
            <a:ext cx="1066250" cy="504825"/>
          </a:xfrm>
          <a:custGeom>
            <a:avLst/>
            <a:gdLst>
              <a:gd name="connsiteX0" fmla="*/ 0 w 1066250"/>
              <a:gd name="connsiteY0" fmla="*/ 252412 h 504825"/>
              <a:gd name="connsiteX1" fmla="*/ 0 w 1066250"/>
              <a:gd name="connsiteY1" fmla="*/ 252413 h 504825"/>
              <a:gd name="connsiteX2" fmla="*/ 0 w 1066250"/>
              <a:gd name="connsiteY2" fmla="*/ 252413 h 504825"/>
              <a:gd name="connsiteX3" fmla="*/ 252413 w 1066250"/>
              <a:gd name="connsiteY3" fmla="*/ 0 h 504825"/>
              <a:gd name="connsiteX4" fmla="*/ 1066250 w 1066250"/>
              <a:gd name="connsiteY4" fmla="*/ 0 h 504825"/>
              <a:gd name="connsiteX5" fmla="*/ 860382 w 1066250"/>
              <a:gd name="connsiteY5" fmla="*/ 504825 h 504825"/>
              <a:gd name="connsiteX6" fmla="*/ 252413 w 1066250"/>
              <a:gd name="connsiteY6" fmla="*/ 504825 h 504825"/>
              <a:gd name="connsiteX7" fmla="*/ 19836 w 1066250"/>
              <a:gd name="connsiteY7" fmla="*/ 350663 h 504825"/>
              <a:gd name="connsiteX8" fmla="*/ 0 w 1066250"/>
              <a:gd name="connsiteY8" fmla="*/ 252413 h 504825"/>
              <a:gd name="connsiteX9" fmla="*/ 19836 w 1066250"/>
              <a:gd name="connsiteY9" fmla="*/ 154162 h 504825"/>
              <a:gd name="connsiteX10" fmla="*/ 252413 w 1066250"/>
              <a:gd name="connsiteY10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250" h="504825">
                <a:moveTo>
                  <a:pt x="0" y="252412"/>
                </a:moveTo>
                <a:lnTo>
                  <a:pt x="0" y="252413"/>
                </a:lnTo>
                <a:lnTo>
                  <a:pt x="0" y="252413"/>
                </a:lnTo>
                <a:close/>
                <a:moveTo>
                  <a:pt x="252413" y="0"/>
                </a:moveTo>
                <a:lnTo>
                  <a:pt x="1066250" y="0"/>
                </a:lnTo>
                <a:lnTo>
                  <a:pt x="860382" y="504825"/>
                </a:lnTo>
                <a:lnTo>
                  <a:pt x="252413" y="504825"/>
                </a:lnTo>
                <a:cubicBezTo>
                  <a:pt x="147860" y="504825"/>
                  <a:pt x="58154" y="441257"/>
                  <a:pt x="19836" y="350663"/>
                </a:cubicBezTo>
                <a:lnTo>
                  <a:pt x="0" y="252413"/>
                </a:lnTo>
                <a:lnTo>
                  <a:pt x="19836" y="154162"/>
                </a:lnTo>
                <a:cubicBezTo>
                  <a:pt x="58154" y="63568"/>
                  <a:pt x="147860" y="0"/>
                  <a:pt x="252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Tmon몬소리 Black" panose="02000A03000000000000" pitchFamily="2" charset="-127"/>
                <a:cs typeface="+mn-cs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FB4EE29-C09E-7602-727E-237B08C776E1}"/>
              </a:ext>
            </a:extLst>
          </p:cNvPr>
          <p:cNvCxnSpPr/>
          <p:nvPr/>
        </p:nvCxnSpPr>
        <p:spPr>
          <a:xfrm>
            <a:off x="7092426" y="504825"/>
            <a:ext cx="5112000" cy="0"/>
          </a:xfrm>
          <a:prstGeom prst="line">
            <a:avLst/>
          </a:prstGeom>
          <a:ln w="3175">
            <a:solidFill>
              <a:srgbClr val="FC4C4C"/>
            </a:solidFill>
            <a:prstDash val="dash"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AEED067-33A6-400C-5B47-32DADBD98444}"/>
              </a:ext>
            </a:extLst>
          </p:cNvPr>
          <p:cNvSpPr/>
          <p:nvPr/>
        </p:nvSpPr>
        <p:spPr>
          <a:xfrm>
            <a:off x="3230541" y="1020977"/>
            <a:ext cx="8325214" cy="15339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HOOK</a:t>
            </a:r>
          </a:p>
          <a:p>
            <a:pPr>
              <a:lnSpc>
                <a:spcPct val="150000"/>
              </a:lnSpc>
            </a:pPr>
            <a:endParaRPr lang="en-US" altLang="ko-KR" sz="1400" b="1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useMemo</a:t>
            </a:r>
            <a:endParaRPr lang="en-US" altLang="ko-KR" sz="1200" b="1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계산된 변수를 메모리에 저장해두고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계산된 변수가 이전 값과 다를 경우에만 </a:t>
            </a:r>
            <a:r>
              <a:rPr lang="ko-KR" altLang="en-US" sz="1200" dirty="0" err="1">
                <a:latin typeface="+mn-ea"/>
              </a:rPr>
              <a:t>리렌더링</a:t>
            </a:r>
            <a:r>
              <a:rPr lang="ko-KR" altLang="en-US" sz="1200" dirty="0">
                <a:latin typeface="+mn-ea"/>
              </a:rPr>
              <a:t> 진행</a:t>
            </a: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map, filter, reduce </a:t>
            </a:r>
            <a:r>
              <a:rPr lang="ko-KR" altLang="en-US" sz="1200" dirty="0">
                <a:latin typeface="+mn-ea"/>
              </a:rPr>
              <a:t>등의 반복 계산의 빈도가 높은 경우 사용</a:t>
            </a:r>
            <a:endParaRPr lang="en-US" altLang="ko-KR" sz="1400" dirty="0">
              <a:latin typeface="+mn-ea"/>
            </a:endParaRPr>
          </a:p>
        </p:txBody>
      </p:sp>
      <p:pic>
        <p:nvPicPr>
          <p:cNvPr id="4" name="Picture 14" descr="React JS] 바닐라 JS - MVC">
            <a:extLst>
              <a:ext uri="{FF2B5EF4-FFF2-40B4-BE49-F238E27FC236}">
                <a16:creationId xmlns:a16="http://schemas.microsoft.com/office/drawing/2014/main" id="{78EA7FFD-0557-236B-E79A-1F0D3161A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45" y="1152734"/>
            <a:ext cx="2876045" cy="1889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13F8E2C-080E-E6A2-4F80-8A9485342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5235" y="2277924"/>
            <a:ext cx="5529558" cy="414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066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333B85-175F-E61B-F860-0052C8A0E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9A483C9-BD86-DB32-6F98-03765D73BE24}"/>
              </a:ext>
            </a:extLst>
          </p:cNvPr>
          <p:cNvSpPr/>
          <p:nvPr/>
        </p:nvSpPr>
        <p:spPr>
          <a:xfrm>
            <a:off x="6127775" y="269693"/>
            <a:ext cx="1066250" cy="5048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221B02F6-130A-75E2-C0B9-3638AF5BF886}"/>
              </a:ext>
            </a:extLst>
          </p:cNvPr>
          <p:cNvSpPr/>
          <p:nvPr/>
        </p:nvSpPr>
        <p:spPr>
          <a:xfrm>
            <a:off x="1106471" y="693043"/>
            <a:ext cx="129121" cy="80193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487DEE5C-427C-DE0C-598E-E2DAA4842877}"/>
              </a:ext>
            </a:extLst>
          </p:cNvPr>
          <p:cNvSpPr/>
          <p:nvPr/>
        </p:nvSpPr>
        <p:spPr>
          <a:xfrm>
            <a:off x="371476" y="188218"/>
            <a:ext cx="1066250" cy="504825"/>
          </a:xfrm>
          <a:custGeom>
            <a:avLst/>
            <a:gdLst>
              <a:gd name="connsiteX0" fmla="*/ 0 w 1066250"/>
              <a:gd name="connsiteY0" fmla="*/ 252412 h 504825"/>
              <a:gd name="connsiteX1" fmla="*/ 0 w 1066250"/>
              <a:gd name="connsiteY1" fmla="*/ 252413 h 504825"/>
              <a:gd name="connsiteX2" fmla="*/ 0 w 1066250"/>
              <a:gd name="connsiteY2" fmla="*/ 252413 h 504825"/>
              <a:gd name="connsiteX3" fmla="*/ 252413 w 1066250"/>
              <a:gd name="connsiteY3" fmla="*/ 0 h 504825"/>
              <a:gd name="connsiteX4" fmla="*/ 1066250 w 1066250"/>
              <a:gd name="connsiteY4" fmla="*/ 0 h 504825"/>
              <a:gd name="connsiteX5" fmla="*/ 860382 w 1066250"/>
              <a:gd name="connsiteY5" fmla="*/ 504825 h 504825"/>
              <a:gd name="connsiteX6" fmla="*/ 252413 w 1066250"/>
              <a:gd name="connsiteY6" fmla="*/ 504825 h 504825"/>
              <a:gd name="connsiteX7" fmla="*/ 19836 w 1066250"/>
              <a:gd name="connsiteY7" fmla="*/ 350663 h 504825"/>
              <a:gd name="connsiteX8" fmla="*/ 0 w 1066250"/>
              <a:gd name="connsiteY8" fmla="*/ 252413 h 504825"/>
              <a:gd name="connsiteX9" fmla="*/ 19836 w 1066250"/>
              <a:gd name="connsiteY9" fmla="*/ 154162 h 504825"/>
              <a:gd name="connsiteX10" fmla="*/ 252413 w 1066250"/>
              <a:gd name="connsiteY10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250" h="504825">
                <a:moveTo>
                  <a:pt x="0" y="252412"/>
                </a:moveTo>
                <a:lnTo>
                  <a:pt x="0" y="252413"/>
                </a:lnTo>
                <a:lnTo>
                  <a:pt x="0" y="252413"/>
                </a:lnTo>
                <a:close/>
                <a:moveTo>
                  <a:pt x="252413" y="0"/>
                </a:moveTo>
                <a:lnTo>
                  <a:pt x="1066250" y="0"/>
                </a:lnTo>
                <a:lnTo>
                  <a:pt x="860382" y="504825"/>
                </a:lnTo>
                <a:lnTo>
                  <a:pt x="252413" y="504825"/>
                </a:lnTo>
                <a:cubicBezTo>
                  <a:pt x="147860" y="504825"/>
                  <a:pt x="58154" y="441257"/>
                  <a:pt x="19836" y="350663"/>
                </a:cubicBezTo>
                <a:lnTo>
                  <a:pt x="0" y="252413"/>
                </a:lnTo>
                <a:lnTo>
                  <a:pt x="19836" y="154162"/>
                </a:lnTo>
                <a:cubicBezTo>
                  <a:pt x="58154" y="63568"/>
                  <a:pt x="147860" y="0"/>
                  <a:pt x="252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i="1" kern="0" dirty="0">
                <a:ln w="9525">
                  <a:noFill/>
                </a:ln>
                <a:solidFill>
                  <a:prstClr val="black"/>
                </a:solidFill>
                <a:latin typeface="맑은 고딕" panose="020F0502020204030204"/>
                <a:ea typeface="Tmon몬소리 Black" panose="02000A03000000000000" pitchFamily="2" charset="-127"/>
              </a:rPr>
              <a:t>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43580CB9-3EDB-7750-0D15-D458B7FF158F}"/>
              </a:ext>
            </a:extLst>
          </p:cNvPr>
          <p:cNvCxnSpPr/>
          <p:nvPr/>
        </p:nvCxnSpPr>
        <p:spPr>
          <a:xfrm>
            <a:off x="7092426" y="504825"/>
            <a:ext cx="5112000" cy="0"/>
          </a:xfrm>
          <a:prstGeom prst="line">
            <a:avLst/>
          </a:prstGeom>
          <a:ln w="3175">
            <a:solidFill>
              <a:srgbClr val="FC4C4C"/>
            </a:solidFill>
            <a:prstDash val="dash"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자유형: 도형 1">
            <a:extLst>
              <a:ext uri="{FF2B5EF4-FFF2-40B4-BE49-F238E27FC236}">
                <a16:creationId xmlns:a16="http://schemas.microsoft.com/office/drawing/2014/main" id="{3ED134D5-8FC7-2CFB-FEA3-5956220A9FE9}"/>
              </a:ext>
            </a:extLst>
          </p:cNvPr>
          <p:cNvSpPr/>
          <p:nvPr/>
        </p:nvSpPr>
        <p:spPr>
          <a:xfrm>
            <a:off x="1105947" y="269693"/>
            <a:ext cx="5898940" cy="504826"/>
          </a:xfrm>
          <a:custGeom>
            <a:avLst/>
            <a:gdLst>
              <a:gd name="connsiteX0" fmla="*/ 205868 w 5898940"/>
              <a:gd name="connsiteY0" fmla="*/ 0 h 504826"/>
              <a:gd name="connsiteX1" fmla="*/ 5646527 w 5898940"/>
              <a:gd name="connsiteY1" fmla="*/ 0 h 504826"/>
              <a:gd name="connsiteX2" fmla="*/ 5898940 w 5898940"/>
              <a:gd name="connsiteY2" fmla="*/ 252413 h 504826"/>
              <a:gd name="connsiteX3" fmla="*/ 5898939 w 5898940"/>
              <a:gd name="connsiteY3" fmla="*/ 252413 h 504826"/>
              <a:gd name="connsiteX4" fmla="*/ 5646526 w 5898940"/>
              <a:gd name="connsiteY4" fmla="*/ 504826 h 504826"/>
              <a:gd name="connsiteX5" fmla="*/ 0 w 5898940"/>
              <a:gd name="connsiteY5" fmla="*/ 504825 h 50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8940" h="504826">
                <a:moveTo>
                  <a:pt x="205868" y="0"/>
                </a:moveTo>
                <a:lnTo>
                  <a:pt x="5646527" y="0"/>
                </a:lnTo>
                <a:cubicBezTo>
                  <a:pt x="5785931" y="0"/>
                  <a:pt x="5898940" y="113009"/>
                  <a:pt x="5898940" y="252413"/>
                </a:cubicBezTo>
                <a:lnTo>
                  <a:pt x="5898939" y="252413"/>
                </a:lnTo>
                <a:cubicBezTo>
                  <a:pt x="5898939" y="391817"/>
                  <a:pt x="5785930" y="504826"/>
                  <a:pt x="5646526" y="504826"/>
                </a:cubicBezTo>
                <a:lnTo>
                  <a:pt x="0" y="504825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r>
              <a:rPr kumimoji="0" lang="ko-KR" altLang="en-US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Tmon몬소리 Black" panose="02000A03000000000000" pitchFamily="2" charset="-127"/>
                <a:cs typeface="+mn-cs"/>
              </a:rPr>
              <a:t>실습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8FF554F-3A8F-E636-9E00-8FDD75E665F9}"/>
              </a:ext>
            </a:extLst>
          </p:cNvPr>
          <p:cNvSpPr/>
          <p:nvPr/>
        </p:nvSpPr>
        <p:spPr>
          <a:xfrm>
            <a:off x="794199" y="1196586"/>
            <a:ext cx="10027131" cy="272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To-Do List</a:t>
            </a:r>
            <a:r>
              <a: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 만들기</a:t>
            </a:r>
            <a:endParaRPr lang="en-US" altLang="ko-KR" sz="1400" b="1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[</a:t>
            </a:r>
            <a:r>
              <a:rPr lang="ko-KR" altLang="en-US" sz="12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조건</a:t>
            </a:r>
            <a:r>
              <a:rPr lang="en-US" altLang="ko-KR" sz="12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]</a:t>
            </a:r>
          </a:p>
          <a:p>
            <a:pPr marL="228600" indent="-228600" algn="l">
              <a:buAutoNum type="arabicPeriod"/>
            </a:pPr>
            <a:r>
              <a:rPr lang="ko-KR" altLang="en-US" sz="1200" dirty="0"/>
              <a:t>경로는 </a:t>
            </a:r>
            <a:r>
              <a:rPr lang="en-US" altLang="ko-KR" sz="1200" dirty="0"/>
              <a:t>/</a:t>
            </a:r>
            <a:r>
              <a:rPr lang="en-US" altLang="ko-KR" sz="1200" dirty="0" err="1"/>
              <a:t>todo</a:t>
            </a:r>
            <a:endParaRPr lang="en-US" altLang="ko-KR" sz="1200" dirty="0"/>
          </a:p>
          <a:p>
            <a:pPr marL="228600" indent="-228600">
              <a:buFontTx/>
              <a:buAutoNum type="arabicPeriod"/>
            </a:pPr>
            <a:r>
              <a:rPr lang="en-US" altLang="ko-KR" sz="1200" dirty="0" err="1"/>
              <a:t>todo</a:t>
            </a:r>
            <a:r>
              <a:rPr lang="ko-KR" altLang="en-US" sz="1200" dirty="0"/>
              <a:t> 객체는 아래 형식</a:t>
            </a:r>
            <a:endParaRPr lang="en-US" altLang="ko-KR" sz="1200" dirty="0"/>
          </a:p>
          <a:p>
            <a:r>
              <a:rPr lang="en-US" altLang="ko-KR" sz="1200" dirty="0"/>
              <a:t>{</a:t>
            </a:r>
          </a:p>
          <a:p>
            <a:r>
              <a:rPr lang="en-US" altLang="ko-KR" sz="1200" dirty="0"/>
              <a:t>    id: date(</a:t>
            </a:r>
            <a:r>
              <a:rPr lang="ko-KR" altLang="en-US" sz="1200" dirty="0"/>
              <a:t>현재 날짜</a:t>
            </a:r>
            <a:r>
              <a:rPr lang="en-US" altLang="ko-KR" sz="1200" dirty="0"/>
              <a:t>),</a:t>
            </a:r>
          </a:p>
          <a:p>
            <a:r>
              <a:rPr lang="en-US" altLang="ko-KR" sz="1200" dirty="0"/>
              <a:t>    text: string,</a:t>
            </a:r>
          </a:p>
          <a:p>
            <a:r>
              <a:rPr lang="en-US" altLang="ko-KR" sz="1200" dirty="0"/>
              <a:t>    completed: </a:t>
            </a:r>
            <a:r>
              <a:rPr lang="en-US" altLang="ko-KR" sz="1200" dirty="0" err="1"/>
              <a:t>boolean</a:t>
            </a:r>
            <a:endParaRPr lang="en-US" altLang="ko-KR" sz="1200" dirty="0"/>
          </a:p>
          <a:p>
            <a:r>
              <a:rPr lang="en-US" altLang="ko-KR" sz="1200" dirty="0"/>
              <a:t>}</a:t>
            </a:r>
          </a:p>
          <a:p>
            <a:pPr marL="228600" indent="-228600">
              <a:buAutoNum type="arabicPeriod" startAt="3"/>
            </a:pPr>
            <a:r>
              <a:rPr lang="en-US" altLang="ko-KR" sz="1200" dirty="0" err="1"/>
              <a:t>todo</a:t>
            </a:r>
            <a:r>
              <a:rPr lang="en-US" altLang="ko-KR" sz="1200" dirty="0"/>
              <a:t> </a:t>
            </a:r>
            <a:r>
              <a:rPr lang="ko-KR" altLang="en-US" sz="1200" dirty="0"/>
              <a:t>추가</a:t>
            </a:r>
            <a:r>
              <a:rPr lang="en-US" altLang="ko-KR" sz="1200" dirty="0"/>
              <a:t>,</a:t>
            </a:r>
            <a:r>
              <a:rPr lang="ko-KR" altLang="en-US" sz="1200" dirty="0"/>
              <a:t> 완료</a:t>
            </a:r>
            <a:r>
              <a:rPr lang="en-US" altLang="ko-KR" sz="1200" dirty="0"/>
              <a:t>,</a:t>
            </a:r>
            <a:r>
              <a:rPr lang="ko-KR" altLang="en-US" sz="1200" dirty="0"/>
              <a:t> 삭제 기능</a:t>
            </a:r>
            <a:endParaRPr lang="en-US" altLang="ko-KR" sz="1200" dirty="0"/>
          </a:p>
          <a:p>
            <a:r>
              <a:rPr lang="ko-KR" altLang="en-US" sz="1200" dirty="0"/>
              <a:t>추가 시 </a:t>
            </a:r>
            <a:r>
              <a:rPr lang="en-US" altLang="ko-KR" sz="1200" dirty="0" err="1"/>
              <a:t>todo</a:t>
            </a:r>
            <a:r>
              <a:rPr lang="ko-KR" altLang="en-US" sz="1200" dirty="0"/>
              <a:t> 추가</a:t>
            </a:r>
            <a:endParaRPr lang="en-US" altLang="ko-KR" sz="1200" dirty="0"/>
          </a:p>
          <a:p>
            <a:r>
              <a:rPr lang="ko-KR" altLang="en-US" sz="1200" dirty="0"/>
              <a:t>완료 시 </a:t>
            </a:r>
            <a:r>
              <a:rPr lang="en-US" altLang="ko-KR" sz="1200" dirty="0" err="1"/>
              <a:t>todo</a:t>
            </a:r>
            <a:r>
              <a:rPr lang="ko-KR" altLang="en-US" sz="1200" dirty="0"/>
              <a:t> </a:t>
            </a:r>
            <a:r>
              <a:rPr lang="en-US" altLang="ko-KR" sz="1200" dirty="0"/>
              <a:t>text</a:t>
            </a:r>
            <a:r>
              <a:rPr lang="ko-KR" altLang="en-US" sz="1200" dirty="0"/>
              <a:t>의 </a:t>
            </a:r>
            <a:r>
              <a:rPr lang="en-US" altLang="ko-KR" sz="1200" dirty="0" err="1"/>
              <a:t>css</a:t>
            </a:r>
            <a:r>
              <a:rPr lang="ko-KR" altLang="en-US" sz="1200" dirty="0"/>
              <a:t> 변경</a:t>
            </a:r>
            <a:r>
              <a:rPr lang="en-US" altLang="ko-KR" sz="1200" dirty="0"/>
              <a:t>, </a:t>
            </a:r>
            <a:r>
              <a:rPr lang="ko-KR" altLang="en-US" sz="1200" dirty="0"/>
              <a:t>버튼 변경</a:t>
            </a:r>
            <a:r>
              <a:rPr lang="en-US" altLang="ko-KR" sz="1200" dirty="0"/>
              <a:t>(</a:t>
            </a:r>
            <a:r>
              <a:rPr lang="ko-KR" altLang="en-US" sz="1200" dirty="0"/>
              <a:t>임의로</a:t>
            </a:r>
            <a:r>
              <a:rPr lang="en-US" altLang="ko-KR" sz="1200" dirty="0"/>
              <a:t>)</a:t>
            </a:r>
          </a:p>
          <a:p>
            <a:r>
              <a:rPr lang="ko-KR" altLang="en-US" sz="1200" dirty="0"/>
              <a:t>삭제 시 </a:t>
            </a:r>
            <a:r>
              <a:rPr lang="en-US" altLang="ko-KR" sz="1200" dirty="0" err="1"/>
              <a:t>todo</a:t>
            </a:r>
            <a:r>
              <a:rPr lang="en-US" altLang="ko-KR" sz="1200" dirty="0"/>
              <a:t> </a:t>
            </a:r>
            <a:r>
              <a:rPr lang="ko-KR" altLang="en-US" sz="1200" dirty="0"/>
              <a:t>삭제</a:t>
            </a:r>
            <a:endParaRPr lang="en-US" altLang="ko-KR" sz="12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0D23363-EBF7-9074-3AAA-52C604553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612" y="1352946"/>
            <a:ext cx="6749189" cy="2411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81564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657</TotalTime>
  <Words>488</Words>
  <Application>Microsoft Macintosh PowerPoint</Application>
  <PresentationFormat>와이드스크린</PresentationFormat>
  <Paragraphs>120</Paragraphs>
  <Slides>17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맑은 고딕</vt:lpstr>
      <vt:lpstr>Noto Sans Demilight</vt:lpstr>
      <vt:lpstr>Tmon몬소리 Black</vt:lpstr>
      <vt:lpstr>Arial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현석 조</dc:creator>
  <cp:lastModifiedBy>aton</cp:lastModifiedBy>
  <cp:revision>12</cp:revision>
  <dcterms:created xsi:type="dcterms:W3CDTF">2025-02-16T02:18:17Z</dcterms:created>
  <dcterms:modified xsi:type="dcterms:W3CDTF">2025-02-27T05:38:06Z</dcterms:modified>
</cp:coreProperties>
</file>