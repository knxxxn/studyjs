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819" r:id="rId2"/>
    <p:sldId id="822" r:id="rId3"/>
    <p:sldId id="818" r:id="rId4"/>
    <p:sldId id="825" r:id="rId5"/>
    <p:sldId id="824" r:id="rId6"/>
    <p:sldId id="826" r:id="rId7"/>
    <p:sldId id="827" r:id="rId8"/>
    <p:sldId id="828" r:id="rId9"/>
    <p:sldId id="829" r:id="rId10"/>
    <p:sldId id="830" r:id="rId11"/>
    <p:sldId id="831" r:id="rId12"/>
    <p:sldId id="83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FF"/>
    <a:srgbClr val="F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5449" autoAdjust="0"/>
  </p:normalViewPr>
  <p:slideViewPr>
    <p:cSldViewPr snapToGrid="0">
      <p:cViewPr varScale="1">
        <p:scale>
          <a:sx n="128" d="100"/>
          <a:sy n="128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4AF55-E316-43DE-B2B2-61924C35482E}" type="datetimeFigureOut">
              <a:rPr lang="ko-KR" altLang="en-US" smtClean="0"/>
              <a:t>2025. 2. 27.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787D-22B2-4657-96EC-990D19AEB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8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C787D-22B2-4657-96EC-990D19AEB86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0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2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671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21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85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68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79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0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34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80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69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56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5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elog.io/@ljs923/Node.js-%EB%8B%A4%EC%9A%B4%EB%A1%9C%EB%93%9C-%EB%B0%8F-%EC%84%A4%EC%B9%98%ED%95%98%EA%B8%B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ram-tree.tistory.com/354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javascript/table/data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96742-40DA-084E-A437-86FE713E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EF10402-83F7-A2FF-6CC3-3AB754179022}"/>
              </a:ext>
            </a:extLst>
          </p:cNvPr>
          <p:cNvSpPr/>
          <p:nvPr/>
        </p:nvSpPr>
        <p:spPr>
          <a:xfrm>
            <a:off x="4026772" y="2731302"/>
            <a:ext cx="6005258" cy="1006840"/>
          </a:xfrm>
          <a:custGeom>
            <a:avLst/>
            <a:gdLst>
              <a:gd name="connsiteX0" fmla="*/ 410589 w 6005258"/>
              <a:gd name="connsiteY0" fmla="*/ 0 h 1006840"/>
              <a:gd name="connsiteX1" fmla="*/ 5501838 w 6005258"/>
              <a:gd name="connsiteY1" fmla="*/ 0 h 1006840"/>
              <a:gd name="connsiteX2" fmla="*/ 6005258 w 6005258"/>
              <a:gd name="connsiteY2" fmla="*/ 503420 h 1006840"/>
              <a:gd name="connsiteX3" fmla="*/ 5501838 w 6005258"/>
              <a:gd name="connsiteY3" fmla="*/ 1006840 h 1006840"/>
              <a:gd name="connsiteX4" fmla="*/ 0 w 6005258"/>
              <a:gd name="connsiteY4" fmla="*/ 1006840 h 10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5258" h="1006840">
                <a:moveTo>
                  <a:pt x="410589" y="0"/>
                </a:moveTo>
                <a:lnTo>
                  <a:pt x="5501838" y="0"/>
                </a:lnTo>
                <a:cubicBezTo>
                  <a:pt x="5779869" y="0"/>
                  <a:pt x="6005258" y="225389"/>
                  <a:pt x="6005258" y="503420"/>
                </a:cubicBezTo>
                <a:cubicBezTo>
                  <a:pt x="6005258" y="781451"/>
                  <a:pt x="5779869" y="1006840"/>
                  <a:pt x="5501838" y="1006840"/>
                </a:cubicBezTo>
                <a:lnTo>
                  <a:pt x="0" y="1006840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1.</a:t>
            </a:r>
            <a:r>
              <a:rPr kumimoji="0" lang="ko-KR" altLang="en-US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JAVASCRIPT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0383F5C-86A7-2256-81F4-37D601A2CCCC}"/>
              </a:ext>
            </a:extLst>
          </p:cNvPr>
          <p:cNvSpPr/>
          <p:nvPr/>
        </p:nvSpPr>
        <p:spPr>
          <a:xfrm>
            <a:off x="2976384" y="2587892"/>
            <a:ext cx="1694251" cy="1006840"/>
          </a:xfrm>
          <a:custGeom>
            <a:avLst/>
            <a:gdLst>
              <a:gd name="connsiteX0" fmla="*/ 503420 w 1694251"/>
              <a:gd name="connsiteY0" fmla="*/ 0 h 1006840"/>
              <a:gd name="connsiteX1" fmla="*/ 1694251 w 1694251"/>
              <a:gd name="connsiteY1" fmla="*/ 0 h 1006840"/>
              <a:gd name="connsiteX2" fmla="*/ 1283661 w 1694251"/>
              <a:gd name="connsiteY2" fmla="*/ 1006840 h 1006840"/>
              <a:gd name="connsiteX3" fmla="*/ 503420 w 1694251"/>
              <a:gd name="connsiteY3" fmla="*/ 1006840 h 1006840"/>
              <a:gd name="connsiteX4" fmla="*/ 0 w 1694251"/>
              <a:gd name="connsiteY4" fmla="*/ 503420 h 1006840"/>
              <a:gd name="connsiteX5" fmla="*/ 503420 w 1694251"/>
              <a:gd name="connsiteY5" fmla="*/ 0 h 10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4251" h="1006840">
                <a:moveTo>
                  <a:pt x="503420" y="0"/>
                </a:moveTo>
                <a:lnTo>
                  <a:pt x="1694251" y="0"/>
                </a:lnTo>
                <a:lnTo>
                  <a:pt x="1283661" y="1006840"/>
                </a:lnTo>
                <a:lnTo>
                  <a:pt x="503420" y="1006840"/>
                </a:lnTo>
                <a:cubicBezTo>
                  <a:pt x="225389" y="1006840"/>
                  <a:pt x="0" y="781451"/>
                  <a:pt x="0" y="503420"/>
                </a:cubicBezTo>
                <a:cubicBezTo>
                  <a:pt x="0" y="225389"/>
                  <a:pt x="225389" y="0"/>
                  <a:pt x="5034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ko-KR" altLang="en-US" sz="16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인턴 교육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D046E6F6-1B37-138B-48CF-C5EFAC5530D4}"/>
              </a:ext>
            </a:extLst>
          </p:cNvPr>
          <p:cNvSpPr/>
          <p:nvPr/>
        </p:nvSpPr>
        <p:spPr>
          <a:xfrm>
            <a:off x="4026772" y="3595228"/>
            <a:ext cx="230109" cy="142914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21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F0D79-A2AF-2B1D-A2F4-2429EC92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770B1B5-3E49-5630-F59D-A46A27E3408F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44605977-7CF0-BDB1-BD98-C5B7FEB46C0E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목차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951A5045-A1C2-30E2-10A4-DE40A2362764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FF30EB1C-BD99-EC58-346A-5356CB93CCCD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29F52AB-B745-BC91-15E3-0B212C3A63A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43D13C4-2E59-6855-FD6C-E6905F0D7333}"/>
              </a:ext>
            </a:extLst>
          </p:cNvPr>
          <p:cNvSpPr txBox="1"/>
          <p:nvPr/>
        </p:nvSpPr>
        <p:spPr>
          <a:xfrm>
            <a:off x="5031283" y="2595727"/>
            <a:ext cx="2192983" cy="1666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1 /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개발환경 구성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2 / </a:t>
            </a:r>
            <a:r>
              <a:rPr lang="en-US" altLang="ko-KR" sz="1400" b="1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Javascript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란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  <a:cs typeface="Aharoni" panose="02010803020104030203" pitchFamily="2" charset="-79"/>
              </a:rPr>
              <a:t>3 / </a:t>
            </a:r>
            <a:r>
              <a:rPr lang="ko-KR" altLang="en-US" sz="1400" b="1">
                <a:solidFill>
                  <a:prstClr val="black">
                    <a:lumMod val="65000"/>
                    <a:lumOff val="35000"/>
                  </a:prstClr>
                </a:solidFill>
                <a:cs typeface="Aharoni" panose="02010803020104030203" pitchFamily="2" charset="-79"/>
              </a:rPr>
              <a:t>실습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45784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호환되는 PC용 Windows 11 다운로드 방법 | Microsoft">
            <a:extLst>
              <a:ext uri="{FF2B5EF4-FFF2-40B4-BE49-F238E27FC236}">
                <a16:creationId xmlns:a16="http://schemas.microsoft.com/office/drawing/2014/main" id="{72BA16A5-C463-D58B-67C6-19B75517F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147" y="712773"/>
            <a:ext cx="3903679" cy="219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개발환경 구성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1214719" y="3544263"/>
            <a:ext cx="5506678" cy="610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sz="1200" b="0" dirty="0">
                <a:effectLst/>
              </a:rPr>
              <a:t>Node.js</a:t>
            </a:r>
            <a:r>
              <a:rPr lang="ko-KR" altLang="en-US" sz="1200" b="0" dirty="0">
                <a:effectLst/>
              </a:rPr>
              <a:t>는 </a:t>
            </a:r>
            <a:r>
              <a:rPr lang="en" altLang="ko-KR" sz="1200" b="0" dirty="0">
                <a:effectLst/>
              </a:rPr>
              <a:t>Chrome V8 JavaScript </a:t>
            </a:r>
            <a:r>
              <a:rPr lang="ko-KR" altLang="en-US" sz="1200" b="0" dirty="0">
                <a:effectLst/>
              </a:rPr>
              <a:t>엔진으로 </a:t>
            </a:r>
            <a:r>
              <a:rPr lang="ko-KR" altLang="en-US" sz="1200" b="0" dirty="0" err="1">
                <a:effectLst/>
              </a:rPr>
              <a:t>빌드된</a:t>
            </a:r>
            <a:r>
              <a:rPr lang="ko-KR" altLang="en-US" sz="1200" b="0" dirty="0">
                <a:effectLst/>
              </a:rPr>
              <a:t> </a:t>
            </a:r>
            <a:r>
              <a:rPr lang="en" altLang="ko-KR" sz="1200" b="0" dirty="0">
                <a:effectLst/>
              </a:rPr>
              <a:t>JavaScript </a:t>
            </a:r>
            <a:r>
              <a:rPr lang="ko-KR" altLang="en-US" sz="1200" b="0" dirty="0">
                <a:effectLst/>
              </a:rPr>
              <a:t>런타임입니다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b="0" i="0" dirty="0">
                <a:effectLst/>
                <a:latin typeface="-apple-system"/>
              </a:rPr>
              <a:t>* </a:t>
            </a:r>
            <a:r>
              <a:rPr lang="ko-KR" altLang="en-US" sz="1200" b="0" i="0" dirty="0">
                <a:effectLst/>
                <a:latin typeface="-apple-system"/>
              </a:rPr>
              <a:t>런타임 </a:t>
            </a:r>
            <a:r>
              <a:rPr lang="en-US" altLang="ko-KR" sz="1200" b="0" i="0" dirty="0">
                <a:effectLst/>
                <a:latin typeface="-apple-system"/>
              </a:rPr>
              <a:t>- </a:t>
            </a:r>
            <a:r>
              <a:rPr lang="ko-KR" altLang="en-US" sz="1200" b="0" i="0" dirty="0">
                <a:effectLst/>
                <a:latin typeface="-apple-system"/>
              </a:rPr>
              <a:t>특정 언어로 만든 </a:t>
            </a:r>
            <a:r>
              <a:rPr lang="ko-KR" altLang="en-US" sz="1200" b="1" i="0" dirty="0">
                <a:effectLst/>
                <a:latin typeface="-apple-system"/>
              </a:rPr>
              <a:t>프로그램들을 실행할 수 있는 환경</a:t>
            </a:r>
            <a:endParaRPr lang="ko-KR" altLang="en-US" sz="1200" dirty="0"/>
          </a:p>
        </p:txBody>
      </p:sp>
      <p:sp>
        <p:nvSpPr>
          <p:cNvPr id="14" name="직사각형 13">
            <a:hlinkClick r:id="rId3"/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7741361" y="2240217"/>
            <a:ext cx="3282588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hlinkClick r:id="rId3"/>
              </a:rPr>
              <a:t>Windows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hlinkClick r:id="rId3"/>
              </a:rPr>
              <a:t> 설치</a:t>
            </a:r>
            <a:endParaRPr lang="ko-KR" altLang="en-US" sz="9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6" name="모서리가 둥근 직사각형 85">
            <a:extLst>
              <a:ext uri="{FF2B5EF4-FFF2-40B4-BE49-F238E27FC236}">
                <a16:creationId xmlns:a16="http://schemas.microsoft.com/office/drawing/2014/main" id="{1E46909D-38C5-F835-2E38-E81A920426D5}"/>
              </a:ext>
            </a:extLst>
          </p:cNvPr>
          <p:cNvSpPr/>
          <p:nvPr/>
        </p:nvSpPr>
        <p:spPr>
          <a:xfrm>
            <a:off x="1245188" y="5455146"/>
            <a:ext cx="9732093" cy="821713"/>
          </a:xfrm>
          <a:prstGeom prst="roundRect">
            <a:avLst>
              <a:gd name="adj" fmla="val 14131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08000" rIns="180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설치 후 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terminal, </a:t>
            </a:r>
            <a:r>
              <a:rPr lang="en-US" altLang="ko-KR" sz="1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cmd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에서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node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–v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로 정상설치 되었는지 확인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!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1978A37-9430-1EE1-27D4-7DD6728A3B46}"/>
              </a:ext>
            </a:extLst>
          </p:cNvPr>
          <p:cNvGrpSpPr/>
          <p:nvPr/>
        </p:nvGrpSpPr>
        <p:grpSpPr>
          <a:xfrm>
            <a:off x="1389108" y="5252216"/>
            <a:ext cx="832598" cy="342707"/>
            <a:chOff x="1389108" y="5252216"/>
            <a:chExt cx="832598" cy="342707"/>
          </a:xfrm>
          <a:solidFill>
            <a:srgbClr val="FC4C4C"/>
          </a:solidFill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DCBC95AA-155E-BFDE-7AED-C1B1DA59ED78}"/>
                </a:ext>
              </a:extLst>
            </p:cNvPr>
            <p:cNvSpPr/>
            <p:nvPr/>
          </p:nvSpPr>
          <p:spPr>
            <a:xfrm rot="10800000">
              <a:off x="1389108" y="5450881"/>
              <a:ext cx="180650" cy="144042"/>
            </a:xfrm>
            <a:custGeom>
              <a:avLst/>
              <a:gdLst>
                <a:gd name="connsiteX0" fmla="*/ 123069 w 204570"/>
                <a:gd name="connsiteY0" fmla="*/ 163115 h 163115"/>
                <a:gd name="connsiteX1" fmla="*/ 0 w 204570"/>
                <a:gd name="connsiteY1" fmla="*/ 163115 h 163115"/>
                <a:gd name="connsiteX2" fmla="*/ 11488 w 204570"/>
                <a:gd name="connsiteY2" fmla="*/ 126530 h 163115"/>
                <a:gd name="connsiteX3" fmla="*/ 204570 w 204570"/>
                <a:gd name="connsiteY3" fmla="*/ 0 h 163115"/>
                <a:gd name="connsiteX4" fmla="*/ 124201 w 204570"/>
                <a:gd name="connsiteY4" fmla="*/ 151314 h 163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570" h="163115">
                  <a:moveTo>
                    <a:pt x="123069" y="163115"/>
                  </a:moveTo>
                  <a:lnTo>
                    <a:pt x="0" y="163115"/>
                  </a:lnTo>
                  <a:lnTo>
                    <a:pt x="11488" y="126530"/>
                  </a:lnTo>
                  <a:cubicBezTo>
                    <a:pt x="43299" y="52174"/>
                    <a:pt x="117772" y="0"/>
                    <a:pt x="204570" y="0"/>
                  </a:cubicBezTo>
                  <a:cubicBezTo>
                    <a:pt x="161707" y="43124"/>
                    <a:pt x="134917" y="96000"/>
                    <a:pt x="124201" y="15131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 sz="1600">
                <a:solidFill>
                  <a:prstClr val="white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B0C37BA9-AB16-0185-E8CC-A8020B2F5713}"/>
                </a:ext>
              </a:extLst>
            </p:cNvPr>
            <p:cNvSpPr/>
            <p:nvPr/>
          </p:nvSpPr>
          <p:spPr>
            <a:xfrm>
              <a:off x="1458498" y="5252216"/>
              <a:ext cx="763208" cy="30695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prstClr val="white"/>
                  </a:solidFill>
                  <a:latin typeface="Tmon몬소리 Black" panose="02000A03000000000000" pitchFamily="2" charset="-127"/>
                  <a:ea typeface="Tmon몬소리 Black" panose="02000A03000000000000" pitchFamily="2" charset="-127"/>
                </a:rPr>
                <a:t>Check</a:t>
              </a:r>
              <a:endParaRPr lang="ko-KR" altLang="en-US" sz="1400" i="1" dirty="0"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endParaRPr>
            </a:p>
          </p:txBody>
        </p:sp>
      </p:grpSp>
      <p:pic>
        <p:nvPicPr>
          <p:cNvPr id="1028" name="Picture 4" descr="node.js, express, 미들웨어란?">
            <a:extLst>
              <a:ext uri="{FF2B5EF4-FFF2-40B4-BE49-F238E27FC236}">
                <a16:creationId xmlns:a16="http://schemas.microsoft.com/office/drawing/2014/main" id="{B41357AA-683F-3F1A-D710-5B8638138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47" y="1051154"/>
            <a:ext cx="2912671" cy="172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자유형 80">
            <a:extLst>
              <a:ext uri="{FF2B5EF4-FFF2-40B4-BE49-F238E27FC236}">
                <a16:creationId xmlns:a16="http://schemas.microsoft.com/office/drawing/2014/main" id="{1EAEB1AE-5571-5F9D-9450-EAF6A41A90B5}"/>
              </a:ext>
            </a:extLst>
          </p:cNvPr>
          <p:cNvSpPr/>
          <p:nvPr/>
        </p:nvSpPr>
        <p:spPr>
          <a:xfrm>
            <a:off x="1235592" y="2427160"/>
            <a:ext cx="976518" cy="1021718"/>
          </a:xfrm>
          <a:custGeom>
            <a:avLst/>
            <a:gdLst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11574 w 1921397"/>
              <a:gd name="connsiteY2" fmla="*/ 1759351 h 1759351"/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8399 w 1921397"/>
              <a:gd name="connsiteY2" fmla="*/ 1759351 h 17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397" h="1759351">
                <a:moveTo>
                  <a:pt x="1921397" y="0"/>
                </a:moveTo>
                <a:lnTo>
                  <a:pt x="0" y="1307939"/>
                </a:lnTo>
                <a:lnTo>
                  <a:pt x="8399" y="1759351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1034" name="Picture 10" descr="Download Apple Logo PNG Image for Free">
            <a:extLst>
              <a:ext uri="{FF2B5EF4-FFF2-40B4-BE49-F238E27FC236}">
                <a16:creationId xmlns:a16="http://schemas.microsoft.com/office/drawing/2014/main" id="{2AA32FC3-8C35-EA52-0168-298413D4E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523" y="2765728"/>
            <a:ext cx="1170263" cy="134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hlinkClick r:id="rId6"/>
            <a:extLst>
              <a:ext uri="{FF2B5EF4-FFF2-40B4-BE49-F238E27FC236}">
                <a16:creationId xmlns:a16="http://schemas.microsoft.com/office/drawing/2014/main" id="{B0D01A56-768A-120B-BEF4-9B632A5CBFB6}"/>
              </a:ext>
            </a:extLst>
          </p:cNvPr>
          <p:cNvSpPr/>
          <p:nvPr/>
        </p:nvSpPr>
        <p:spPr>
          <a:xfrm>
            <a:off x="7741361" y="4106718"/>
            <a:ext cx="3282588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hlinkClick r:id="rId6"/>
              </a:rPr>
              <a:t>MAC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hlinkClick r:id="rId6"/>
              </a:rPr>
              <a:t> 설치</a:t>
            </a:r>
            <a:endParaRPr lang="ko-KR" altLang="en-US" sz="9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970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개발환경 구성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1103577" y="2824968"/>
            <a:ext cx="5506678" cy="11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effectLst/>
              </a:rPr>
              <a:t>npm</a:t>
            </a:r>
            <a:r>
              <a:rPr lang="ko-KR" altLang="en-US" sz="1200" dirty="0">
                <a:effectLst/>
              </a:rPr>
              <a:t> 을 사용하여 </a:t>
            </a:r>
            <a:r>
              <a:rPr lang="en-US" altLang="ko-KR" sz="1200" dirty="0">
                <a:effectLst/>
              </a:rPr>
              <a:t>http-server</a:t>
            </a:r>
            <a:r>
              <a:rPr lang="ko-KR" altLang="en-US" sz="1200" dirty="0">
                <a:effectLst/>
              </a:rPr>
              <a:t> 설치</a:t>
            </a:r>
            <a:endParaRPr lang="en-US" altLang="ko-KR" sz="12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/>
              <a:t>Project </a:t>
            </a:r>
            <a:r>
              <a:rPr lang="ko-KR" altLang="en-US" sz="1200" dirty="0"/>
              <a:t>폴더 생성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 err="1"/>
              <a:t>index.html</a:t>
            </a:r>
            <a:r>
              <a:rPr lang="ko-KR" altLang="en-US" sz="1200" dirty="0"/>
              <a:t> 생성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http-server </a:t>
            </a:r>
            <a:r>
              <a:rPr lang="ko-KR" altLang="en-US" sz="1200" dirty="0"/>
              <a:t>실행</a:t>
            </a:r>
            <a:endParaRPr lang="en-US" altLang="ko-KR" sz="1200" dirty="0">
              <a:effectLst/>
            </a:endParaRPr>
          </a:p>
        </p:txBody>
      </p:sp>
      <p:sp>
        <p:nvSpPr>
          <p:cNvPr id="16" name="모서리가 둥근 직사각형 85">
            <a:extLst>
              <a:ext uri="{FF2B5EF4-FFF2-40B4-BE49-F238E27FC236}">
                <a16:creationId xmlns:a16="http://schemas.microsoft.com/office/drawing/2014/main" id="{1E46909D-38C5-F835-2E38-E81A920426D5}"/>
              </a:ext>
            </a:extLst>
          </p:cNvPr>
          <p:cNvSpPr/>
          <p:nvPr/>
        </p:nvSpPr>
        <p:spPr>
          <a:xfrm>
            <a:off x="1245188" y="5455146"/>
            <a:ext cx="9732093" cy="821713"/>
          </a:xfrm>
          <a:prstGeom prst="roundRect">
            <a:avLst>
              <a:gd name="adj" fmla="val 14131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08000" rIns="180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설치 후 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terminal, </a:t>
            </a:r>
            <a:r>
              <a:rPr lang="en-US" altLang="ko-KR" sz="1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cmd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에서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node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–v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로 정상설치 되었는지 확인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!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1978A37-9430-1EE1-27D4-7DD6728A3B46}"/>
              </a:ext>
            </a:extLst>
          </p:cNvPr>
          <p:cNvGrpSpPr/>
          <p:nvPr/>
        </p:nvGrpSpPr>
        <p:grpSpPr>
          <a:xfrm>
            <a:off x="1389108" y="5252216"/>
            <a:ext cx="832598" cy="342707"/>
            <a:chOff x="1389108" y="5252216"/>
            <a:chExt cx="832598" cy="342707"/>
          </a:xfrm>
          <a:solidFill>
            <a:srgbClr val="FC4C4C"/>
          </a:solidFill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DCBC95AA-155E-BFDE-7AED-C1B1DA59ED78}"/>
                </a:ext>
              </a:extLst>
            </p:cNvPr>
            <p:cNvSpPr/>
            <p:nvPr/>
          </p:nvSpPr>
          <p:spPr>
            <a:xfrm rot="10800000">
              <a:off x="1389108" y="5450881"/>
              <a:ext cx="180650" cy="144042"/>
            </a:xfrm>
            <a:custGeom>
              <a:avLst/>
              <a:gdLst>
                <a:gd name="connsiteX0" fmla="*/ 123069 w 204570"/>
                <a:gd name="connsiteY0" fmla="*/ 163115 h 163115"/>
                <a:gd name="connsiteX1" fmla="*/ 0 w 204570"/>
                <a:gd name="connsiteY1" fmla="*/ 163115 h 163115"/>
                <a:gd name="connsiteX2" fmla="*/ 11488 w 204570"/>
                <a:gd name="connsiteY2" fmla="*/ 126530 h 163115"/>
                <a:gd name="connsiteX3" fmla="*/ 204570 w 204570"/>
                <a:gd name="connsiteY3" fmla="*/ 0 h 163115"/>
                <a:gd name="connsiteX4" fmla="*/ 124201 w 204570"/>
                <a:gd name="connsiteY4" fmla="*/ 151314 h 163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570" h="163115">
                  <a:moveTo>
                    <a:pt x="123069" y="163115"/>
                  </a:moveTo>
                  <a:lnTo>
                    <a:pt x="0" y="163115"/>
                  </a:lnTo>
                  <a:lnTo>
                    <a:pt x="11488" y="126530"/>
                  </a:lnTo>
                  <a:cubicBezTo>
                    <a:pt x="43299" y="52174"/>
                    <a:pt x="117772" y="0"/>
                    <a:pt x="204570" y="0"/>
                  </a:cubicBezTo>
                  <a:cubicBezTo>
                    <a:pt x="161707" y="43124"/>
                    <a:pt x="134917" y="96000"/>
                    <a:pt x="124201" y="15131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 sz="1600">
                <a:solidFill>
                  <a:prstClr val="white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B0C37BA9-AB16-0185-E8CC-A8020B2F5713}"/>
                </a:ext>
              </a:extLst>
            </p:cNvPr>
            <p:cNvSpPr/>
            <p:nvPr/>
          </p:nvSpPr>
          <p:spPr>
            <a:xfrm>
              <a:off x="1458498" y="5252216"/>
              <a:ext cx="763208" cy="30695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prstClr val="white"/>
                  </a:solidFill>
                  <a:latin typeface="Tmon몬소리 Black" panose="02000A03000000000000" pitchFamily="2" charset="-127"/>
                  <a:ea typeface="Tmon몬소리 Black" panose="02000A03000000000000" pitchFamily="2" charset="-127"/>
                </a:rPr>
                <a:t>Check</a:t>
              </a:r>
              <a:endParaRPr lang="ko-KR" altLang="en-US" sz="1400" i="1" dirty="0"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endParaRPr>
            </a:p>
          </p:txBody>
        </p:sp>
      </p:grpSp>
      <p:pic>
        <p:nvPicPr>
          <p:cNvPr id="4098" name="Picture 2" descr="처음 시작하는 Node.js 개발 - 2 - npm | HEROPY">
            <a:extLst>
              <a:ext uri="{FF2B5EF4-FFF2-40B4-BE49-F238E27FC236}">
                <a16:creationId xmlns:a16="http://schemas.microsoft.com/office/drawing/2014/main" id="{737DE294-3997-4870-A6F8-4ED22253A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5" y="903807"/>
            <a:ext cx="4273025" cy="213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E78FF6E-37A4-20E1-E41E-86671F7F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505" y="1896491"/>
            <a:ext cx="77724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 err="1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Javascript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4627488" y="1265899"/>
            <a:ext cx="5506678" cy="610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sz="1200" dirty="0"/>
              <a:t>JavaScript</a:t>
            </a:r>
            <a:r>
              <a:rPr lang="ko-KR" altLang="en-US" sz="1200" dirty="0"/>
              <a:t>는 </a:t>
            </a:r>
            <a:r>
              <a:rPr lang="ko-KR" altLang="en-US" sz="1200" b="1" dirty="0"/>
              <a:t>웹 페이지를 동적으로 변경할 수 있는 프로그래밍 언어</a:t>
            </a:r>
            <a:r>
              <a:rPr lang="ko-KR" altLang="en-US" sz="1200" dirty="0"/>
              <a:t>이다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웹 페이지에 </a:t>
            </a:r>
            <a:r>
              <a:rPr lang="ko-KR" altLang="en-US" sz="1200" b="1" dirty="0"/>
              <a:t>애니메이션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이벤트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데이터 처리</a:t>
            </a:r>
            <a:r>
              <a:rPr lang="en-US" altLang="ko-KR" sz="1200" b="1" dirty="0"/>
              <a:t>, </a:t>
            </a:r>
            <a:r>
              <a:rPr lang="en" altLang="ko-KR" sz="1200" b="1" dirty="0"/>
              <a:t>API </a:t>
            </a:r>
            <a:r>
              <a:rPr lang="ko-KR" altLang="en-US" sz="1200" b="1" dirty="0"/>
              <a:t>호출</a:t>
            </a:r>
            <a:r>
              <a:rPr lang="ko-KR" altLang="en-US" sz="1200" dirty="0"/>
              <a:t> 등을 추가할 수 있다</a:t>
            </a:r>
            <a:r>
              <a:rPr lang="en-US" altLang="ko-KR" sz="1200" dirty="0"/>
              <a:t>.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999705" y="2634603"/>
            <a:ext cx="10027131" cy="3525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변수 선언방식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(var, let, const)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var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rgbClr val="000000"/>
                </a:solidFill>
                <a:effectLst/>
              </a:rPr>
              <a:t>함수 </a:t>
            </a: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스코프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var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로 선언된 변수는 함수 내부에서만 유효합니다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하지만 블록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(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if, for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등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)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내부에서는 무시됩니다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호이스팅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var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변수는 선언이 함수의 최상단으로 </a:t>
            </a:r>
            <a:r>
              <a:rPr lang="ko-KR" altLang="en-US" sz="1000" dirty="0" err="1">
                <a:solidFill>
                  <a:srgbClr val="000000"/>
                </a:solidFill>
                <a:effectLst/>
              </a:rPr>
              <a:t>끌어올려지기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 때문에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선언하기 전에 사용할 수 있습니다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다만 초기화가 이루어지기 전까지는 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undefined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값을 가집니다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재선언</a:t>
            </a:r>
            <a:r>
              <a:rPr lang="ko-KR" altLang="en-US" sz="1000" b="1" dirty="0">
                <a:solidFill>
                  <a:srgbClr val="000000"/>
                </a:solidFill>
                <a:effectLst/>
              </a:rPr>
              <a:t> 가능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같은 </a:t>
            </a:r>
            <a:r>
              <a:rPr lang="ko-KR" altLang="en-US" sz="1000" dirty="0" err="1">
                <a:solidFill>
                  <a:srgbClr val="000000"/>
                </a:solidFill>
                <a:effectLst/>
              </a:rPr>
              <a:t>스코프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 내에서 다시 선언할 수 있습니다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endParaRPr lang="en-US" altLang="ko-KR" sz="1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let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rgbClr val="000000"/>
                </a:solidFill>
                <a:effectLst/>
              </a:rPr>
              <a:t>블록 </a:t>
            </a: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스코프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let</a:t>
            </a:r>
            <a:r>
              <a:rPr lang="ko-KR" altLang="en-US" sz="1000" dirty="0" err="1">
                <a:solidFill>
                  <a:srgbClr val="000000"/>
                </a:solidFill>
                <a:effectLst/>
              </a:rPr>
              <a:t>으로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 선언된 변수는 블록 내부에서만 유효합니다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블록을 벗어나면 접근할 수 없습니다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호이스팅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let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변수도 </a:t>
            </a:r>
            <a:r>
              <a:rPr lang="ko-KR" altLang="en-US" sz="1000" dirty="0" err="1">
                <a:solidFill>
                  <a:srgbClr val="000000"/>
                </a:solidFill>
                <a:effectLst/>
              </a:rPr>
              <a:t>호이스팅되지만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선언하기 전에는 접근할 수 없습니다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재선언</a:t>
            </a:r>
            <a:r>
              <a:rPr lang="ko-KR" altLang="en-US" sz="1000" b="1" dirty="0">
                <a:solidFill>
                  <a:srgbClr val="000000"/>
                </a:solidFill>
                <a:effectLst/>
              </a:rPr>
              <a:t> 불가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같은 </a:t>
            </a:r>
            <a:r>
              <a:rPr lang="ko-KR" altLang="en-US" sz="1000" dirty="0" err="1">
                <a:solidFill>
                  <a:srgbClr val="000000"/>
                </a:solidFill>
                <a:effectLst/>
              </a:rPr>
              <a:t>스코프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 내에서 다시 선언할 수 없습니다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endParaRPr lang="en-US" altLang="ko-KR" sz="1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Const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rgbClr val="000000"/>
                </a:solidFill>
                <a:effectLst/>
              </a:rPr>
              <a:t>블록 </a:t>
            </a: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스코프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const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도 블록 내부에서만 유효합니다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호이스팅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const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변수도 </a:t>
            </a:r>
            <a:r>
              <a:rPr lang="ko-KR" altLang="en-US" sz="1000" dirty="0" err="1">
                <a:solidFill>
                  <a:srgbClr val="000000"/>
                </a:solidFill>
                <a:effectLst/>
              </a:rPr>
              <a:t>호이스팅되지만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선언하기 전에는 접근할 수 없습니다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solidFill>
                  <a:srgbClr val="000000"/>
                </a:solidFill>
                <a:effectLst/>
              </a:rPr>
              <a:t>재선언</a:t>
            </a:r>
            <a:r>
              <a:rPr lang="ko-KR" altLang="en-US" sz="1000" b="1" dirty="0">
                <a:solidFill>
                  <a:srgbClr val="000000"/>
                </a:solidFill>
                <a:effectLst/>
              </a:rPr>
              <a:t> 불가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같은 </a:t>
            </a:r>
            <a:r>
              <a:rPr lang="ko-KR" altLang="en-US" sz="1000" dirty="0" err="1">
                <a:solidFill>
                  <a:srgbClr val="000000"/>
                </a:solidFill>
                <a:effectLst/>
              </a:rPr>
              <a:t>스코프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 내에서 다시 선언할 수 없습니다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rgbClr val="000000"/>
                </a:solidFill>
                <a:effectLst/>
              </a:rPr>
              <a:t>값 변경 불가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: </a:t>
            </a:r>
            <a:r>
              <a:rPr lang="en" altLang="ko-KR" sz="1000" dirty="0">
                <a:solidFill>
                  <a:srgbClr val="000000"/>
                </a:solidFill>
                <a:effectLst/>
              </a:rPr>
              <a:t>const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변수는 선언과 동시에 초기화되어야 하며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이후에는 값을 변경할 수 없습니다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단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effectLst/>
              </a:rPr>
              <a:t>객체나 배열의 경우 내부 속성이나 요소는 변경할 수 있습니다</a:t>
            </a:r>
            <a:r>
              <a:rPr lang="en-US" altLang="ko-KR" sz="1000" dirty="0">
                <a:solidFill>
                  <a:srgbClr val="000000"/>
                </a:solidFill>
                <a:effectLst/>
              </a:rPr>
              <a:t>.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1026" name="Picture 2" descr="WONISM | JavaScript Generator 이해하기">
            <a:extLst>
              <a:ext uri="{FF2B5EF4-FFF2-40B4-BE49-F238E27FC236}">
                <a16:creationId xmlns:a16="http://schemas.microsoft.com/office/drawing/2014/main" id="{D0F85AB2-67A8-D81B-CB63-8E8A97991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705" y="1050668"/>
            <a:ext cx="2601307" cy="146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자유형 80">
            <a:extLst>
              <a:ext uri="{FF2B5EF4-FFF2-40B4-BE49-F238E27FC236}">
                <a16:creationId xmlns:a16="http://schemas.microsoft.com/office/drawing/2014/main" id="{1EAEB1AE-5571-5F9D-9450-EAF6A41A90B5}"/>
              </a:ext>
            </a:extLst>
          </p:cNvPr>
          <p:cNvSpPr/>
          <p:nvPr/>
        </p:nvSpPr>
        <p:spPr>
          <a:xfrm>
            <a:off x="2961862" y="1610139"/>
            <a:ext cx="1540564" cy="188844"/>
          </a:xfrm>
          <a:custGeom>
            <a:avLst/>
            <a:gdLst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11574 w 1921397"/>
              <a:gd name="connsiteY2" fmla="*/ 1759351 h 1759351"/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8399 w 1921397"/>
              <a:gd name="connsiteY2" fmla="*/ 1759351 h 17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397" h="1759351">
                <a:moveTo>
                  <a:pt x="1921397" y="0"/>
                </a:moveTo>
                <a:lnTo>
                  <a:pt x="0" y="1307939"/>
                </a:lnTo>
                <a:lnTo>
                  <a:pt x="8399" y="1759351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30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 err="1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Javascript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1105947" y="1009650"/>
            <a:ext cx="10027131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연산자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AAD2E0-3C52-5752-287E-CEA60BF05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75" y="693043"/>
            <a:ext cx="7772400" cy="632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94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 err="1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Javascript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1082434" y="1045541"/>
            <a:ext cx="10027131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반복문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7DA540-4DE9-B18E-896E-F74BFDCF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12" y="1032133"/>
            <a:ext cx="9683583" cy="293995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DD4654D-A1C1-0204-F3E6-CEB2CE24EC1F}"/>
              </a:ext>
            </a:extLst>
          </p:cNvPr>
          <p:cNvSpPr/>
          <p:nvPr/>
        </p:nvSpPr>
        <p:spPr>
          <a:xfrm>
            <a:off x="1105947" y="3887974"/>
            <a:ext cx="10027131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배열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905BF6-ACBC-5012-4AE4-82E4224F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63" y="3856289"/>
            <a:ext cx="9602080" cy="2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4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 err="1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Javascript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37EBE6BE-E071-5BC9-57E2-8D9CBB38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83" y="975261"/>
            <a:ext cx="9567542" cy="2592918"/>
          </a:xfrm>
          <a:prstGeom prst="rect">
            <a:avLst/>
          </a:prstGeom>
        </p:spPr>
      </p:pic>
      <p:sp>
        <p:nvSpPr>
          <p:cNvPr id="7" name="자유형: 도형 16">
            <a:extLst>
              <a:ext uri="{FF2B5EF4-FFF2-40B4-BE49-F238E27FC236}">
                <a16:creationId xmlns:a16="http://schemas.microsoft.com/office/drawing/2014/main" id="{47B5AC19-EA9C-E9A7-D1C8-8AC9A87D7427}"/>
              </a:ext>
            </a:extLst>
          </p:cNvPr>
          <p:cNvSpPr/>
          <p:nvPr/>
        </p:nvSpPr>
        <p:spPr>
          <a:xfrm>
            <a:off x="1082959" y="751970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826FA3-CC33-08AF-D3C3-F980834857E1}"/>
              </a:ext>
            </a:extLst>
          </p:cNvPr>
          <p:cNvSpPr/>
          <p:nvPr/>
        </p:nvSpPr>
        <p:spPr>
          <a:xfrm>
            <a:off x="1058922" y="975261"/>
            <a:ext cx="10027131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함수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28C1544-667C-C1B0-AA15-A3C9029F5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83" y="3524334"/>
            <a:ext cx="9748533" cy="280082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FD869FF-D1C8-4D62-F249-B52BD204B0D9}"/>
              </a:ext>
            </a:extLst>
          </p:cNvPr>
          <p:cNvSpPr/>
          <p:nvPr/>
        </p:nvSpPr>
        <p:spPr>
          <a:xfrm>
            <a:off x="1105947" y="3524334"/>
            <a:ext cx="10027131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객체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792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 err="1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Javascript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자유형: 도형 16">
            <a:extLst>
              <a:ext uri="{FF2B5EF4-FFF2-40B4-BE49-F238E27FC236}">
                <a16:creationId xmlns:a16="http://schemas.microsoft.com/office/drawing/2014/main" id="{47B5AC19-EA9C-E9A7-D1C8-8AC9A87D7427}"/>
              </a:ext>
            </a:extLst>
          </p:cNvPr>
          <p:cNvSpPr/>
          <p:nvPr/>
        </p:nvSpPr>
        <p:spPr>
          <a:xfrm>
            <a:off x="1082959" y="751970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826FA3-CC33-08AF-D3C3-F980834857E1}"/>
              </a:ext>
            </a:extLst>
          </p:cNvPr>
          <p:cNvSpPr/>
          <p:nvPr/>
        </p:nvSpPr>
        <p:spPr>
          <a:xfrm>
            <a:off x="1058922" y="975261"/>
            <a:ext cx="10027131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Promise</a:t>
            </a:r>
          </a:p>
          <a:p>
            <a:pPr algn="l"/>
            <a:r>
              <a:rPr lang="en" altLang="ko-KR" sz="1000" b="0" i="0" dirty="0">
                <a:solidFill>
                  <a:srgbClr val="505860"/>
                </a:solidFill>
                <a:effectLst/>
              </a:rPr>
              <a:t>Promise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는 자바스크립트 </a:t>
            </a:r>
            <a:r>
              <a:rPr lang="en" altLang="ko-KR" sz="1000" b="0" i="0" dirty="0">
                <a:solidFill>
                  <a:srgbClr val="505860"/>
                </a:solidFill>
                <a:effectLst/>
              </a:rPr>
              <a:t>ES6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에 도입된 비동기 작업을 쉽게 처리할 수 있는 객체입니다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. </a:t>
            </a:r>
          </a:p>
          <a:p>
            <a:pPr algn="l"/>
            <a:r>
              <a:rPr lang="en" altLang="ko-KR" sz="1000" b="0" i="0" dirty="0">
                <a:solidFill>
                  <a:srgbClr val="505860"/>
                </a:solidFill>
                <a:effectLst/>
              </a:rPr>
              <a:t>Promise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는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 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비동기 작업의 최종 완료 또는 실패를 나타내는 객체로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, 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비동기 작업의 성공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, 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실패 및 결과값을 쉽게 관리할 수 있습니다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B7251A-EB68-06E2-62E0-7EE389E09069}"/>
              </a:ext>
            </a:extLst>
          </p:cNvPr>
          <p:cNvSpPr/>
          <p:nvPr/>
        </p:nvSpPr>
        <p:spPr>
          <a:xfrm>
            <a:off x="1082959" y="3676623"/>
            <a:ext cx="10027131" cy="1078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Async &amp; Await</a:t>
            </a:r>
          </a:p>
          <a:p>
            <a:pPr>
              <a:lnSpc>
                <a:spcPct val="150000"/>
              </a:lnSpc>
            </a:pPr>
            <a:r>
              <a:rPr lang="en" altLang="ko-KR" sz="1000" b="0" i="0" dirty="0">
                <a:solidFill>
                  <a:srgbClr val="505860"/>
                </a:solidFill>
                <a:effectLst/>
              </a:rPr>
              <a:t>`async/await`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는 자바스크립트 </a:t>
            </a:r>
            <a:r>
              <a:rPr lang="en" altLang="ko-KR" sz="1000" b="0" i="0" dirty="0">
                <a:solidFill>
                  <a:srgbClr val="505860"/>
                </a:solidFill>
                <a:effectLst/>
              </a:rPr>
              <a:t>ES8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에 도입된 비동기 작업을 더욱 쉽게 처리할 수 있는 구문입니다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이 구문을 사용하면 비동기 코드를 동기 코드처럼 읽고 작성할 수 있어 개발자의 작업을 크게 단순화합니다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왜냐하면 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`</a:t>
            </a:r>
            <a:r>
              <a:rPr lang="en" altLang="ko-KR" sz="1000" b="0" i="0" dirty="0">
                <a:solidFill>
                  <a:srgbClr val="505860"/>
                </a:solidFill>
                <a:effectLst/>
              </a:rPr>
              <a:t>async` 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함수는 항상 </a:t>
            </a:r>
            <a:r>
              <a:rPr lang="en" altLang="ko-KR" sz="1000" b="0" i="0" dirty="0">
                <a:solidFill>
                  <a:srgbClr val="505860"/>
                </a:solidFill>
                <a:effectLst/>
              </a:rPr>
              <a:t>Promise</a:t>
            </a:r>
            <a:r>
              <a:rPr lang="ko-KR" altLang="en-US" sz="1000" b="0" i="0" dirty="0" err="1">
                <a:solidFill>
                  <a:srgbClr val="505860"/>
                </a:solidFill>
                <a:effectLst/>
              </a:rPr>
              <a:t>를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 반환하며</a:t>
            </a:r>
            <a:r>
              <a:rPr lang="en-US" altLang="ko-KR" sz="1000" b="0" i="0" dirty="0">
                <a:solidFill>
                  <a:srgbClr val="505860"/>
                </a:solidFill>
                <a:effectLst/>
              </a:rPr>
              <a:t>, `</a:t>
            </a:r>
            <a:r>
              <a:rPr lang="en" altLang="ko-KR" sz="1000" b="0" i="0" dirty="0">
                <a:solidFill>
                  <a:srgbClr val="505860"/>
                </a:solidFill>
                <a:effectLst/>
              </a:rPr>
              <a:t>await` 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키워드는 </a:t>
            </a:r>
            <a:r>
              <a:rPr lang="en" altLang="ko-KR" sz="1000" b="0" i="0" dirty="0">
                <a:solidFill>
                  <a:srgbClr val="505860"/>
                </a:solidFill>
                <a:effectLst/>
              </a:rPr>
              <a:t>Promise</a:t>
            </a:r>
            <a:r>
              <a:rPr lang="ko-KR" altLang="en-US" sz="1000" b="0" i="0" dirty="0">
                <a:solidFill>
                  <a:srgbClr val="505860"/>
                </a:solidFill>
                <a:effectLst/>
              </a:rPr>
              <a:t>의 해결을 기다리는 동안 함수의 실행을 일시 중지하기 때문입니다</a:t>
            </a:r>
            <a:endParaRPr lang="en-US" altLang="ko-KR" sz="10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0612990-20EE-2054-DC30-FD9231608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65" y="1380391"/>
            <a:ext cx="7103165" cy="23819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C9512C-2DDF-B193-D2E9-475DCF00A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65" y="4421927"/>
            <a:ext cx="6954078" cy="233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68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 err="1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Javascript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자유형: 도형 16">
            <a:extLst>
              <a:ext uri="{FF2B5EF4-FFF2-40B4-BE49-F238E27FC236}">
                <a16:creationId xmlns:a16="http://schemas.microsoft.com/office/drawing/2014/main" id="{47B5AC19-EA9C-E9A7-D1C8-8AC9A87D7427}"/>
              </a:ext>
            </a:extLst>
          </p:cNvPr>
          <p:cNvSpPr/>
          <p:nvPr/>
        </p:nvSpPr>
        <p:spPr>
          <a:xfrm>
            <a:off x="1082959" y="751970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826FA3-CC33-08AF-D3C3-F980834857E1}"/>
              </a:ext>
            </a:extLst>
          </p:cNvPr>
          <p:cNvSpPr/>
          <p:nvPr/>
        </p:nvSpPr>
        <p:spPr>
          <a:xfrm>
            <a:off x="1058922" y="975261"/>
            <a:ext cx="10027131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DOM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조작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l"/>
            <a:r>
              <a:rPr lang="en" altLang="ko-KR" sz="1000" dirty="0"/>
              <a:t>DOM (Document Object Model) </a:t>
            </a:r>
            <a:r>
              <a:rPr lang="ko-KR" altLang="en-US" sz="1000" dirty="0"/>
              <a:t>은 </a:t>
            </a:r>
            <a:r>
              <a:rPr lang="en" altLang="ko-KR" sz="1000" dirty="0"/>
              <a:t>HTML </a:t>
            </a:r>
            <a:r>
              <a:rPr lang="ko-KR" altLang="en-US" sz="1000" dirty="0"/>
              <a:t>문서를 트리 구조로 표현한 객체 모델입니다</a:t>
            </a:r>
            <a:r>
              <a:rPr lang="en-US" altLang="ko-KR" sz="1000" dirty="0"/>
              <a:t>. </a:t>
            </a:r>
            <a:r>
              <a:rPr lang="en" altLang="ko-KR" sz="1000" dirty="0"/>
              <a:t>JavaScript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이용해 </a:t>
            </a:r>
            <a:r>
              <a:rPr lang="en" altLang="ko-KR" sz="1000" dirty="0"/>
              <a:t>HTML </a:t>
            </a:r>
            <a:r>
              <a:rPr lang="ko-KR" altLang="en-US" sz="1000" dirty="0"/>
              <a:t>요소를 조작</a:t>
            </a:r>
            <a:r>
              <a:rPr lang="en-US" altLang="ko-KR" sz="1000" dirty="0"/>
              <a:t>, </a:t>
            </a:r>
            <a:r>
              <a:rPr lang="ko-KR" altLang="en-US" sz="1000" dirty="0"/>
              <a:t>추가</a:t>
            </a:r>
            <a:r>
              <a:rPr lang="en-US" altLang="ko-KR" sz="1000" dirty="0"/>
              <a:t>, </a:t>
            </a:r>
            <a:r>
              <a:rPr lang="ko-KR" altLang="en-US" sz="1000" dirty="0"/>
              <a:t>삭제</a:t>
            </a:r>
            <a:r>
              <a:rPr lang="en-US" altLang="ko-KR" sz="1000" dirty="0"/>
              <a:t>, </a:t>
            </a:r>
            <a:r>
              <a:rPr lang="ko-KR" altLang="en-US" sz="1000" dirty="0"/>
              <a:t>수정할 수 있습니다</a:t>
            </a:r>
            <a:r>
              <a:rPr lang="en-US" altLang="ko-KR" sz="1000" dirty="0"/>
              <a:t>.</a:t>
            </a:r>
            <a:endParaRPr lang="en-US" altLang="ko-KR" sz="1000" i="0" dirty="0">
              <a:solidFill>
                <a:srgbClr val="505860"/>
              </a:solidFill>
              <a:effectLst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752305-64FB-3D5F-CC91-BB0DF8AA4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91" y="1687746"/>
            <a:ext cx="5539409" cy="19183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6925FE-E59C-A6A4-89B2-ADE0CF15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48" y="3500184"/>
            <a:ext cx="7772400" cy="285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76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33B85-175F-E61B-F860-0052C8A0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A483C9-BD86-DB32-6F98-03765D73BE24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21B02F6-130A-75E2-C0B9-3638AF5BF886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87DEE5C-427C-DE0C-598E-E2DAA4842877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3580CB9-3EDB-7750-0D15-D458B7FF158F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자유형: 도형 1">
            <a:extLst>
              <a:ext uri="{FF2B5EF4-FFF2-40B4-BE49-F238E27FC236}">
                <a16:creationId xmlns:a16="http://schemas.microsoft.com/office/drawing/2014/main" id="{3ED134D5-8FC7-2CFB-FEA3-5956220A9FE9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실습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FF554F-3A8F-E636-9E00-8FDD75E665F9}"/>
              </a:ext>
            </a:extLst>
          </p:cNvPr>
          <p:cNvSpPr/>
          <p:nvPr/>
        </p:nvSpPr>
        <p:spPr>
          <a:xfrm>
            <a:off x="1082434" y="1116393"/>
            <a:ext cx="10027131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휴대폰번호 조회하기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</a:t>
            </a:r>
            <a:r>
              <a: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조건</a:t>
            </a:r>
            <a:r>
              <a:rPr lang="en-US" altLang="ko-KR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]</a:t>
            </a:r>
          </a:p>
          <a:p>
            <a:pPr marL="228600" indent="-228600" algn="l">
              <a:buAutoNum type="arabicPeriod"/>
            </a:pPr>
            <a:r>
              <a:rPr lang="ko-KR" altLang="en-US" sz="1200" dirty="0"/>
              <a:t>전화번호를 </a:t>
            </a:r>
            <a:r>
              <a:rPr lang="en-US" altLang="ko-KR" sz="1200" dirty="0"/>
              <a:t>10</a:t>
            </a:r>
            <a:r>
              <a:rPr lang="ko-KR" altLang="en-US" sz="1200" dirty="0"/>
              <a:t>자리 이상 입력 시 버튼 활성화</a:t>
            </a:r>
            <a:endParaRPr lang="en-US" altLang="ko-KR" sz="1200" dirty="0"/>
          </a:p>
          <a:p>
            <a:pPr marL="228600" indent="-228600">
              <a:buFontTx/>
              <a:buAutoNum type="arabicPeriod"/>
            </a:pPr>
            <a:r>
              <a:rPr lang="ko-KR" altLang="en-US" sz="1200" dirty="0"/>
              <a:t>조회 클릭 시 </a:t>
            </a:r>
            <a:r>
              <a:rPr lang="en-US" altLang="ko-KR" sz="1200" dirty="0"/>
              <a:t>fetch</a:t>
            </a:r>
            <a:r>
              <a:rPr lang="en-US" altLang="ko-KR" sz="1200" b="1" dirty="0"/>
              <a:t>(</a:t>
            </a:r>
            <a:r>
              <a:rPr lang="en" altLang="ko-KR" sz="1200" b="1" dirty="0">
                <a:effectLst/>
              </a:rPr>
              <a:t>http://localhost:8080/</a:t>
            </a:r>
            <a:r>
              <a:rPr lang="en" altLang="ko-KR" sz="1200" b="1" dirty="0" err="1">
                <a:effectLst/>
              </a:rPr>
              <a:t>javascript</a:t>
            </a:r>
            <a:r>
              <a:rPr lang="en" altLang="ko-KR" sz="1200" b="1" dirty="0">
                <a:effectLst/>
              </a:rPr>
              <a:t>/</a:t>
            </a:r>
            <a:r>
              <a:rPr lang="en" altLang="ko-KR" sz="1200" b="1" dirty="0" err="1">
                <a:effectLst/>
              </a:rPr>
              <a:t>phoneNumber</a:t>
            </a:r>
            <a:r>
              <a:rPr lang="en" altLang="ko-KR" sz="1200" b="1" dirty="0">
                <a:effectLst/>
              </a:rPr>
              <a:t>/verify</a:t>
            </a:r>
            <a:r>
              <a:rPr lang="en-US" altLang="ko-KR" sz="1200" b="1" dirty="0"/>
              <a:t>)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활용해 전화번호 검증</a:t>
            </a:r>
            <a:endParaRPr lang="en-US" altLang="ko-KR" sz="1200" dirty="0"/>
          </a:p>
          <a:p>
            <a:pPr marL="228600" indent="-228600" algn="l">
              <a:buAutoNum type="arabicPeriod"/>
            </a:pPr>
            <a:r>
              <a:rPr lang="en-US" altLang="ko-KR" sz="1200" dirty="0" err="1"/>
              <a:t>Resopnse</a:t>
            </a:r>
            <a:r>
              <a:rPr lang="en-US" altLang="ko-KR" sz="1200" dirty="0"/>
              <a:t> Status</a:t>
            </a:r>
            <a:r>
              <a:rPr lang="ko-KR" altLang="en-US" sz="1200" dirty="0"/>
              <a:t>가 </a:t>
            </a:r>
            <a:r>
              <a:rPr lang="en-US" altLang="ko-KR" sz="1200" dirty="0"/>
              <a:t>200</a:t>
            </a:r>
            <a:r>
              <a:rPr lang="ko-KR" altLang="en-US" sz="1200" dirty="0"/>
              <a:t>일 경우 </a:t>
            </a:r>
            <a:r>
              <a:rPr lang="en-US" altLang="ko-KR" sz="1200" dirty="0"/>
              <a:t>data</a:t>
            </a:r>
            <a:r>
              <a:rPr lang="ko-KR" altLang="en-US" sz="1200" dirty="0"/>
              <a:t>값을 </a:t>
            </a:r>
            <a:r>
              <a:rPr lang="en-US" altLang="ko-KR" sz="1200" dirty="0"/>
              <a:t>&lt;span id=‘result’&gt;&lt;/span&gt;</a:t>
            </a:r>
            <a:r>
              <a:rPr lang="ko-KR" altLang="en-US" sz="1200" dirty="0"/>
              <a:t>에 출력</a:t>
            </a:r>
            <a:endParaRPr lang="en-US" altLang="ko-KR" sz="1200" dirty="0"/>
          </a:p>
          <a:p>
            <a:pPr marL="228600" indent="-228600" algn="l">
              <a:buAutoNum type="arabicPeriod"/>
            </a:pPr>
            <a:r>
              <a:rPr lang="en-US" altLang="ko-KR" sz="1200" dirty="0"/>
              <a:t>response body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</a:t>
            </a:r>
            <a:r>
              <a:rPr lang="en-US" altLang="ko-KR" sz="1200" dirty="0" err="1"/>
              <a:t>response.json</a:t>
            </a:r>
            <a:r>
              <a:rPr lang="en-US" altLang="ko-KR" sz="1200" dirty="0"/>
              <a:t>()</a:t>
            </a:r>
            <a:r>
              <a:rPr lang="ko-KR" altLang="en-US" sz="1200" dirty="0"/>
              <a:t>로 받으면 됨</a:t>
            </a:r>
            <a:endParaRPr lang="en-US" altLang="ko-KR" sz="1200" dirty="0"/>
          </a:p>
          <a:p>
            <a:pPr algn="l"/>
            <a:endParaRPr lang="en-US" altLang="ko-KR" sz="1200" i="0" dirty="0">
              <a:effectLst/>
            </a:endParaRPr>
          </a:p>
          <a:p>
            <a:pPr algn="l"/>
            <a:r>
              <a:rPr lang="en-US" altLang="ko-KR" sz="1200" i="0" dirty="0">
                <a:effectLst/>
              </a:rPr>
              <a:t>Response Data</a:t>
            </a:r>
            <a:r>
              <a:rPr lang="ko-KR" altLang="en-US" sz="1200" i="0" dirty="0">
                <a:effectLst/>
              </a:rPr>
              <a:t> 구조</a:t>
            </a:r>
            <a:endParaRPr lang="en-US" altLang="ko-KR" sz="1200" i="0" dirty="0">
              <a:effectLst/>
            </a:endParaRPr>
          </a:p>
          <a:p>
            <a:pPr algn="l"/>
            <a:endParaRPr lang="en-US" altLang="ko-KR" sz="1200" dirty="0"/>
          </a:p>
          <a:p>
            <a:pPr algn="l"/>
            <a:r>
              <a:rPr lang="en-US" altLang="ko-KR" sz="1200" i="0" dirty="0">
                <a:effectLst/>
              </a:rPr>
              <a:t>{</a:t>
            </a:r>
          </a:p>
          <a:p>
            <a:pPr algn="l"/>
            <a:r>
              <a:rPr lang="en-US" altLang="ko-KR" sz="1200" i="0" dirty="0">
                <a:effectLst/>
              </a:rPr>
              <a:t>    status: 200,</a:t>
            </a:r>
          </a:p>
          <a:p>
            <a:pPr algn="l"/>
            <a:r>
              <a:rPr lang="en-US" altLang="ko-KR" sz="1200" dirty="0"/>
              <a:t>    data: true or false</a:t>
            </a:r>
          </a:p>
          <a:p>
            <a:pPr algn="l"/>
            <a:r>
              <a:rPr lang="en-US" altLang="ko-KR" sz="1200" dirty="0"/>
              <a:t>}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D5D814D-CC38-DD95-9AAB-6042C2F8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799" y="4182090"/>
            <a:ext cx="52324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15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33B85-175F-E61B-F860-0052C8A0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42C1BED-1264-35F6-9C69-BD11F85BF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009" y="1197868"/>
            <a:ext cx="5002696" cy="2382871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A483C9-BD86-DB32-6F98-03765D73BE24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21B02F6-130A-75E2-C0B9-3638AF5BF886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87DEE5C-427C-DE0C-598E-E2DAA4842877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3580CB9-3EDB-7750-0D15-D458B7FF158F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자유형: 도형 1">
            <a:extLst>
              <a:ext uri="{FF2B5EF4-FFF2-40B4-BE49-F238E27FC236}">
                <a16:creationId xmlns:a16="http://schemas.microsoft.com/office/drawing/2014/main" id="{3ED134D5-8FC7-2CFB-FEA3-5956220A9FE9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실습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FF554F-3A8F-E636-9E00-8FDD75E665F9}"/>
              </a:ext>
            </a:extLst>
          </p:cNvPr>
          <p:cNvSpPr/>
          <p:nvPr/>
        </p:nvSpPr>
        <p:spPr>
          <a:xfrm>
            <a:off x="1082434" y="1116393"/>
            <a:ext cx="10027131" cy="346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2.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테이블 그리기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</a:t>
            </a:r>
            <a:r>
              <a: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조건</a:t>
            </a:r>
            <a:r>
              <a:rPr lang="en-US" altLang="ko-KR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]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테이블 데이터 조회</a:t>
            </a:r>
            <a:r>
              <a:rPr lang="en-US" altLang="ko-KR" sz="1200" b="1" dirty="0"/>
              <a:t>(</a:t>
            </a:r>
            <a:r>
              <a:rPr lang="en" altLang="ko-KR" sz="1200" b="1" dirty="0">
                <a:effectLst/>
                <a:hlinkClick r:id="rId3"/>
              </a:rPr>
              <a:t>http://localhost:8080/javascript/table/data</a:t>
            </a:r>
            <a:r>
              <a:rPr lang="en" altLang="ko-KR" sz="1200" b="1" dirty="0">
                <a:effectLst/>
              </a:rPr>
              <a:t>)</a:t>
            </a:r>
          </a:p>
          <a:p>
            <a:r>
              <a:rPr lang="ko-KR" altLang="en-US" sz="1200" dirty="0"/>
              <a:t>데이터는 </a:t>
            </a:r>
            <a:r>
              <a:rPr lang="en-US" altLang="ko-KR" sz="1200" dirty="0"/>
              <a:t>50~100</a:t>
            </a:r>
            <a:r>
              <a:rPr lang="ko-KR" altLang="en-US" sz="1200" dirty="0"/>
              <a:t>건이고 아래 구조로 전달된다</a:t>
            </a:r>
            <a:r>
              <a:rPr lang="en-US" altLang="ko-KR" sz="1200" dirty="0"/>
              <a:t>.</a:t>
            </a:r>
            <a:endParaRPr lang="en" altLang="ko-KR" sz="1200" dirty="0">
              <a:effectLst/>
            </a:endParaRPr>
          </a:p>
          <a:p>
            <a:r>
              <a:rPr lang="en" altLang="ko-KR" sz="1200" dirty="0" err="1"/>
              <a:t>Respone</a:t>
            </a:r>
            <a:r>
              <a:rPr lang="en" altLang="ko-KR" sz="1200" dirty="0"/>
              <a:t> Data</a:t>
            </a:r>
            <a:r>
              <a:rPr lang="ko-KR" altLang="en-US" sz="1200" dirty="0"/>
              <a:t> 구조</a:t>
            </a:r>
            <a:endParaRPr lang="en-US" altLang="ko-KR" sz="1200" dirty="0"/>
          </a:p>
          <a:p>
            <a:r>
              <a:rPr lang="en-US" altLang="ko-KR" sz="1200" dirty="0"/>
              <a:t>[</a:t>
            </a:r>
          </a:p>
          <a:p>
            <a:r>
              <a:rPr lang="en-US" altLang="ko-KR" sz="1200" dirty="0"/>
              <a:t>    {</a:t>
            </a:r>
          </a:p>
          <a:p>
            <a:r>
              <a:rPr lang="en-US" altLang="ko-KR" sz="1200" dirty="0"/>
              <a:t>        name: string,</a:t>
            </a:r>
          </a:p>
          <a:p>
            <a:r>
              <a:rPr lang="en-US" altLang="ko-KR" sz="1200" dirty="0"/>
              <a:t>        age: number,</a:t>
            </a:r>
          </a:p>
          <a:p>
            <a:r>
              <a:rPr lang="en-US" altLang="ko-KR" sz="1200" dirty="0"/>
              <a:t>        gender: number //</a:t>
            </a:r>
            <a:r>
              <a:rPr lang="ko-KR" altLang="en-US" sz="1200" dirty="0"/>
              <a:t> </a:t>
            </a:r>
            <a:r>
              <a:rPr lang="en-US" altLang="ko-KR" sz="1200" dirty="0"/>
              <a:t>0: </a:t>
            </a:r>
            <a:r>
              <a:rPr lang="ko-KR" altLang="en-US" sz="1200" dirty="0"/>
              <a:t>남성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1:</a:t>
            </a:r>
            <a:r>
              <a:rPr lang="ko-KR" altLang="en-US" sz="1200" dirty="0"/>
              <a:t> 여성</a:t>
            </a:r>
            <a:endParaRPr lang="en-US" altLang="ko-KR" sz="1200" dirty="0"/>
          </a:p>
          <a:p>
            <a:r>
              <a:rPr lang="en-US" altLang="ko-KR" sz="1200" dirty="0"/>
              <a:t>    },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/>
              <a:t>…</a:t>
            </a:r>
          </a:p>
          <a:p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2.</a:t>
            </a:r>
            <a:r>
              <a:rPr lang="ko-KR" altLang="en-US" sz="1200" dirty="0"/>
              <a:t> 호출된 데이터로 테이블 그리기</a:t>
            </a:r>
            <a:endParaRPr lang="en-US" altLang="ko-KR" sz="1200" dirty="0"/>
          </a:p>
          <a:p>
            <a:r>
              <a:rPr lang="en-US" altLang="ko-KR" sz="1200" dirty="0"/>
              <a:t>3.</a:t>
            </a:r>
            <a:r>
              <a:rPr lang="ko-KR" altLang="en-US" sz="1200" dirty="0"/>
              <a:t> </a:t>
            </a:r>
            <a:r>
              <a:rPr lang="en-US" altLang="ko-KR" sz="1200" dirty="0"/>
              <a:t>Paging </a:t>
            </a:r>
            <a:r>
              <a:rPr lang="ko-KR" altLang="en-US" sz="1200" dirty="0"/>
              <a:t>처리 </a:t>
            </a:r>
            <a:r>
              <a:rPr lang="en-US" altLang="ko-KR" sz="1200" dirty="0"/>
              <a:t>(1)</a:t>
            </a:r>
            <a:r>
              <a:rPr lang="ko-KR" altLang="en-US" sz="1200" dirty="0"/>
              <a:t> 전체보기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(2)</a:t>
            </a:r>
            <a:r>
              <a:rPr lang="ko-KR" altLang="en-US" sz="1200" dirty="0"/>
              <a:t> </a:t>
            </a:r>
            <a:r>
              <a:rPr lang="en-US" altLang="ko-KR" sz="1200" dirty="0"/>
              <a:t>10</a:t>
            </a:r>
            <a:r>
              <a:rPr lang="ko-KR" altLang="en-US" sz="1200" dirty="0"/>
              <a:t>개씩 보기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(3)</a:t>
            </a:r>
            <a:r>
              <a:rPr lang="ko-KR" altLang="en-US" sz="1200" dirty="0"/>
              <a:t> </a:t>
            </a:r>
            <a:r>
              <a:rPr lang="en-US" altLang="ko-KR" sz="1200" dirty="0"/>
              <a:t>20</a:t>
            </a:r>
            <a:r>
              <a:rPr lang="ko-KR" altLang="en-US" sz="1200" dirty="0"/>
              <a:t>개씩 보기</a:t>
            </a:r>
            <a:endParaRPr lang="en-US" altLang="ko-KR" sz="1200" dirty="0"/>
          </a:p>
          <a:p>
            <a:r>
              <a:rPr lang="en-US" altLang="ko-KR" sz="1200" dirty="0"/>
              <a:t>4.</a:t>
            </a:r>
            <a:r>
              <a:rPr lang="ko-KR" altLang="en-US" sz="1200" dirty="0"/>
              <a:t> 남성 </a:t>
            </a:r>
            <a:r>
              <a:rPr lang="en-US" altLang="ko-KR" sz="1200" dirty="0"/>
              <a:t>/</a:t>
            </a:r>
            <a:r>
              <a:rPr lang="ko-KR" altLang="en-US" sz="1200" dirty="0"/>
              <a:t> 여성 비율 출력</a:t>
            </a:r>
            <a:r>
              <a:rPr lang="en-US" altLang="ko-KR" sz="1200" dirty="0"/>
              <a:t>(</a:t>
            </a:r>
            <a:r>
              <a:rPr lang="ko-KR" altLang="en-US" sz="1200" dirty="0"/>
              <a:t>셋째자리에서 반올림 후 백분율로 출력 </a:t>
            </a:r>
            <a:r>
              <a:rPr lang="en-US" altLang="ko-KR" sz="1200" dirty="0"/>
              <a:t>ex) 0.45777 = 46%)</a:t>
            </a:r>
          </a:p>
          <a:p>
            <a:r>
              <a:rPr lang="en-US" altLang="ko-KR" sz="1200" dirty="0"/>
              <a:t>5.</a:t>
            </a:r>
            <a:r>
              <a:rPr lang="ko-KR" altLang="en-US" sz="1200" dirty="0"/>
              <a:t> 나이대별 인원수 출력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2223736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645</Words>
  <Application>Microsoft Macintosh PowerPoint</Application>
  <PresentationFormat>와이드스크린</PresentationFormat>
  <Paragraphs>102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-apple-system</vt:lpstr>
      <vt:lpstr>맑은 고딕</vt:lpstr>
      <vt:lpstr>Tmon몬소리 Black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현석 조</dc:creator>
  <cp:lastModifiedBy>aton</cp:lastModifiedBy>
  <cp:revision>9</cp:revision>
  <dcterms:created xsi:type="dcterms:W3CDTF">2025-02-16T02:18:17Z</dcterms:created>
  <dcterms:modified xsi:type="dcterms:W3CDTF">2025-02-27T02:00:03Z</dcterms:modified>
</cp:coreProperties>
</file>