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819" r:id="rId2"/>
    <p:sldId id="822" r:id="rId3"/>
    <p:sldId id="825" r:id="rId4"/>
    <p:sldId id="818" r:id="rId5"/>
    <p:sldId id="844" r:id="rId6"/>
    <p:sldId id="845" r:id="rId7"/>
    <p:sldId id="846" r:id="rId8"/>
    <p:sldId id="848" r:id="rId9"/>
    <p:sldId id="850" r:id="rId10"/>
    <p:sldId id="849" r:id="rId11"/>
    <p:sldId id="851" r:id="rId12"/>
    <p:sldId id="852" r:id="rId13"/>
    <p:sldId id="853" r:id="rId14"/>
    <p:sldId id="83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3FF"/>
    <a:srgbClr val="F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5449" autoAdjust="0"/>
  </p:normalViewPr>
  <p:slideViewPr>
    <p:cSldViewPr snapToGrid="0">
      <p:cViewPr varScale="1">
        <p:scale>
          <a:sx n="128" d="100"/>
          <a:sy n="128" d="100"/>
        </p:scale>
        <p:origin x="2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4AF55-E316-43DE-B2B2-61924C35482E}" type="datetimeFigureOut">
              <a:rPr lang="ko-KR" altLang="en-US" smtClean="0"/>
              <a:t>2025. 2. 27.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C787D-22B2-4657-96EC-990D19AEB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86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C787D-22B2-4657-96EC-990D19AEB86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0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2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671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21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85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68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79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0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834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80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69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56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5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96742-40DA-084E-A437-86FE713E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EF10402-83F7-A2FF-6CC3-3AB754179022}"/>
              </a:ext>
            </a:extLst>
          </p:cNvPr>
          <p:cNvSpPr/>
          <p:nvPr/>
        </p:nvSpPr>
        <p:spPr>
          <a:xfrm>
            <a:off x="4026772" y="2731302"/>
            <a:ext cx="6005258" cy="1006840"/>
          </a:xfrm>
          <a:custGeom>
            <a:avLst/>
            <a:gdLst>
              <a:gd name="connsiteX0" fmla="*/ 410589 w 6005258"/>
              <a:gd name="connsiteY0" fmla="*/ 0 h 1006840"/>
              <a:gd name="connsiteX1" fmla="*/ 5501838 w 6005258"/>
              <a:gd name="connsiteY1" fmla="*/ 0 h 1006840"/>
              <a:gd name="connsiteX2" fmla="*/ 6005258 w 6005258"/>
              <a:gd name="connsiteY2" fmla="*/ 503420 h 1006840"/>
              <a:gd name="connsiteX3" fmla="*/ 5501838 w 6005258"/>
              <a:gd name="connsiteY3" fmla="*/ 1006840 h 1006840"/>
              <a:gd name="connsiteX4" fmla="*/ 0 w 6005258"/>
              <a:gd name="connsiteY4" fmla="*/ 1006840 h 100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5258" h="1006840">
                <a:moveTo>
                  <a:pt x="410589" y="0"/>
                </a:moveTo>
                <a:lnTo>
                  <a:pt x="5501838" y="0"/>
                </a:lnTo>
                <a:cubicBezTo>
                  <a:pt x="5779869" y="0"/>
                  <a:pt x="6005258" y="225389"/>
                  <a:pt x="6005258" y="503420"/>
                </a:cubicBezTo>
                <a:cubicBezTo>
                  <a:pt x="6005258" y="781451"/>
                  <a:pt x="5779869" y="1006840"/>
                  <a:pt x="5501838" y="1006840"/>
                </a:cubicBezTo>
                <a:lnTo>
                  <a:pt x="0" y="1006840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4.</a:t>
            </a:r>
            <a:r>
              <a:rPr kumimoji="0" lang="ko-KR" altLang="en-US" sz="36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</a:t>
            </a:r>
            <a:r>
              <a:rPr kumimoji="0" lang="en-US" altLang="ko-KR" sz="36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NEXT.JS</a:t>
            </a: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C0383F5C-86A7-2256-81F4-37D601A2CCCC}"/>
              </a:ext>
            </a:extLst>
          </p:cNvPr>
          <p:cNvSpPr/>
          <p:nvPr/>
        </p:nvSpPr>
        <p:spPr>
          <a:xfrm>
            <a:off x="2976384" y="2587892"/>
            <a:ext cx="1694251" cy="1006840"/>
          </a:xfrm>
          <a:custGeom>
            <a:avLst/>
            <a:gdLst>
              <a:gd name="connsiteX0" fmla="*/ 503420 w 1694251"/>
              <a:gd name="connsiteY0" fmla="*/ 0 h 1006840"/>
              <a:gd name="connsiteX1" fmla="*/ 1694251 w 1694251"/>
              <a:gd name="connsiteY1" fmla="*/ 0 h 1006840"/>
              <a:gd name="connsiteX2" fmla="*/ 1283661 w 1694251"/>
              <a:gd name="connsiteY2" fmla="*/ 1006840 h 1006840"/>
              <a:gd name="connsiteX3" fmla="*/ 503420 w 1694251"/>
              <a:gd name="connsiteY3" fmla="*/ 1006840 h 1006840"/>
              <a:gd name="connsiteX4" fmla="*/ 0 w 1694251"/>
              <a:gd name="connsiteY4" fmla="*/ 503420 h 1006840"/>
              <a:gd name="connsiteX5" fmla="*/ 503420 w 1694251"/>
              <a:gd name="connsiteY5" fmla="*/ 0 h 100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4251" h="1006840">
                <a:moveTo>
                  <a:pt x="503420" y="0"/>
                </a:moveTo>
                <a:lnTo>
                  <a:pt x="1694251" y="0"/>
                </a:lnTo>
                <a:lnTo>
                  <a:pt x="1283661" y="1006840"/>
                </a:lnTo>
                <a:lnTo>
                  <a:pt x="503420" y="1006840"/>
                </a:lnTo>
                <a:cubicBezTo>
                  <a:pt x="225389" y="1006840"/>
                  <a:pt x="0" y="781451"/>
                  <a:pt x="0" y="503420"/>
                </a:cubicBezTo>
                <a:cubicBezTo>
                  <a:pt x="0" y="225389"/>
                  <a:pt x="225389" y="0"/>
                  <a:pt x="5034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ko-KR" altLang="en-US" sz="16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인턴 교육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D046E6F6-1B37-138B-48CF-C5EFAC5530D4}"/>
              </a:ext>
            </a:extLst>
          </p:cNvPr>
          <p:cNvSpPr/>
          <p:nvPr/>
        </p:nvSpPr>
        <p:spPr>
          <a:xfrm>
            <a:off x="4026772" y="3595228"/>
            <a:ext cx="230109" cy="142914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21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F0D79-A2AF-2B1D-A2F4-2429EC92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770B1B5-3E49-5630-F59D-A46A27E3408F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44605977-7CF0-BDB1-BD98-C5B7FEB46C0E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목차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951A5045-A1C2-30E2-10A4-DE40A2362764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FF30EB1C-BD99-EC58-346A-5356CB93CCCD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29F52AB-B745-BC91-15E3-0B212C3A63A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43D13C4-2E59-6855-FD6C-E6905F0D7333}"/>
              </a:ext>
            </a:extLst>
          </p:cNvPr>
          <p:cNvSpPr txBox="1"/>
          <p:nvPr/>
        </p:nvSpPr>
        <p:spPr>
          <a:xfrm>
            <a:off x="5031283" y="2595727"/>
            <a:ext cx="2192983" cy="1666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1 /</a:t>
            </a:r>
            <a:r>
              <a:rPr lang="ko-KR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개발환경 구성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2 / Next</a:t>
            </a:r>
            <a:r>
              <a:rPr lang="ko-KR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란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  <a:cs typeface="Aharoni" panose="02010803020104030203" pitchFamily="2" charset="-79"/>
              </a:rPr>
              <a:t>3 / </a:t>
            </a:r>
            <a:r>
              <a:rPr lang="ko-KR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  <a:cs typeface="Aharoni" panose="02010803020104030203" pitchFamily="2" charset="-79"/>
              </a:rPr>
              <a:t>실습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45784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개발환경 구성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D6E26-9AB9-BF21-4162-72E7DBF14AC3}"/>
              </a:ext>
            </a:extLst>
          </p:cNvPr>
          <p:cNvSpPr/>
          <p:nvPr/>
        </p:nvSpPr>
        <p:spPr>
          <a:xfrm>
            <a:off x="4206153" y="1042212"/>
            <a:ext cx="5506678" cy="373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effectLst/>
              </a:rPr>
              <a:t>프로젝트 생성</a:t>
            </a:r>
            <a:endParaRPr lang="en-US" altLang="ko-KR" sz="1400" b="1" dirty="0">
              <a:effectLst/>
            </a:endParaRPr>
          </a:p>
        </p:txBody>
      </p:sp>
      <p:pic>
        <p:nvPicPr>
          <p:cNvPr id="2062" name="Picture 14" descr="React JS] 바닐라 JS - MVC">
            <a:extLst>
              <a:ext uri="{FF2B5EF4-FFF2-40B4-BE49-F238E27FC236}">
                <a16:creationId xmlns:a16="http://schemas.microsoft.com/office/drawing/2014/main" id="{274E3B6D-189E-3C22-A748-83647C688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164" y="2743323"/>
            <a:ext cx="812795" cy="53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ext.js 15 핵심 정리 | HEROPY.DEV">
            <a:extLst>
              <a:ext uri="{FF2B5EF4-FFF2-40B4-BE49-F238E27FC236}">
                <a16:creationId xmlns:a16="http://schemas.microsoft.com/office/drawing/2014/main" id="{7FD426CD-3CF7-0ECB-2B4F-EF244C2BB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03" y="1416032"/>
            <a:ext cx="3394419" cy="193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839724-7B6E-0C34-62CE-0B5FB6337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424" y="3010362"/>
            <a:ext cx="5956300" cy="1968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20E8A72-FD3F-106F-E194-3F75C15A1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0547" y="930295"/>
            <a:ext cx="7772400" cy="242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D6E26-9AB9-BF21-4162-72E7DBF14AC3}"/>
              </a:ext>
            </a:extLst>
          </p:cNvPr>
          <p:cNvSpPr/>
          <p:nvPr/>
        </p:nvSpPr>
        <p:spPr>
          <a:xfrm>
            <a:off x="1105947" y="2969538"/>
            <a:ext cx="9320759" cy="121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React </a:t>
            </a:r>
            <a:r>
              <a:rPr lang="ko-KR" altLang="en-US" sz="1000" dirty="0"/>
              <a:t>기반의 프레임워크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서버 사이드 렌더링</a:t>
            </a:r>
            <a:r>
              <a:rPr lang="en-US" altLang="ko-KR" sz="1000" dirty="0"/>
              <a:t>(SSR) </a:t>
            </a:r>
            <a:r>
              <a:rPr lang="ko-KR" altLang="en-US" sz="1000" dirty="0"/>
              <a:t>지원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정적 사이트 생성</a:t>
            </a:r>
            <a:r>
              <a:rPr lang="en-US" altLang="ko-KR" sz="1000" dirty="0"/>
              <a:t>(SSG), </a:t>
            </a:r>
            <a:r>
              <a:rPr lang="ko-KR" altLang="en-US" sz="1000" dirty="0"/>
              <a:t>점진적 정적 생성</a:t>
            </a:r>
            <a:r>
              <a:rPr lang="en-US" altLang="ko-KR" sz="1000" dirty="0"/>
              <a:t>(ISR) </a:t>
            </a:r>
            <a:r>
              <a:rPr lang="ko-KR" altLang="en-US" sz="1000" dirty="0"/>
              <a:t>가능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SEO </a:t>
            </a:r>
            <a:r>
              <a:rPr lang="ko-KR" altLang="en-US" sz="1000" dirty="0"/>
              <a:t>최적화에 유리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API Routes</a:t>
            </a:r>
            <a:r>
              <a:rPr lang="ko-KR" altLang="en-US" sz="1000" dirty="0" err="1"/>
              <a:t>를</a:t>
            </a:r>
            <a:r>
              <a:rPr lang="ko-KR" altLang="en-US" sz="1000" dirty="0"/>
              <a:t> 이용한 간단한 </a:t>
            </a:r>
            <a:r>
              <a:rPr lang="ko-KR" altLang="en-US" sz="1000" dirty="0" err="1"/>
              <a:t>백엔드</a:t>
            </a:r>
            <a:r>
              <a:rPr lang="ko-KR" altLang="en-US" sz="1000" dirty="0"/>
              <a:t> 기능 가능</a:t>
            </a:r>
            <a:endParaRPr lang="en-US" altLang="ko-KR" sz="1000" dirty="0"/>
          </a:p>
        </p:txBody>
      </p:sp>
      <p:sp>
        <p:nvSpPr>
          <p:cNvPr id="11" name="자유형 80">
            <a:extLst>
              <a:ext uri="{FF2B5EF4-FFF2-40B4-BE49-F238E27FC236}">
                <a16:creationId xmlns:a16="http://schemas.microsoft.com/office/drawing/2014/main" id="{1EAEB1AE-5571-5F9D-9450-EAF6A41A90B5}"/>
              </a:ext>
            </a:extLst>
          </p:cNvPr>
          <p:cNvSpPr/>
          <p:nvPr/>
        </p:nvSpPr>
        <p:spPr>
          <a:xfrm>
            <a:off x="1346797" y="1954003"/>
            <a:ext cx="976518" cy="1021718"/>
          </a:xfrm>
          <a:custGeom>
            <a:avLst/>
            <a:gdLst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11574 w 1921397"/>
              <a:gd name="connsiteY2" fmla="*/ 1759351 h 1759351"/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8399 w 1921397"/>
              <a:gd name="connsiteY2" fmla="*/ 1759351 h 175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1397" h="1759351">
                <a:moveTo>
                  <a:pt x="1921397" y="0"/>
                </a:moveTo>
                <a:lnTo>
                  <a:pt x="0" y="1307939"/>
                </a:lnTo>
                <a:lnTo>
                  <a:pt x="8399" y="1759351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95467D3-41BC-D23B-32DF-06B8A1EDF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031" y="1120079"/>
            <a:ext cx="2635656" cy="150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CAEC84F-A135-15A1-0545-AEA0DE72E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570" y="601618"/>
            <a:ext cx="6283822" cy="617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70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995467D3-41BC-D23B-32DF-06B8A1EDF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47" y="1458009"/>
            <a:ext cx="2635656" cy="150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0678B3A-07B9-07CD-AF5C-22A916375CF2}"/>
              </a:ext>
            </a:extLst>
          </p:cNvPr>
          <p:cNvSpPr/>
          <p:nvPr/>
        </p:nvSpPr>
        <p:spPr>
          <a:xfrm>
            <a:off x="4206153" y="1042212"/>
            <a:ext cx="5506678" cy="1863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/>
              <a:t>App Router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effectLst/>
              </a:rPr>
              <a:t>app/ </a:t>
            </a:r>
            <a:r>
              <a:rPr lang="ko-KR" altLang="en-US" sz="1000" dirty="0">
                <a:effectLst/>
              </a:rPr>
              <a:t>폴더 기반 라우팅 시스템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effectLst/>
              </a:rPr>
              <a:t>폴더와 파일의 구조가 자동으로 </a:t>
            </a:r>
            <a:r>
              <a:rPr lang="en-US" altLang="ko-KR" sz="1000" dirty="0">
                <a:effectLst/>
              </a:rPr>
              <a:t>URL </a:t>
            </a:r>
            <a:r>
              <a:rPr lang="ko-KR" altLang="en-US" sz="1000" dirty="0">
                <a:effectLst/>
              </a:rPr>
              <a:t>경로가 됨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effectLst/>
              </a:rPr>
              <a:t>페이지는 </a:t>
            </a:r>
            <a:r>
              <a:rPr lang="en-US" altLang="ko-KR" sz="1000" dirty="0" err="1">
                <a:effectLst/>
              </a:rPr>
              <a:t>page.tsx</a:t>
            </a:r>
            <a:r>
              <a:rPr lang="en-US" altLang="ko-KR" sz="1000" dirty="0">
                <a:effectLst/>
              </a:rPr>
              <a:t> </a:t>
            </a:r>
            <a:r>
              <a:rPr lang="ko-KR" altLang="en-US" sz="1000" dirty="0">
                <a:effectLst/>
              </a:rPr>
              <a:t>파일로 정의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effectLst/>
              </a:rPr>
              <a:t>레이아웃은 </a:t>
            </a:r>
            <a:r>
              <a:rPr lang="en-US" altLang="ko-KR" sz="1000" dirty="0" err="1">
                <a:effectLst/>
              </a:rPr>
              <a:t>layout.tsx</a:t>
            </a:r>
            <a:r>
              <a:rPr lang="ko-KR" altLang="en-US" sz="1000" dirty="0">
                <a:effectLst/>
              </a:rPr>
              <a:t>로 설정 </a:t>
            </a:r>
            <a:r>
              <a:rPr lang="en-US" altLang="ko-KR" sz="1000" dirty="0">
                <a:effectLst/>
              </a:rPr>
              <a:t>(</a:t>
            </a:r>
            <a:r>
              <a:rPr lang="ko-KR" altLang="en-US" sz="1000" dirty="0">
                <a:effectLst/>
              </a:rPr>
              <a:t>중첩 가능</a:t>
            </a:r>
            <a:r>
              <a:rPr lang="en-US" altLang="ko-KR" sz="1000" dirty="0">
                <a:effectLst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effectLst/>
              </a:rPr>
              <a:t>서버 컴포넌트 기본 사용 </a:t>
            </a:r>
            <a:r>
              <a:rPr lang="en-US" altLang="ko-KR" sz="1000" dirty="0">
                <a:effectLst/>
              </a:rPr>
              <a:t>(Client Component </a:t>
            </a:r>
            <a:r>
              <a:rPr lang="ko-KR" altLang="en-US" sz="1000" dirty="0">
                <a:effectLst/>
              </a:rPr>
              <a:t>필요 시 </a:t>
            </a:r>
            <a:r>
              <a:rPr lang="en-US" altLang="ko-KR" sz="1000" dirty="0">
                <a:effectLst/>
              </a:rPr>
              <a:t>use client)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5257B4-5628-D13E-A48F-A9A576749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27" y="3952715"/>
            <a:ext cx="4134674" cy="205941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76AF0D9-BCB6-A925-3511-50B52CC41C04}"/>
              </a:ext>
            </a:extLst>
          </p:cNvPr>
          <p:cNvSpPr/>
          <p:nvPr/>
        </p:nvSpPr>
        <p:spPr>
          <a:xfrm>
            <a:off x="1105947" y="4024065"/>
            <a:ext cx="1279008" cy="333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기본 라우팅</a:t>
            </a:r>
            <a:endParaRPr lang="en-US" altLang="ko-KR" sz="1200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FC6D751-39B3-E8AD-CF61-DCD808638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77" y="3952715"/>
            <a:ext cx="4800920" cy="240046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D37826-E026-4C0C-80CC-ECF65D385F22}"/>
              </a:ext>
            </a:extLst>
          </p:cNvPr>
          <p:cNvSpPr/>
          <p:nvPr/>
        </p:nvSpPr>
        <p:spPr>
          <a:xfrm>
            <a:off x="5915017" y="4024064"/>
            <a:ext cx="1279008" cy="333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동적 페이지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25634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995467D3-41BC-D23B-32DF-06B8A1EDF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47" y="1458009"/>
            <a:ext cx="2635656" cy="150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76AF0D9-BCB6-A925-3511-50B52CC41C04}"/>
              </a:ext>
            </a:extLst>
          </p:cNvPr>
          <p:cNvSpPr/>
          <p:nvPr/>
        </p:nvSpPr>
        <p:spPr>
          <a:xfrm>
            <a:off x="4547004" y="1336394"/>
            <a:ext cx="6217073" cy="610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중첩 페이지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레이아웃 파일 </a:t>
            </a:r>
            <a:r>
              <a:rPr lang="en-US" altLang="ko-KR" sz="1200" dirty="0"/>
              <a:t>(</a:t>
            </a:r>
            <a:r>
              <a:rPr lang="en" altLang="ko-KR" sz="1200" dirty="0" err="1"/>
              <a:t>layout.tsx</a:t>
            </a:r>
            <a:r>
              <a:rPr lang="en" altLang="ko-KR" sz="1200" dirty="0"/>
              <a:t>)</a:t>
            </a:r>
            <a:r>
              <a:rPr lang="ko-KR" altLang="en-US" sz="1200" dirty="0"/>
              <a:t>을 사용하면 하위 페이지에서 공통 </a:t>
            </a:r>
            <a:r>
              <a:rPr lang="en" altLang="ko-KR" sz="1200" dirty="0"/>
              <a:t>UI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유지할 수 있다</a:t>
            </a:r>
            <a:r>
              <a:rPr lang="en-US" altLang="ko-KR" sz="1200" dirty="0"/>
              <a:t>.</a:t>
            </a:r>
            <a:endParaRPr lang="en-US" altLang="ko-KR" sz="1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1BF8AA-C5B0-A7C3-240B-243B967A8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141" y="1551859"/>
            <a:ext cx="5324061" cy="28220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5C44FE-85AD-9AF2-0368-F92D4B74C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854" y="3780339"/>
            <a:ext cx="5496065" cy="274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05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6AF0D9-BCB6-A925-3511-50B52CC41C04}"/>
              </a:ext>
            </a:extLst>
          </p:cNvPr>
          <p:cNvSpPr/>
          <p:nvPr/>
        </p:nvSpPr>
        <p:spPr>
          <a:xfrm>
            <a:off x="904601" y="1943465"/>
            <a:ext cx="7409770" cy="2971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서버 컴포넌트</a:t>
            </a:r>
            <a:r>
              <a:rPr lang="en-US" altLang="ko-KR" sz="1400" b="1" dirty="0"/>
              <a:t>(Server Components)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서버에서 실행되는 </a:t>
            </a:r>
            <a:r>
              <a:rPr lang="en" altLang="ko-KR" sz="1000" dirty="0"/>
              <a:t>React </a:t>
            </a:r>
            <a:r>
              <a:rPr lang="ko-KR" altLang="en-US" sz="1000" dirty="0"/>
              <a:t>컴포넌트</a:t>
            </a:r>
          </a:p>
          <a:p>
            <a:pPr>
              <a:lnSpc>
                <a:spcPct val="150000"/>
              </a:lnSpc>
            </a:pPr>
            <a:endParaRPr lang="ko-KR" altLang="en-US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브라우저에서 실행되지 않음 </a:t>
            </a:r>
            <a:r>
              <a:rPr lang="en-US" altLang="ko-KR" sz="1000" dirty="0"/>
              <a:t>(</a:t>
            </a:r>
            <a:r>
              <a:rPr lang="en" altLang="ko-KR" sz="1000" dirty="0"/>
              <a:t>JS </a:t>
            </a:r>
            <a:r>
              <a:rPr lang="ko-KR" altLang="en-US" sz="1000" dirty="0"/>
              <a:t>번들 크기 감소</a:t>
            </a:r>
            <a:r>
              <a:rPr lang="en-US" altLang="ko-KR" sz="10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직접 </a:t>
            </a:r>
            <a:r>
              <a:rPr lang="en" altLang="ko-KR" sz="1000" dirty="0"/>
              <a:t>DB </a:t>
            </a:r>
            <a:r>
              <a:rPr lang="ko-KR" altLang="en-US" sz="1000" dirty="0"/>
              <a:t>요청</a:t>
            </a:r>
            <a:r>
              <a:rPr lang="en-US" altLang="ko-KR" sz="1000" dirty="0"/>
              <a:t>, </a:t>
            </a:r>
            <a:r>
              <a:rPr lang="en" altLang="ko-KR" sz="1000" dirty="0"/>
              <a:t>API </a:t>
            </a:r>
            <a:r>
              <a:rPr lang="ko-KR" altLang="en-US" sz="1000" dirty="0"/>
              <a:t>호출 가능</a:t>
            </a:r>
          </a:p>
          <a:p>
            <a:pPr>
              <a:lnSpc>
                <a:spcPct val="150000"/>
              </a:lnSpc>
            </a:pPr>
            <a:r>
              <a:rPr lang="en" altLang="ko-KR" sz="1000" dirty="0"/>
              <a:t>SEO </a:t>
            </a:r>
            <a:r>
              <a:rPr lang="ko-KR" altLang="en-US" sz="1000" dirty="0"/>
              <a:t>최적화가 뛰어남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특징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기본적으로 모든 </a:t>
            </a:r>
            <a:r>
              <a:rPr lang="en-US" altLang="ko-KR" sz="1000" dirty="0" err="1"/>
              <a:t>Next.js</a:t>
            </a:r>
            <a:r>
              <a:rPr lang="en-US" altLang="ko-KR" sz="1000" dirty="0"/>
              <a:t> </a:t>
            </a:r>
            <a:r>
              <a:rPr lang="ko-KR" altLang="en-US" sz="1000" dirty="0"/>
              <a:t>컴포넌트는 서버 컴포넌트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서버에서만 실행됨 → </a:t>
            </a:r>
            <a:r>
              <a:rPr lang="en-US" altLang="ko-KR" sz="1000" dirty="0"/>
              <a:t>DB, API </a:t>
            </a:r>
            <a:r>
              <a:rPr lang="ko-KR" altLang="en-US" sz="1000" dirty="0"/>
              <a:t>호출이 가능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JS </a:t>
            </a:r>
            <a:r>
              <a:rPr lang="ko-KR" altLang="en-US" sz="1000" dirty="0"/>
              <a:t>번들에 포함되지 않음 → 페이지 로딩 속도 향상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SEO </a:t>
            </a:r>
            <a:r>
              <a:rPr lang="ko-KR" altLang="en-US" sz="1000" dirty="0"/>
              <a:t>최적화가 뛰어남 </a:t>
            </a:r>
            <a:r>
              <a:rPr lang="en-US" altLang="ko-KR" sz="1000" dirty="0"/>
              <a:t>(</a:t>
            </a:r>
            <a:r>
              <a:rPr lang="ko-KR" altLang="en-US" sz="1000" dirty="0"/>
              <a:t>서버에서 </a:t>
            </a:r>
            <a:r>
              <a:rPr lang="en-US" altLang="ko-KR" sz="1000" dirty="0"/>
              <a:t>HTML</a:t>
            </a:r>
            <a:r>
              <a:rPr lang="ko-KR" altLang="en-US" sz="1000" dirty="0"/>
              <a:t>을 완성해서 보냄</a:t>
            </a:r>
            <a:r>
              <a:rPr lang="en-US" altLang="ko-KR" sz="1000" dirty="0"/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C1E225-3D97-9806-9874-67872EC0F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86" y="1438802"/>
            <a:ext cx="6167970" cy="398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87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6AF0D9-BCB6-A925-3511-50B52CC41C04}"/>
              </a:ext>
            </a:extLst>
          </p:cNvPr>
          <p:cNvSpPr/>
          <p:nvPr/>
        </p:nvSpPr>
        <p:spPr>
          <a:xfrm>
            <a:off x="904601" y="1943465"/>
            <a:ext cx="7409770" cy="4125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클라이언트 컴포넌트</a:t>
            </a:r>
            <a:r>
              <a:rPr lang="en-US" altLang="ko-KR" sz="1400" b="1" dirty="0"/>
              <a:t>(Client Components)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브라우저에서 실행되는 </a:t>
            </a:r>
            <a:r>
              <a:rPr lang="en" altLang="ko-KR" sz="1000" dirty="0"/>
              <a:t>React </a:t>
            </a:r>
            <a:r>
              <a:rPr lang="ko-KR" altLang="en-US" sz="1000" dirty="0"/>
              <a:t>컴포넌트</a:t>
            </a:r>
          </a:p>
          <a:p>
            <a:pPr>
              <a:lnSpc>
                <a:spcPct val="150000"/>
              </a:lnSpc>
            </a:pPr>
            <a:endParaRPr lang="ko-KR" altLang="en-US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이벤트 핸들링</a:t>
            </a:r>
            <a:r>
              <a:rPr lang="en-US" altLang="ko-KR" sz="1000" dirty="0"/>
              <a:t>, </a:t>
            </a:r>
            <a:r>
              <a:rPr lang="en" altLang="ko-KR" sz="1000" dirty="0" err="1"/>
              <a:t>useState</a:t>
            </a:r>
            <a:r>
              <a:rPr lang="en" altLang="ko-KR" sz="1000" dirty="0"/>
              <a:t>, </a:t>
            </a:r>
            <a:r>
              <a:rPr lang="en" altLang="ko-KR" sz="1000" dirty="0" err="1"/>
              <a:t>useEffect</a:t>
            </a:r>
            <a:r>
              <a:rPr lang="en" altLang="ko-KR" sz="1000" dirty="0"/>
              <a:t>, </a:t>
            </a:r>
            <a:r>
              <a:rPr lang="en" altLang="ko-KR" sz="1000" dirty="0" err="1"/>
              <a:t>useContext</a:t>
            </a:r>
            <a:r>
              <a:rPr lang="en" altLang="ko-KR" sz="1000" dirty="0"/>
              <a:t> </a:t>
            </a:r>
            <a:r>
              <a:rPr lang="ko-KR" altLang="en-US" sz="1000" dirty="0"/>
              <a:t>등의 훅을 사용할 때 필요</a:t>
            </a:r>
          </a:p>
          <a:p>
            <a:pPr>
              <a:lnSpc>
                <a:spcPct val="150000"/>
              </a:lnSpc>
            </a:pPr>
            <a:r>
              <a:rPr lang="en" altLang="ko-KR" sz="1000" dirty="0"/>
              <a:t>use client </a:t>
            </a:r>
            <a:r>
              <a:rPr lang="ko-KR" altLang="en-US" sz="1000" dirty="0"/>
              <a:t>지시어를 선언해야 함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서버에서 실행되지 않으며</a:t>
            </a:r>
            <a:r>
              <a:rPr lang="en-US" altLang="ko-KR" sz="1000" dirty="0"/>
              <a:t>, </a:t>
            </a:r>
            <a:r>
              <a:rPr lang="en" altLang="ko-KR" sz="1000" dirty="0"/>
              <a:t>JS </a:t>
            </a:r>
            <a:r>
              <a:rPr lang="ko-KR" altLang="en-US" sz="1000" dirty="0"/>
              <a:t>번들에 포함됨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특징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en" altLang="ko-KR" sz="1000" dirty="0" err="1"/>
              <a:t>useState</a:t>
            </a:r>
            <a:r>
              <a:rPr lang="en" altLang="ko-KR" sz="1000" dirty="0"/>
              <a:t>, </a:t>
            </a:r>
            <a:r>
              <a:rPr lang="en" altLang="ko-KR" sz="1000" dirty="0" err="1"/>
              <a:t>useEffect</a:t>
            </a:r>
            <a:r>
              <a:rPr lang="en" altLang="ko-KR" sz="1000" dirty="0"/>
              <a:t>, </a:t>
            </a:r>
            <a:r>
              <a:rPr lang="en" altLang="ko-KR" sz="1000" dirty="0" err="1"/>
              <a:t>useContext</a:t>
            </a:r>
            <a:r>
              <a:rPr lang="en" altLang="ko-KR" sz="1000" dirty="0"/>
              <a:t> </a:t>
            </a:r>
            <a:r>
              <a:rPr lang="ko-KR" altLang="en-US" sz="1000" dirty="0"/>
              <a:t>등 </a:t>
            </a:r>
            <a:r>
              <a:rPr lang="ko-KR" altLang="en-US" sz="1000" dirty="0" err="1"/>
              <a:t>리액트</a:t>
            </a:r>
            <a:r>
              <a:rPr lang="ko-KR" altLang="en-US" sz="1000" dirty="0"/>
              <a:t> 훅을 사용 가능</a:t>
            </a:r>
          </a:p>
          <a:p>
            <a:pPr>
              <a:lnSpc>
                <a:spcPct val="150000"/>
              </a:lnSpc>
            </a:pPr>
            <a:r>
              <a:rPr lang="en" altLang="ko-KR" sz="1000" dirty="0" err="1"/>
              <a:t>onClick</a:t>
            </a:r>
            <a:r>
              <a:rPr lang="en" altLang="ko-KR" sz="1000" dirty="0"/>
              <a:t>, </a:t>
            </a:r>
            <a:r>
              <a:rPr lang="en" altLang="ko-KR" sz="1000" dirty="0" err="1"/>
              <a:t>onChange</a:t>
            </a:r>
            <a:r>
              <a:rPr lang="en" altLang="ko-KR" sz="1000" dirty="0"/>
              <a:t> </a:t>
            </a:r>
            <a:r>
              <a:rPr lang="ko-KR" altLang="en-US" sz="1000" dirty="0"/>
              <a:t>같은 이벤트 핸들링 가능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"</a:t>
            </a:r>
            <a:r>
              <a:rPr lang="en" altLang="ko-KR" sz="1000" dirty="0"/>
              <a:t>use client"</a:t>
            </a:r>
            <a:r>
              <a:rPr lang="ko-KR" altLang="en-US" sz="1000" dirty="0" err="1"/>
              <a:t>를</a:t>
            </a:r>
            <a:r>
              <a:rPr lang="ko-KR" altLang="en-US" sz="1000" dirty="0"/>
              <a:t> 맨 위에 선언해야 함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데이터 요청</a:t>
            </a:r>
            <a:r>
              <a:rPr lang="en-US" altLang="ko-KR" sz="1000" dirty="0"/>
              <a:t>(</a:t>
            </a:r>
            <a:r>
              <a:rPr lang="en" altLang="ko-KR" sz="1000" dirty="0"/>
              <a:t>fetch)</a:t>
            </a:r>
            <a:r>
              <a:rPr lang="ko-KR" altLang="en-US" sz="1000" dirty="0"/>
              <a:t>은 서버 컴포넌트에서 처리하는 것이 더 효율적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b="1" dirty="0"/>
              <a:t>왜 </a:t>
            </a:r>
            <a:r>
              <a:rPr lang="en-US" altLang="ko-KR" sz="1000" b="1" dirty="0"/>
              <a:t>use client</a:t>
            </a:r>
            <a:r>
              <a:rPr lang="ko-KR" altLang="en-US" sz="1000" b="1" dirty="0"/>
              <a:t>가 필요한가</a:t>
            </a:r>
            <a:r>
              <a:rPr lang="en-US" altLang="ko-KR" sz="1000" b="1" dirty="0"/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000" dirty="0" err="1"/>
              <a:t>useState</a:t>
            </a:r>
            <a:r>
              <a:rPr lang="en-US" altLang="ko-KR" sz="1000" dirty="0"/>
              <a:t>() </a:t>
            </a:r>
            <a:r>
              <a:rPr lang="ko-KR" altLang="en-US" sz="1000" dirty="0"/>
              <a:t>사용 → 상태 변화 감지 필요</a:t>
            </a:r>
          </a:p>
          <a:p>
            <a:pPr>
              <a:lnSpc>
                <a:spcPct val="150000"/>
              </a:lnSpc>
            </a:pPr>
            <a:r>
              <a:rPr lang="en-US" altLang="ko-KR" sz="1000" dirty="0" err="1"/>
              <a:t>onClick</a:t>
            </a:r>
            <a:r>
              <a:rPr lang="en-US" altLang="ko-KR" sz="1000" dirty="0"/>
              <a:t> </a:t>
            </a:r>
            <a:r>
              <a:rPr lang="ko-KR" altLang="en-US" sz="1000" dirty="0"/>
              <a:t>이벤트 핸들링 → 브라우저에서 실행되어야 함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이 컴포넌트는 서버에서 실행될 필요가 없음</a:t>
            </a:r>
            <a:endParaRPr lang="en-US" altLang="ko-KR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1CC56D-A291-C586-DEBE-4F84CA82D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824" y="1434121"/>
            <a:ext cx="6435094" cy="398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18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6AF0D9-BCB6-A925-3511-50B52CC41C04}"/>
              </a:ext>
            </a:extLst>
          </p:cNvPr>
          <p:cNvSpPr/>
          <p:nvPr/>
        </p:nvSpPr>
        <p:spPr>
          <a:xfrm>
            <a:off x="864766" y="1196586"/>
            <a:ext cx="7409770" cy="1539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사용 시점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서버 컴포넌트를 기본적으로 사용하고</a:t>
            </a:r>
            <a:r>
              <a:rPr lang="en-US" altLang="ko-KR" sz="1000" dirty="0"/>
              <a:t>, </a:t>
            </a:r>
            <a:r>
              <a:rPr lang="ko-KR" altLang="en-US" sz="1000" dirty="0"/>
              <a:t>클라이언트 컴포넌트가 필요할 때만 </a:t>
            </a:r>
            <a:r>
              <a:rPr lang="en-US" altLang="ko-KR" sz="1000" dirty="0"/>
              <a:t>use client</a:t>
            </a:r>
            <a:r>
              <a:rPr lang="ko-KR" altLang="en-US" sz="1000" dirty="0" err="1"/>
              <a:t>를</a:t>
            </a:r>
            <a:r>
              <a:rPr lang="ko-KR" altLang="en-US" sz="1000" dirty="0"/>
              <a:t> 추가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서버 컴포넌트에서 데이터 로드를 담당하고</a:t>
            </a:r>
            <a:r>
              <a:rPr lang="en-US" altLang="ko-KR" sz="1000" dirty="0"/>
              <a:t>, </a:t>
            </a:r>
            <a:r>
              <a:rPr lang="ko-KR" altLang="en-US" sz="1000" dirty="0"/>
              <a:t>클라이언트 컴포넌트에서 상호작용을 담당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SEO</a:t>
            </a:r>
            <a:r>
              <a:rPr lang="ko-KR" altLang="en-US" sz="1000" dirty="0"/>
              <a:t>가 중요하다면 서버 컴포넌트를 적극 활용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React</a:t>
            </a:r>
            <a:r>
              <a:rPr lang="ko-KR" altLang="en-US" sz="1000" dirty="0"/>
              <a:t>의 상태 관리</a:t>
            </a:r>
            <a:r>
              <a:rPr lang="en-US" altLang="ko-KR" sz="1000" dirty="0"/>
              <a:t>, </a:t>
            </a:r>
            <a:r>
              <a:rPr lang="ko-KR" altLang="en-US" sz="1000" dirty="0"/>
              <a:t>이벤트 핸들링이 필요하면 클라이언트 컴포넌트를 사용</a:t>
            </a:r>
            <a:endParaRPr lang="en-US" altLang="ko-KR" sz="1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A88DB4-053C-6303-BC4B-EBF38B5DC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66" y="2911539"/>
            <a:ext cx="6329259" cy="299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19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6AF0D9-BCB6-A925-3511-50B52CC41C04}"/>
              </a:ext>
            </a:extLst>
          </p:cNvPr>
          <p:cNvSpPr/>
          <p:nvPr/>
        </p:nvSpPr>
        <p:spPr>
          <a:xfrm>
            <a:off x="904601" y="1116393"/>
            <a:ext cx="7409770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데이터 </a:t>
            </a:r>
            <a:r>
              <a:rPr lang="ko-KR" altLang="en-US" sz="1400" b="1" dirty="0" err="1"/>
              <a:t>페칭</a:t>
            </a:r>
            <a:endParaRPr lang="en-US" altLang="ko-KR" sz="14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E4CD41-FBF5-3422-1796-2D158A7DD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01" y="1517506"/>
            <a:ext cx="5038999" cy="186179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3A99E9D-C297-C747-AB3B-8BB5C4578163}"/>
              </a:ext>
            </a:extLst>
          </p:cNvPr>
          <p:cNvSpPr/>
          <p:nvPr/>
        </p:nvSpPr>
        <p:spPr>
          <a:xfrm>
            <a:off x="894662" y="3505923"/>
            <a:ext cx="7409770" cy="333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서버 컴포넌트에서 데이터 </a:t>
            </a:r>
            <a:r>
              <a:rPr lang="ko-KR" altLang="en-US" sz="1200" b="1" dirty="0" err="1"/>
              <a:t>페칭</a:t>
            </a:r>
            <a:endParaRPr lang="en-US" altLang="ko-KR" sz="12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165814B-F1EE-3A9F-1A55-07D79B6F7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69" y="3478696"/>
            <a:ext cx="5397818" cy="36201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B1E92EE-85C4-9648-807D-E2C0A460F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871" y="3866767"/>
            <a:ext cx="5038999" cy="97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42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A99E9D-C297-C747-AB3B-8BB5C4578163}"/>
              </a:ext>
            </a:extLst>
          </p:cNvPr>
          <p:cNvSpPr/>
          <p:nvPr/>
        </p:nvSpPr>
        <p:spPr>
          <a:xfrm>
            <a:off x="904600" y="1056633"/>
            <a:ext cx="7409770" cy="801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클라이언트 컴포넌트에서 데이터 </a:t>
            </a:r>
            <a:r>
              <a:rPr lang="ko-KR" altLang="en-US" sz="1200" b="1" dirty="0" err="1"/>
              <a:t>페칭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클라이언트에서 데이터를 가져올 때는 </a:t>
            </a:r>
            <a:r>
              <a:rPr lang="en" altLang="ko-KR" sz="1000" dirty="0"/>
              <a:t>React</a:t>
            </a:r>
            <a:r>
              <a:rPr lang="ko-KR" altLang="en-US" sz="1000" dirty="0"/>
              <a:t>의 </a:t>
            </a:r>
            <a:r>
              <a:rPr lang="en" altLang="ko-KR" sz="1000" dirty="0" err="1"/>
              <a:t>useEffect</a:t>
            </a:r>
            <a:r>
              <a:rPr lang="en" altLang="ko-KR" sz="1000" dirty="0"/>
              <a:t>, </a:t>
            </a:r>
            <a:r>
              <a:rPr lang="ko-KR" altLang="en-US" sz="1000" dirty="0"/>
              <a:t>또는 </a:t>
            </a:r>
            <a:r>
              <a:rPr lang="en" altLang="ko-KR" sz="1000" dirty="0"/>
              <a:t>SWR, React Query</a:t>
            </a:r>
            <a:r>
              <a:rPr lang="ko-KR" altLang="en-US" sz="1000" dirty="0" err="1"/>
              <a:t>를</a:t>
            </a:r>
            <a:r>
              <a:rPr lang="ko-KR" altLang="en-US" sz="1000" dirty="0"/>
              <a:t> 사용</a:t>
            </a:r>
            <a:endParaRPr lang="en-US" altLang="ko-KR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8C20E6-EB08-9A83-F0B0-CE91FCDF8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6" y="2139992"/>
            <a:ext cx="6012550" cy="462565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8F402F7-E4C0-3F37-2AF4-EB8128D7313B}"/>
              </a:ext>
            </a:extLst>
          </p:cNvPr>
          <p:cNvSpPr/>
          <p:nvPr/>
        </p:nvSpPr>
        <p:spPr>
          <a:xfrm>
            <a:off x="721027" y="2220185"/>
            <a:ext cx="2717912" cy="304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/>
              <a:t>fetch() + </a:t>
            </a:r>
            <a:r>
              <a:rPr lang="en-US" altLang="ko-KR" sz="1000" b="1" dirty="0" err="1"/>
              <a:t>useEffect</a:t>
            </a:r>
            <a:r>
              <a:rPr lang="en-US" altLang="ko-KR" sz="1000" b="1" dirty="0"/>
              <a:t>()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B69DEA-EABD-1710-B5F7-32309DD1D6CA}"/>
              </a:ext>
            </a:extLst>
          </p:cNvPr>
          <p:cNvSpPr/>
          <p:nvPr/>
        </p:nvSpPr>
        <p:spPr>
          <a:xfrm>
            <a:off x="6127775" y="2220185"/>
            <a:ext cx="5789242" cy="52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/>
              <a:t>SWR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SWR</a:t>
            </a:r>
            <a:r>
              <a:rPr lang="ko-KR" altLang="en-US" sz="1000" dirty="0"/>
              <a:t>은 자동 </a:t>
            </a:r>
            <a:r>
              <a:rPr lang="ko-KR" altLang="en-US" sz="1000" dirty="0" err="1"/>
              <a:t>캐싱</a:t>
            </a:r>
            <a:r>
              <a:rPr lang="en-US" altLang="ko-KR" sz="1000" dirty="0"/>
              <a:t>, </a:t>
            </a:r>
            <a:r>
              <a:rPr lang="ko-KR" altLang="en-US" sz="1000" dirty="0"/>
              <a:t>갱신</a:t>
            </a:r>
            <a:r>
              <a:rPr lang="en-US" altLang="ko-KR" sz="1000" dirty="0"/>
              <a:t>(fetching), </a:t>
            </a:r>
            <a:r>
              <a:rPr lang="ko-KR" altLang="en-US" sz="1000" dirty="0" err="1"/>
              <a:t>폴링</a:t>
            </a:r>
            <a:r>
              <a:rPr lang="en-US" altLang="ko-KR" sz="1000" dirty="0"/>
              <a:t>(polling) </a:t>
            </a:r>
            <a:r>
              <a:rPr lang="ko-KR" altLang="en-US" sz="1000" dirty="0"/>
              <a:t>등을 지원하는 데이터 </a:t>
            </a:r>
            <a:r>
              <a:rPr lang="ko-KR" altLang="en-US" sz="1000" dirty="0" err="1"/>
              <a:t>패칭</a:t>
            </a:r>
            <a:r>
              <a:rPr lang="ko-KR" altLang="en-US" sz="1000" dirty="0"/>
              <a:t> 라이브러리</a:t>
            </a:r>
            <a:endParaRPr lang="en-US" altLang="ko-KR" sz="1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25C83F-F271-9787-ADAC-FEA735FFA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461" y="2362359"/>
            <a:ext cx="5723512" cy="440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7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4515E8-8999-751B-B00A-823181F25113}"/>
              </a:ext>
            </a:extLst>
          </p:cNvPr>
          <p:cNvSpPr/>
          <p:nvPr/>
        </p:nvSpPr>
        <p:spPr>
          <a:xfrm>
            <a:off x="904601" y="1116393"/>
            <a:ext cx="7409770" cy="2463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상태 관리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상태 관리가 필요한 경우</a:t>
            </a:r>
            <a:r>
              <a:rPr lang="en-US" altLang="ko-KR" sz="1000" dirty="0"/>
              <a:t>:</a:t>
            </a:r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전역 상태가 필요한 경우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예</a:t>
            </a:r>
            <a:r>
              <a:rPr lang="en-US" altLang="ko-KR" sz="1000" dirty="0"/>
              <a:t>: </a:t>
            </a:r>
            <a:r>
              <a:rPr lang="ko-KR" altLang="en-US" sz="1000" dirty="0"/>
              <a:t>로그인 정보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다크</a:t>
            </a:r>
            <a:r>
              <a:rPr lang="ko-KR" altLang="en-US" sz="1000" dirty="0"/>
              <a:t> 모드 설정</a:t>
            </a:r>
            <a:r>
              <a:rPr lang="en-US" altLang="ko-KR" sz="1000" dirty="0"/>
              <a:t>, </a:t>
            </a:r>
            <a:r>
              <a:rPr lang="ko-KR" altLang="en-US" sz="1000" dirty="0"/>
              <a:t>장바구니 등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서버 데이터를 공유할 때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API</a:t>
            </a:r>
            <a:r>
              <a:rPr lang="ko-KR" altLang="en-US" sz="1000" dirty="0"/>
              <a:t>에서 가져온 데이터를 여러 컴포넌트에서 사용해야 할 때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페이지 간 상태 유지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예</a:t>
            </a:r>
            <a:r>
              <a:rPr lang="en-US" altLang="ko-KR" sz="1000" dirty="0"/>
              <a:t>: </a:t>
            </a:r>
            <a:r>
              <a:rPr lang="ko-KR" altLang="en-US" sz="1000" dirty="0"/>
              <a:t>페이지 이동 시 검색 필터 상태 유지</a:t>
            </a:r>
            <a:endParaRPr lang="en-US" altLang="ko-KR" sz="10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CECCB2-1202-5F0D-4C3E-BC3A12CF9D41}"/>
              </a:ext>
            </a:extLst>
          </p:cNvPr>
          <p:cNvSpPr/>
          <p:nvPr/>
        </p:nvSpPr>
        <p:spPr>
          <a:xfrm>
            <a:off x="4893505" y="1116393"/>
            <a:ext cx="7409770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err="1"/>
              <a:t>Zustand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상태 관리 라이브러리</a:t>
            </a:r>
            <a:r>
              <a:rPr lang="en-US" altLang="ko-KR" sz="1200" b="1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r>
              <a:rPr lang="en" altLang="ko-KR" sz="1000" dirty="0" err="1"/>
              <a:t>Zustand</a:t>
            </a:r>
            <a:r>
              <a:rPr lang="ko-KR" altLang="en-US" sz="1000" dirty="0"/>
              <a:t>는 가벼운 상태 관리 라이브러리로</a:t>
            </a:r>
            <a:r>
              <a:rPr lang="en-US" altLang="ko-KR" sz="1000" dirty="0"/>
              <a:t>, </a:t>
            </a:r>
            <a:r>
              <a:rPr lang="en" altLang="ko-KR" sz="1000" dirty="0"/>
              <a:t>Redux</a:t>
            </a:r>
            <a:r>
              <a:rPr lang="ko-KR" altLang="en-US" sz="1000" dirty="0"/>
              <a:t>보다 간단하고</a:t>
            </a:r>
            <a:r>
              <a:rPr lang="en-US" altLang="ko-KR" sz="1000" dirty="0"/>
              <a:t>, </a:t>
            </a:r>
            <a:r>
              <a:rPr lang="en" altLang="ko-KR" sz="1000" dirty="0"/>
              <a:t>Context API</a:t>
            </a:r>
            <a:r>
              <a:rPr lang="ko-KR" altLang="en-US" sz="1000" dirty="0"/>
              <a:t>보다 성능이 좋음</a:t>
            </a:r>
            <a:br>
              <a:rPr lang="en-US" altLang="ko-KR" sz="1000" dirty="0"/>
            </a:br>
            <a:endParaRPr lang="en-US" altLang="ko-KR" sz="1000" dirty="0"/>
          </a:p>
          <a:p>
            <a:r>
              <a:rPr lang="ko-KR" altLang="en-US" sz="1000" b="1" dirty="0"/>
              <a:t>장점</a:t>
            </a:r>
            <a:endParaRPr lang="en-US" altLang="ko-KR" sz="1000" b="1" dirty="0"/>
          </a:p>
          <a:p>
            <a:r>
              <a:rPr lang="en-US" altLang="ko-KR" sz="1000" dirty="0"/>
              <a:t>Context API</a:t>
            </a:r>
            <a:r>
              <a:rPr lang="ko-KR" altLang="en-US" sz="1000" dirty="0"/>
              <a:t>보다 렌더링 성능이 뛰어남 </a:t>
            </a:r>
            <a:r>
              <a:rPr lang="en-US" altLang="ko-KR" sz="1000" dirty="0"/>
              <a:t>(</a:t>
            </a:r>
            <a:r>
              <a:rPr lang="ko-KR" altLang="en-US" sz="1000" dirty="0"/>
              <a:t>변경된 상태만 업데이트됨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Redux</a:t>
            </a:r>
            <a:r>
              <a:rPr lang="ko-KR" altLang="en-US" sz="1000" dirty="0"/>
              <a:t>보다 코드가 간결함</a:t>
            </a:r>
          </a:p>
          <a:p>
            <a:r>
              <a:rPr lang="en-US" altLang="ko-KR" sz="1000" dirty="0" err="1"/>
              <a:t>useState</a:t>
            </a:r>
            <a:r>
              <a:rPr lang="ko-KR" altLang="en-US" sz="1000" dirty="0" err="1"/>
              <a:t>처럼</a:t>
            </a:r>
            <a:r>
              <a:rPr lang="ko-KR" altLang="en-US" sz="1000" dirty="0"/>
              <a:t> 간편하게 사용 가능</a:t>
            </a:r>
            <a:endParaRPr lang="en-US" altLang="ko-KR" sz="1000" dirty="0"/>
          </a:p>
          <a:p>
            <a:endParaRPr lang="ko-KR" altLang="en-US" sz="1000" dirty="0"/>
          </a:p>
          <a:p>
            <a:r>
              <a:rPr lang="ko-KR" altLang="en-US" sz="1000" b="1" dirty="0"/>
              <a:t>단점</a:t>
            </a:r>
            <a:endParaRPr lang="en-US" altLang="ko-KR" sz="1000" b="1" dirty="0"/>
          </a:p>
          <a:p>
            <a:r>
              <a:rPr lang="ko-KR" altLang="en-US" sz="1000" dirty="0"/>
              <a:t>상태를 유지하려면 </a:t>
            </a:r>
            <a:r>
              <a:rPr lang="en-US" altLang="ko-KR" sz="1000" dirty="0" err="1"/>
              <a:t>localStorage</a:t>
            </a:r>
            <a:r>
              <a:rPr lang="en-US" altLang="ko-KR" sz="1000" dirty="0"/>
              <a:t> </a:t>
            </a:r>
            <a:r>
              <a:rPr lang="ko-KR" altLang="en-US" sz="1000" dirty="0"/>
              <a:t>연동이 필요함</a:t>
            </a:r>
          </a:p>
          <a:p>
            <a:r>
              <a:rPr lang="en-US" altLang="ko-KR" sz="1000" dirty="0" err="1"/>
              <a:t>useEffect</a:t>
            </a:r>
            <a:r>
              <a:rPr lang="ko-KR" altLang="en-US" sz="1000" dirty="0"/>
              <a:t>와 함께 사용할 때 신경 써야 함</a:t>
            </a:r>
            <a:endParaRPr lang="en-US" altLang="ko-KR" sz="1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9768FA8-A80A-647B-756B-F8EAA8647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927651"/>
            <a:ext cx="7772400" cy="196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NEXT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983F3CA5-D412-6394-6A4F-E3171A4E0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85" y="855993"/>
            <a:ext cx="6258106" cy="345354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FC37801-CB9A-B1AD-CF1C-41BB03E8E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868" y="3158571"/>
            <a:ext cx="6258108" cy="345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51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33B85-175F-E61B-F860-0052C8A0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9A483C9-BD86-DB32-6F98-03765D73BE24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221B02F6-130A-75E2-C0B9-3638AF5BF886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487DEE5C-427C-DE0C-598E-E2DAA4842877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3580CB9-3EDB-7750-0D15-D458B7FF158F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자유형: 도형 1">
            <a:extLst>
              <a:ext uri="{FF2B5EF4-FFF2-40B4-BE49-F238E27FC236}">
                <a16:creationId xmlns:a16="http://schemas.microsoft.com/office/drawing/2014/main" id="{3ED134D5-8FC7-2CFB-FEA3-5956220A9FE9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실습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8FF554F-3A8F-E636-9E00-8FDD75E665F9}"/>
              </a:ext>
            </a:extLst>
          </p:cNvPr>
          <p:cNvSpPr/>
          <p:nvPr/>
        </p:nvSpPr>
        <p:spPr>
          <a:xfrm>
            <a:off x="794200" y="1196586"/>
            <a:ext cx="4731958" cy="4139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Next.JS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프로젝트 생성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228600" indent="-228600" algn="l">
              <a:buAutoNum type="arabicPeriod"/>
            </a:pPr>
            <a:endParaRPr lang="en-US" altLang="ko-KR" sz="1200" dirty="0"/>
          </a:p>
          <a:p>
            <a:pPr algn="l"/>
            <a:r>
              <a:rPr lang="ko-KR" altLang="en-US" sz="1400" b="1" dirty="0"/>
              <a:t>페이지 구성</a:t>
            </a:r>
            <a:endParaRPr lang="en-US" altLang="ko-KR" sz="1400" b="1" dirty="0"/>
          </a:p>
          <a:p>
            <a:pPr algn="l"/>
            <a:r>
              <a:rPr lang="ko-KR" altLang="en-US" sz="1200" b="1" dirty="0"/>
              <a:t>로그인</a:t>
            </a:r>
            <a:endParaRPr lang="en-US" altLang="ko-KR" sz="1200" b="1" dirty="0"/>
          </a:p>
          <a:p>
            <a:pPr algn="l"/>
            <a:r>
              <a:rPr lang="en-US" altLang="ko-KR" sz="1200" dirty="0"/>
              <a:t>(</a:t>
            </a:r>
            <a:r>
              <a:rPr lang="en-US" altLang="ko-KR" sz="1200" dirty="0" err="1"/>
              <a:t>url</a:t>
            </a:r>
            <a:r>
              <a:rPr lang="en-US" altLang="ko-KR" sz="1200" dirty="0"/>
              <a:t> = /next/account/login, POST)</a:t>
            </a:r>
          </a:p>
          <a:p>
            <a:r>
              <a:rPr lang="en-US" altLang="ko-KR" sz="1200" dirty="0"/>
              <a:t>Request body</a:t>
            </a:r>
          </a:p>
          <a:p>
            <a:pPr algn="l"/>
            <a:r>
              <a:rPr lang="en-US" altLang="ko-KR" sz="1200" dirty="0"/>
              <a:t>{</a:t>
            </a:r>
          </a:p>
          <a:p>
            <a:pPr algn="l"/>
            <a:r>
              <a:rPr lang="en-US" altLang="ko-KR" sz="1200" dirty="0" err="1"/>
              <a:t>userId</a:t>
            </a:r>
            <a:r>
              <a:rPr lang="en-US" altLang="ko-KR" sz="1200" dirty="0"/>
              <a:t>: string,</a:t>
            </a:r>
          </a:p>
          <a:p>
            <a:pPr algn="l"/>
            <a:r>
              <a:rPr lang="en-US" altLang="ko-KR" sz="1200" dirty="0"/>
              <a:t>Password: string</a:t>
            </a:r>
          </a:p>
          <a:p>
            <a:pPr algn="l"/>
            <a:r>
              <a:rPr lang="en-US" altLang="ko-KR" sz="1200" dirty="0"/>
              <a:t>}</a:t>
            </a:r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b="1" dirty="0"/>
              <a:t>회원가입</a:t>
            </a:r>
            <a:endParaRPr lang="en-US" altLang="ko-KR" sz="1200" b="1" dirty="0"/>
          </a:p>
          <a:p>
            <a:pPr algn="l"/>
            <a:r>
              <a:rPr lang="en-US" altLang="ko-KR" sz="1200" dirty="0"/>
              <a:t>(</a:t>
            </a:r>
            <a:r>
              <a:rPr lang="en-US" altLang="ko-KR" sz="1200" dirty="0" err="1"/>
              <a:t>url</a:t>
            </a:r>
            <a:r>
              <a:rPr lang="en-US" altLang="ko-KR" sz="1200" dirty="0"/>
              <a:t> = /next/account/join, POST)</a:t>
            </a:r>
          </a:p>
          <a:p>
            <a:pPr algn="l"/>
            <a:r>
              <a:rPr lang="en-US" altLang="ko-KR" sz="1200" dirty="0"/>
              <a:t>Request body</a:t>
            </a:r>
          </a:p>
          <a:p>
            <a:pPr algn="l"/>
            <a:r>
              <a:rPr lang="en-US" altLang="ko-KR" sz="1200" dirty="0"/>
              <a:t>{</a:t>
            </a:r>
          </a:p>
          <a:p>
            <a:pPr algn="l"/>
            <a:r>
              <a:rPr lang="en-US" altLang="ko-KR" sz="1200" dirty="0" err="1"/>
              <a:t>userId</a:t>
            </a:r>
            <a:r>
              <a:rPr lang="en-US" altLang="ko-KR" sz="1200" dirty="0"/>
              <a:t> : string</a:t>
            </a:r>
          </a:p>
          <a:p>
            <a:pPr algn="l"/>
            <a:r>
              <a:rPr lang="en-US" altLang="ko-KR" sz="1200" dirty="0"/>
              <a:t>username: string</a:t>
            </a:r>
          </a:p>
          <a:p>
            <a:pPr algn="l"/>
            <a:r>
              <a:rPr lang="en-US" altLang="ko-KR" sz="1200" dirty="0"/>
              <a:t>password : string</a:t>
            </a:r>
          </a:p>
          <a:p>
            <a:pPr algn="l"/>
            <a:r>
              <a:rPr lang="en-US" altLang="ko-KR" sz="1200" dirty="0"/>
              <a:t>email : string</a:t>
            </a:r>
          </a:p>
          <a:p>
            <a:pPr algn="l"/>
            <a:r>
              <a:rPr lang="en-US" altLang="ko-KR" sz="1200" dirty="0"/>
              <a:t>}</a:t>
            </a:r>
          </a:p>
          <a:p>
            <a:pPr algn="l"/>
            <a:endParaRPr lang="en-US" altLang="ko-KR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0E9054-44A6-734F-0A9D-DF71BD947B8A}"/>
              </a:ext>
            </a:extLst>
          </p:cNvPr>
          <p:cNvSpPr/>
          <p:nvPr/>
        </p:nvSpPr>
        <p:spPr>
          <a:xfrm>
            <a:off x="5352524" y="1140662"/>
            <a:ext cx="4731958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/>
              <a:t>가입자 리스트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테이블 뷰</a:t>
            </a:r>
            <a:r>
              <a:rPr lang="en-US" altLang="ko-KR" sz="1200" b="1" dirty="0"/>
              <a:t>)</a:t>
            </a:r>
          </a:p>
          <a:p>
            <a:pPr algn="l"/>
            <a:r>
              <a:rPr lang="en-US" altLang="ko-KR" sz="1200" dirty="0"/>
              <a:t>(</a:t>
            </a:r>
            <a:r>
              <a:rPr lang="en-US" altLang="ko-KR" sz="1200" dirty="0" err="1"/>
              <a:t>url</a:t>
            </a:r>
            <a:r>
              <a:rPr lang="en-US" altLang="ko-KR" sz="1200" dirty="0"/>
              <a:t> = /next/member/list, GET)</a:t>
            </a:r>
          </a:p>
          <a:p>
            <a:pPr algn="l"/>
            <a:endParaRPr lang="en-US" altLang="ko-KR" sz="1200" dirty="0"/>
          </a:p>
          <a:p>
            <a:pPr algn="l"/>
            <a:r>
              <a:rPr lang="en-US" altLang="ko-KR" sz="1200" dirty="0"/>
              <a:t>Response Body {</a:t>
            </a:r>
          </a:p>
          <a:p>
            <a:pPr algn="l"/>
            <a:r>
              <a:rPr lang="en-US" altLang="ko-KR" sz="1200" dirty="0"/>
              <a:t>id: string</a:t>
            </a:r>
          </a:p>
          <a:p>
            <a:pPr algn="l"/>
            <a:r>
              <a:rPr lang="en-US" altLang="ko-KR" sz="1200" dirty="0"/>
              <a:t>index: number</a:t>
            </a:r>
          </a:p>
          <a:p>
            <a:pPr algn="l"/>
            <a:r>
              <a:rPr lang="en-US" altLang="ko-KR" sz="1200" dirty="0"/>
              <a:t>name: string</a:t>
            </a:r>
          </a:p>
          <a:p>
            <a:pPr algn="l"/>
            <a:r>
              <a:rPr lang="en-US" altLang="ko-KR" sz="1200" dirty="0"/>
              <a:t>email : string</a:t>
            </a:r>
          </a:p>
          <a:p>
            <a:pPr algn="l"/>
            <a:r>
              <a:rPr lang="en-US" altLang="ko-KR" sz="1200" dirty="0"/>
              <a:t>phone : string</a:t>
            </a:r>
          </a:p>
          <a:p>
            <a:pPr algn="l"/>
            <a:r>
              <a:rPr lang="en-US" altLang="ko-KR" sz="1200" dirty="0"/>
              <a:t>country : string</a:t>
            </a:r>
          </a:p>
          <a:p>
            <a:pPr algn="l"/>
            <a:r>
              <a:rPr lang="en-US" altLang="ko-KR" sz="1200" dirty="0"/>
              <a:t>address : string</a:t>
            </a:r>
          </a:p>
          <a:p>
            <a:pPr algn="l"/>
            <a:r>
              <a:rPr lang="en-US" altLang="ko-KR" sz="1200" dirty="0"/>
              <a:t>job : string</a:t>
            </a:r>
          </a:p>
          <a:p>
            <a:pPr algn="l"/>
            <a:r>
              <a:rPr lang="en-US" altLang="ko-KR" sz="1200" dirty="0"/>
              <a:t>gender : string</a:t>
            </a:r>
          </a:p>
          <a:p>
            <a:pPr algn="l"/>
            <a:r>
              <a:rPr lang="en-US" altLang="ko-KR" sz="1200" dirty="0"/>
              <a:t>}</a:t>
            </a:r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/>
              <a:t>이름 검색</a:t>
            </a:r>
            <a:endParaRPr lang="en-US" altLang="ko-KR" sz="1200" dirty="0"/>
          </a:p>
          <a:p>
            <a:pPr algn="l"/>
            <a:r>
              <a:rPr lang="ko-KR" altLang="en-US" sz="1200" dirty="0" err="1"/>
              <a:t>페이징</a:t>
            </a:r>
            <a:r>
              <a:rPr lang="en-US" altLang="ko-KR" sz="1200" dirty="0"/>
              <a:t>(10,</a:t>
            </a:r>
            <a:r>
              <a:rPr lang="ko-KR" altLang="en-US" sz="1200" dirty="0"/>
              <a:t> </a:t>
            </a:r>
            <a:r>
              <a:rPr lang="en-US" altLang="ko-KR" sz="1200" dirty="0"/>
              <a:t>20,</a:t>
            </a:r>
            <a:r>
              <a:rPr lang="ko-KR" altLang="en-US" sz="1200" dirty="0"/>
              <a:t> </a:t>
            </a:r>
            <a:r>
              <a:rPr lang="en-US" altLang="ko-KR" sz="1200" dirty="0"/>
              <a:t>50,</a:t>
            </a:r>
            <a:r>
              <a:rPr lang="ko-KR" altLang="en-US" sz="1200" dirty="0"/>
              <a:t> 전체 보기</a:t>
            </a:r>
            <a:r>
              <a:rPr lang="en-US" altLang="ko-KR" sz="1200" dirty="0"/>
              <a:t>)</a:t>
            </a:r>
          </a:p>
          <a:p>
            <a:pPr algn="l"/>
            <a:r>
              <a:rPr lang="ko-KR" altLang="en-US" sz="1200" dirty="0" err="1"/>
              <a:t>컬럼별</a:t>
            </a:r>
            <a:r>
              <a:rPr lang="ko-KR" altLang="en-US" sz="1200" dirty="0"/>
              <a:t> 정렬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b="1" dirty="0"/>
              <a:t>홈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로그인 계정 출력</a:t>
            </a:r>
            <a:r>
              <a:rPr lang="en-US" altLang="ko-KR" sz="1200" b="1" dirty="0"/>
              <a:t>)</a:t>
            </a:r>
          </a:p>
          <a:p>
            <a:pPr algn="l"/>
            <a:r>
              <a:rPr lang="en-US" altLang="ko-KR" sz="1200" dirty="0"/>
              <a:t>(</a:t>
            </a:r>
            <a:r>
              <a:rPr lang="en-US" altLang="ko-KR" sz="1200" dirty="0" err="1"/>
              <a:t>url</a:t>
            </a:r>
            <a:r>
              <a:rPr lang="en-US" altLang="ko-KR" sz="1200" dirty="0"/>
              <a:t> = /next/account, GET)</a:t>
            </a:r>
          </a:p>
          <a:p>
            <a:pPr algn="l"/>
            <a:r>
              <a:rPr lang="en-US" altLang="ko-KR" sz="1200" dirty="0"/>
              <a:t>Parameter : </a:t>
            </a:r>
            <a:r>
              <a:rPr lang="en-US" altLang="ko-KR" sz="1200" dirty="0" err="1"/>
              <a:t>userId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en-US" altLang="ko-KR" sz="1200" dirty="0"/>
              <a:t>Response Body {</a:t>
            </a:r>
          </a:p>
          <a:p>
            <a:pPr algn="l"/>
            <a:r>
              <a:rPr lang="en-US" altLang="ko-KR" sz="1200" dirty="0" err="1"/>
              <a:t>userId</a:t>
            </a:r>
            <a:r>
              <a:rPr lang="en-US" altLang="ko-KR" sz="1200" dirty="0"/>
              <a:t>: string</a:t>
            </a:r>
          </a:p>
          <a:p>
            <a:pPr algn="l"/>
            <a:r>
              <a:rPr lang="en-US" altLang="ko-KR" sz="1200" dirty="0" err="1"/>
              <a:t>userName</a:t>
            </a:r>
            <a:r>
              <a:rPr lang="en-US" altLang="ko-KR" sz="1200" dirty="0"/>
              <a:t> : string</a:t>
            </a:r>
          </a:p>
          <a:p>
            <a:pPr algn="l"/>
            <a:r>
              <a:rPr lang="en-US" altLang="ko-KR" sz="1200" dirty="0"/>
              <a:t>password : string</a:t>
            </a:r>
          </a:p>
          <a:p>
            <a:pPr algn="l"/>
            <a:r>
              <a:rPr lang="en-US" altLang="ko-KR" sz="1200" dirty="0"/>
              <a:t>email : string</a:t>
            </a:r>
          </a:p>
          <a:p>
            <a:pPr algn="l"/>
            <a:r>
              <a:rPr lang="en-US" altLang="ko-KR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28156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692</Words>
  <Application>Microsoft Macintosh PowerPoint</Application>
  <PresentationFormat>와이드스크린</PresentationFormat>
  <Paragraphs>164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Tmon몬소리 Black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현석 조</dc:creator>
  <cp:lastModifiedBy>aton</cp:lastModifiedBy>
  <cp:revision>14</cp:revision>
  <dcterms:created xsi:type="dcterms:W3CDTF">2025-02-16T02:18:17Z</dcterms:created>
  <dcterms:modified xsi:type="dcterms:W3CDTF">2025-02-27T09:44:22Z</dcterms:modified>
</cp:coreProperties>
</file>