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819" r:id="rId2"/>
    <p:sldId id="822" r:id="rId3"/>
    <p:sldId id="825" r:id="rId4"/>
    <p:sldId id="824" r:id="rId5"/>
    <p:sldId id="827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F3FF"/>
    <a:srgbClr val="FC4C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1" autoAdjust="0"/>
    <p:restoredTop sz="95449" autoAdjust="0"/>
  </p:normalViewPr>
  <p:slideViewPr>
    <p:cSldViewPr snapToGrid="0">
      <p:cViewPr varScale="1">
        <p:scale>
          <a:sx n="128" d="100"/>
          <a:sy n="128" d="100"/>
        </p:scale>
        <p:origin x="19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64AF55-E316-43DE-B2B2-61924C35482E}" type="datetimeFigureOut">
              <a:rPr lang="ko-KR" altLang="en-US" smtClean="0"/>
              <a:t>2025. 2. 26.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2C787D-22B2-4657-96EC-990D19AEB8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6286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2C787D-22B2-4657-96EC-990D19AEB860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3081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1586BD-0F56-465E-90DD-4F7EB5C22C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62D75AF-8D7E-477A-B06A-773B54B18A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2D08B3-A9A6-4CA5-94A5-60BE4193B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2025. 2. 26.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5B2C64-F6D0-4564-A934-9F517F7C4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881C62-2657-4643-9CC9-89D68799A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8526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9BCD5E-CF2F-45CD-A1C5-FACE037AE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340CAA-7987-4F30-B10A-034CDBA23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8DEE94-B9EB-437B-B87B-4D6343955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2025. 2. 26.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C7A974-A07A-49C2-B147-F6EC85053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4EDD24-940C-445F-B974-623173FA1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6671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55FC26-2554-4ACE-AD62-BF4C0D150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F7A203-776E-48E1-8F52-E0C061723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2283AA-0163-40C4-BD15-4B5D9779A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2025. 2. 26.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A8905D-720A-4884-BF88-251296BD5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1F5B7E-479B-4C2C-9C2F-FC3D3BAF2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6219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78C707-FFC8-4A24-BA23-EF9EC4467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160DF4-3AB1-42B3-8971-B823E5CB29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B6BFC4C-B0FA-4F91-8D27-3D1AF4C2C7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FAC31B-12B8-44B6-A9E9-8F967BCFB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2025. 2. 26.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FFAD4C5-4E96-46C0-9033-3CF48A722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F5A243-79AB-498E-9F6B-C0EA9EA19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2856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839153-E8CD-49CF-A352-CE2C89DD0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D2D86D-B04B-4F6E-8B70-CEEE8EE74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DF040F-70C5-4670-BDE4-017C92D5B3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02EE54B-8A53-409D-B09E-64BD2F952B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2B72209-6EC7-4418-A78D-417AB466F5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F99256C-B33C-4980-B58A-185F1B508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2025. 2. 26.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0D41821-F2CE-4C29-8132-70323EDD6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8C219DB-B597-4742-98CD-2CAE4BE50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8688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6D106D-5995-4C96-A34B-80776AE9E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FF2DA30-6E46-4781-A24E-22BEFDC93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2025. 2. 26.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6E6DFE5-8E83-400E-805F-69D1FE731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D16593-628A-472D-A9C3-C41BD8886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8798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9B1C4D2-3722-4C1D-B0E4-3ABC0DA4C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2025. 2. 26.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3A393B7-AE11-4029-9D65-0BDEFB02D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9F3B94-79EC-477D-B625-FF12E8701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109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D40AC1-6795-4CA4-8863-90C130E9F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AA3D37-5CDD-4F3C-8395-110B38116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E09C48F-85AB-4E64-BEFA-3A18C6A9F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6C7D03F-6B67-4E51-B669-6A0E67E1E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2025. 2. 26.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481C9-7778-4E3B-A752-9007B5C85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C20EB4-E727-4E37-91E3-2D601E7FF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0834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0C0D57-3EBF-4D7D-9103-029D562A3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925C662-F8E6-4896-9E6B-19D16B2099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7ED9F6B-4286-432D-A5CB-100E7F7765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AD39F7-71D8-4D10-B6E7-04E0D95EB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2025. 2. 26.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3C73A8-E25B-4949-B956-80A5EC260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7CE8D1-E11F-4E87-B585-E1E5C9463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8801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98AADC-F389-4BCD-9E52-49B7E6490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1A3D60F-143D-47A7-90DD-8D2052D74E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D2913F-34A8-4E19-BE54-298D842C8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2025. 2. 26.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6ADB15-0821-4678-8A84-0615C9618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5E1647-A311-42C8-900F-03252A535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0695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42E21EA-AC61-43C5-AA22-71763E0491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D08377-D434-4883-933D-05403373BC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6BEFAE-52A5-4771-A24E-66D37EDBF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2025. 2. 26.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F5FDAD-E360-45AB-9254-5D5A1437A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79758A-1063-49CC-A47B-5A24925A9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0562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718C337-9B27-40D3-A9B2-4005EE7EA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69189F-28A1-4057-8CE9-3B76810BF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F256D8-7BB6-49E2-954E-EF9E05DBF8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6BE8F7-8EF6-4880-9F1A-6D10965A8681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2025. 2. 26.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38B22D-A8A6-4CDF-89EF-E670765EC8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BBC4C3-52FC-436A-A3AE-F6A5F52B66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A3BBB8-EBE5-4A2B-AB70-89540E1C96C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2059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096742-40DA-084E-A437-86FE713EC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8EF10402-83F7-A2FF-6CC3-3AB754179022}"/>
              </a:ext>
            </a:extLst>
          </p:cNvPr>
          <p:cNvSpPr/>
          <p:nvPr/>
        </p:nvSpPr>
        <p:spPr>
          <a:xfrm>
            <a:off x="4026772" y="2731302"/>
            <a:ext cx="6005258" cy="1006840"/>
          </a:xfrm>
          <a:custGeom>
            <a:avLst/>
            <a:gdLst>
              <a:gd name="connsiteX0" fmla="*/ 410589 w 6005258"/>
              <a:gd name="connsiteY0" fmla="*/ 0 h 1006840"/>
              <a:gd name="connsiteX1" fmla="*/ 5501838 w 6005258"/>
              <a:gd name="connsiteY1" fmla="*/ 0 h 1006840"/>
              <a:gd name="connsiteX2" fmla="*/ 6005258 w 6005258"/>
              <a:gd name="connsiteY2" fmla="*/ 503420 h 1006840"/>
              <a:gd name="connsiteX3" fmla="*/ 5501838 w 6005258"/>
              <a:gd name="connsiteY3" fmla="*/ 1006840 h 1006840"/>
              <a:gd name="connsiteX4" fmla="*/ 0 w 6005258"/>
              <a:gd name="connsiteY4" fmla="*/ 1006840 h 1006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05258" h="1006840">
                <a:moveTo>
                  <a:pt x="410589" y="0"/>
                </a:moveTo>
                <a:lnTo>
                  <a:pt x="5501838" y="0"/>
                </a:lnTo>
                <a:cubicBezTo>
                  <a:pt x="5779869" y="0"/>
                  <a:pt x="6005258" y="225389"/>
                  <a:pt x="6005258" y="503420"/>
                </a:cubicBezTo>
                <a:cubicBezTo>
                  <a:pt x="6005258" y="781451"/>
                  <a:pt x="5779869" y="1006840"/>
                  <a:pt x="5501838" y="1006840"/>
                </a:cubicBezTo>
                <a:lnTo>
                  <a:pt x="0" y="1006840"/>
                </a:lnTo>
                <a:close/>
              </a:path>
            </a:pathLst>
          </a:custGeom>
          <a:solidFill>
            <a:srgbClr val="FC4C4C"/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600" i="1" kern="0" dirty="0">
                <a:ln w="9525">
                  <a:noFill/>
                </a:ln>
                <a:solidFill>
                  <a:prstClr val="white"/>
                </a:solidFill>
                <a:latin typeface="Tmon몬소리 Black" panose="02000A03000000000000" pitchFamily="2" charset="-127"/>
                <a:ea typeface="Tmon몬소리 Black" panose="02000A03000000000000" pitchFamily="2" charset="-127"/>
              </a:rPr>
              <a:t>2. TYPESCRIPT</a:t>
            </a:r>
            <a:endParaRPr kumimoji="0" lang="en-US" altLang="ko-KR" sz="3600" b="0" i="1" u="none" strike="noStrike" kern="0" cap="none" spc="0" normalizeH="0" baseline="0" noProof="0" dirty="0">
              <a:ln w="9525">
                <a:noFill/>
              </a:ln>
              <a:solidFill>
                <a:prstClr val="white"/>
              </a:solidFill>
              <a:effectLst/>
              <a:uLnTx/>
              <a:uFillTx/>
              <a:latin typeface="Tmon몬소리 Black" panose="02000A03000000000000" pitchFamily="2" charset="-127"/>
              <a:ea typeface="Tmon몬소리 Black" panose="02000A03000000000000" pitchFamily="2" charset="-127"/>
              <a:cs typeface="+mn-cs"/>
            </a:endParaRPr>
          </a:p>
        </p:txBody>
      </p:sp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C0383F5C-86A7-2256-81F4-37D601A2CCCC}"/>
              </a:ext>
            </a:extLst>
          </p:cNvPr>
          <p:cNvSpPr/>
          <p:nvPr/>
        </p:nvSpPr>
        <p:spPr>
          <a:xfrm>
            <a:off x="2976384" y="2587892"/>
            <a:ext cx="1694251" cy="1006840"/>
          </a:xfrm>
          <a:custGeom>
            <a:avLst/>
            <a:gdLst>
              <a:gd name="connsiteX0" fmla="*/ 503420 w 1694251"/>
              <a:gd name="connsiteY0" fmla="*/ 0 h 1006840"/>
              <a:gd name="connsiteX1" fmla="*/ 1694251 w 1694251"/>
              <a:gd name="connsiteY1" fmla="*/ 0 h 1006840"/>
              <a:gd name="connsiteX2" fmla="*/ 1283661 w 1694251"/>
              <a:gd name="connsiteY2" fmla="*/ 1006840 h 1006840"/>
              <a:gd name="connsiteX3" fmla="*/ 503420 w 1694251"/>
              <a:gd name="connsiteY3" fmla="*/ 1006840 h 1006840"/>
              <a:gd name="connsiteX4" fmla="*/ 0 w 1694251"/>
              <a:gd name="connsiteY4" fmla="*/ 503420 h 1006840"/>
              <a:gd name="connsiteX5" fmla="*/ 503420 w 1694251"/>
              <a:gd name="connsiteY5" fmla="*/ 0 h 1006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94251" h="1006840">
                <a:moveTo>
                  <a:pt x="503420" y="0"/>
                </a:moveTo>
                <a:lnTo>
                  <a:pt x="1694251" y="0"/>
                </a:lnTo>
                <a:lnTo>
                  <a:pt x="1283661" y="1006840"/>
                </a:lnTo>
                <a:lnTo>
                  <a:pt x="503420" y="1006840"/>
                </a:lnTo>
                <a:cubicBezTo>
                  <a:pt x="225389" y="1006840"/>
                  <a:pt x="0" y="781451"/>
                  <a:pt x="0" y="503420"/>
                </a:cubicBezTo>
                <a:cubicBezTo>
                  <a:pt x="0" y="225389"/>
                  <a:pt x="225389" y="0"/>
                  <a:pt x="50342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r>
              <a:rPr lang="ko-KR" altLang="en-US" sz="1600" i="1" kern="0" dirty="0">
                <a:ln w="9525">
                  <a:noFill/>
                </a:ln>
                <a:solidFill>
                  <a:prstClr val="black"/>
                </a:solidFill>
                <a:latin typeface="맑은 고딕" panose="020F0502020204030204"/>
                <a:ea typeface="Tmon몬소리 Black" panose="02000A03000000000000" pitchFamily="2" charset="-127"/>
              </a:rPr>
              <a:t>인턴 교육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D046E6F6-1B37-138B-48CF-C5EFAC5530D4}"/>
              </a:ext>
            </a:extLst>
          </p:cNvPr>
          <p:cNvSpPr/>
          <p:nvPr/>
        </p:nvSpPr>
        <p:spPr>
          <a:xfrm>
            <a:off x="4026772" y="3595228"/>
            <a:ext cx="230109" cy="142914"/>
          </a:xfrm>
          <a:custGeom>
            <a:avLst/>
            <a:gdLst>
              <a:gd name="connsiteX0" fmla="*/ 32702 w 129121"/>
              <a:gd name="connsiteY0" fmla="*/ 0 h 80193"/>
              <a:gd name="connsiteX1" fmla="*/ 129121 w 129121"/>
              <a:gd name="connsiteY1" fmla="*/ 0 h 80193"/>
              <a:gd name="connsiteX2" fmla="*/ 128802 w 129121"/>
              <a:gd name="connsiteY2" fmla="*/ 765 h 80193"/>
              <a:gd name="connsiteX3" fmla="*/ 0 w 129121"/>
              <a:gd name="connsiteY3" fmla="*/ 80193 h 80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121" h="80193">
                <a:moveTo>
                  <a:pt x="32702" y="0"/>
                </a:moveTo>
                <a:lnTo>
                  <a:pt x="129121" y="0"/>
                </a:lnTo>
                <a:lnTo>
                  <a:pt x="128802" y="765"/>
                </a:lnTo>
                <a:lnTo>
                  <a:pt x="0" y="80193"/>
                </a:lnTo>
                <a:close/>
              </a:path>
            </a:pathLst>
          </a:custGeom>
          <a:solidFill>
            <a:schemeClr val="tx1">
              <a:alpha val="40000"/>
            </a:schemeClr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4216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3F0D79-A2AF-2B1D-A2F4-2429EC928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9770B1B5-3E49-5630-F59D-A46A27E3408F}"/>
              </a:ext>
            </a:extLst>
          </p:cNvPr>
          <p:cNvSpPr/>
          <p:nvPr/>
        </p:nvSpPr>
        <p:spPr>
          <a:xfrm>
            <a:off x="6127775" y="269693"/>
            <a:ext cx="1066250" cy="5048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44605977-7CF0-BDB1-BD98-C5B7FEB46C0E}"/>
              </a:ext>
            </a:extLst>
          </p:cNvPr>
          <p:cNvSpPr/>
          <p:nvPr/>
        </p:nvSpPr>
        <p:spPr>
          <a:xfrm>
            <a:off x="1105947" y="269693"/>
            <a:ext cx="5898940" cy="504826"/>
          </a:xfrm>
          <a:custGeom>
            <a:avLst/>
            <a:gdLst>
              <a:gd name="connsiteX0" fmla="*/ 205868 w 5898940"/>
              <a:gd name="connsiteY0" fmla="*/ 0 h 504826"/>
              <a:gd name="connsiteX1" fmla="*/ 5646527 w 5898940"/>
              <a:gd name="connsiteY1" fmla="*/ 0 h 504826"/>
              <a:gd name="connsiteX2" fmla="*/ 5898940 w 5898940"/>
              <a:gd name="connsiteY2" fmla="*/ 252413 h 504826"/>
              <a:gd name="connsiteX3" fmla="*/ 5898939 w 5898940"/>
              <a:gd name="connsiteY3" fmla="*/ 252413 h 504826"/>
              <a:gd name="connsiteX4" fmla="*/ 5646526 w 5898940"/>
              <a:gd name="connsiteY4" fmla="*/ 504826 h 504826"/>
              <a:gd name="connsiteX5" fmla="*/ 0 w 5898940"/>
              <a:gd name="connsiteY5" fmla="*/ 504825 h 504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98940" h="504826">
                <a:moveTo>
                  <a:pt x="205868" y="0"/>
                </a:moveTo>
                <a:lnTo>
                  <a:pt x="5646527" y="0"/>
                </a:lnTo>
                <a:cubicBezTo>
                  <a:pt x="5785931" y="0"/>
                  <a:pt x="5898940" y="113009"/>
                  <a:pt x="5898940" y="252413"/>
                </a:cubicBezTo>
                <a:lnTo>
                  <a:pt x="5898939" y="252413"/>
                </a:lnTo>
                <a:cubicBezTo>
                  <a:pt x="5898939" y="391817"/>
                  <a:pt x="5785930" y="504826"/>
                  <a:pt x="5646526" y="504826"/>
                </a:cubicBezTo>
                <a:lnTo>
                  <a:pt x="0" y="504825"/>
                </a:lnTo>
                <a:close/>
              </a:path>
            </a:pathLst>
          </a:custGeom>
          <a:solidFill>
            <a:srgbClr val="FC4C4C"/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r>
              <a:rPr kumimoji="0" lang="ko-KR" altLang="en-US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목차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951A5045-A1C2-30E2-10A4-DE40A2362764}"/>
              </a:ext>
            </a:extLst>
          </p:cNvPr>
          <p:cNvSpPr/>
          <p:nvPr/>
        </p:nvSpPr>
        <p:spPr>
          <a:xfrm>
            <a:off x="1106471" y="693043"/>
            <a:ext cx="129121" cy="80193"/>
          </a:xfrm>
          <a:custGeom>
            <a:avLst/>
            <a:gdLst>
              <a:gd name="connsiteX0" fmla="*/ 32702 w 129121"/>
              <a:gd name="connsiteY0" fmla="*/ 0 h 80193"/>
              <a:gd name="connsiteX1" fmla="*/ 129121 w 129121"/>
              <a:gd name="connsiteY1" fmla="*/ 0 h 80193"/>
              <a:gd name="connsiteX2" fmla="*/ 128802 w 129121"/>
              <a:gd name="connsiteY2" fmla="*/ 765 h 80193"/>
              <a:gd name="connsiteX3" fmla="*/ 0 w 129121"/>
              <a:gd name="connsiteY3" fmla="*/ 80193 h 80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121" h="80193">
                <a:moveTo>
                  <a:pt x="32702" y="0"/>
                </a:moveTo>
                <a:lnTo>
                  <a:pt x="129121" y="0"/>
                </a:lnTo>
                <a:lnTo>
                  <a:pt x="128802" y="765"/>
                </a:lnTo>
                <a:lnTo>
                  <a:pt x="0" y="80193"/>
                </a:lnTo>
                <a:close/>
              </a:path>
            </a:pathLst>
          </a:custGeom>
          <a:solidFill>
            <a:schemeClr val="tx1">
              <a:alpha val="40000"/>
            </a:schemeClr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FF30EB1C-BD99-EC58-346A-5356CB93CCCD}"/>
              </a:ext>
            </a:extLst>
          </p:cNvPr>
          <p:cNvSpPr/>
          <p:nvPr/>
        </p:nvSpPr>
        <p:spPr>
          <a:xfrm>
            <a:off x="371476" y="188218"/>
            <a:ext cx="1066250" cy="504825"/>
          </a:xfrm>
          <a:custGeom>
            <a:avLst/>
            <a:gdLst>
              <a:gd name="connsiteX0" fmla="*/ 0 w 1066250"/>
              <a:gd name="connsiteY0" fmla="*/ 252412 h 504825"/>
              <a:gd name="connsiteX1" fmla="*/ 0 w 1066250"/>
              <a:gd name="connsiteY1" fmla="*/ 252413 h 504825"/>
              <a:gd name="connsiteX2" fmla="*/ 0 w 1066250"/>
              <a:gd name="connsiteY2" fmla="*/ 252413 h 504825"/>
              <a:gd name="connsiteX3" fmla="*/ 252413 w 1066250"/>
              <a:gd name="connsiteY3" fmla="*/ 0 h 504825"/>
              <a:gd name="connsiteX4" fmla="*/ 1066250 w 1066250"/>
              <a:gd name="connsiteY4" fmla="*/ 0 h 504825"/>
              <a:gd name="connsiteX5" fmla="*/ 860382 w 1066250"/>
              <a:gd name="connsiteY5" fmla="*/ 504825 h 504825"/>
              <a:gd name="connsiteX6" fmla="*/ 252413 w 1066250"/>
              <a:gd name="connsiteY6" fmla="*/ 504825 h 504825"/>
              <a:gd name="connsiteX7" fmla="*/ 19836 w 1066250"/>
              <a:gd name="connsiteY7" fmla="*/ 350663 h 504825"/>
              <a:gd name="connsiteX8" fmla="*/ 0 w 1066250"/>
              <a:gd name="connsiteY8" fmla="*/ 252413 h 504825"/>
              <a:gd name="connsiteX9" fmla="*/ 19836 w 1066250"/>
              <a:gd name="connsiteY9" fmla="*/ 154162 h 504825"/>
              <a:gd name="connsiteX10" fmla="*/ 252413 w 1066250"/>
              <a:gd name="connsiteY10" fmla="*/ 0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66250" h="504825">
                <a:moveTo>
                  <a:pt x="0" y="252412"/>
                </a:moveTo>
                <a:lnTo>
                  <a:pt x="0" y="252413"/>
                </a:lnTo>
                <a:lnTo>
                  <a:pt x="0" y="252413"/>
                </a:lnTo>
                <a:close/>
                <a:moveTo>
                  <a:pt x="252413" y="0"/>
                </a:moveTo>
                <a:lnTo>
                  <a:pt x="1066250" y="0"/>
                </a:lnTo>
                <a:lnTo>
                  <a:pt x="860382" y="504825"/>
                </a:lnTo>
                <a:lnTo>
                  <a:pt x="252413" y="504825"/>
                </a:lnTo>
                <a:cubicBezTo>
                  <a:pt x="147860" y="504825"/>
                  <a:pt x="58154" y="441257"/>
                  <a:pt x="19836" y="350663"/>
                </a:cubicBezTo>
                <a:lnTo>
                  <a:pt x="0" y="252413"/>
                </a:lnTo>
                <a:lnTo>
                  <a:pt x="19836" y="154162"/>
                </a:lnTo>
                <a:cubicBezTo>
                  <a:pt x="58154" y="63568"/>
                  <a:pt x="147860" y="0"/>
                  <a:pt x="25241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1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E29F52AB-B745-BC91-15E3-0B212C3A63A1}"/>
              </a:ext>
            </a:extLst>
          </p:cNvPr>
          <p:cNvCxnSpPr/>
          <p:nvPr/>
        </p:nvCxnSpPr>
        <p:spPr>
          <a:xfrm>
            <a:off x="7092426" y="504825"/>
            <a:ext cx="5112000" cy="0"/>
          </a:xfrm>
          <a:prstGeom prst="line">
            <a:avLst/>
          </a:prstGeom>
          <a:ln w="3175">
            <a:solidFill>
              <a:srgbClr val="FC4C4C"/>
            </a:solidFill>
            <a:prstDash val="dash"/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43D13C4-2E59-6855-FD6C-E6905F0D7333}"/>
              </a:ext>
            </a:extLst>
          </p:cNvPr>
          <p:cNvSpPr txBox="1"/>
          <p:nvPr/>
        </p:nvSpPr>
        <p:spPr>
          <a:xfrm>
            <a:off x="4999508" y="2918892"/>
            <a:ext cx="2192983" cy="1020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altLang="ko-KR" sz="14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0 /</a:t>
            </a:r>
            <a:r>
              <a:rPr lang="ko-KR" altLang="en-US" sz="14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 개발환경 구성</a:t>
            </a:r>
            <a:endParaRPr lang="en-US" altLang="ko-KR" sz="14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algn="ctr">
              <a:lnSpc>
                <a:spcPct val="150000"/>
              </a:lnSpc>
              <a:defRPr/>
            </a:pPr>
            <a:endParaRPr lang="en-US" altLang="ko-KR" sz="14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algn="ctr">
              <a:lnSpc>
                <a:spcPct val="150000"/>
              </a:lnSpc>
              <a:defRPr/>
            </a:pPr>
            <a:r>
              <a:rPr lang="en-US" altLang="ko-KR" sz="14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1 / Typescript</a:t>
            </a:r>
            <a:r>
              <a:rPr lang="ko-KR" altLang="en-US" sz="14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란</a:t>
            </a:r>
            <a:endParaRPr lang="en-US" altLang="ko-KR" sz="14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5784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94ADAD-360E-F618-D523-20CEAFA6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97433B9-6C02-1C2B-45ED-A193987A6010}"/>
              </a:ext>
            </a:extLst>
          </p:cNvPr>
          <p:cNvSpPr/>
          <p:nvPr/>
        </p:nvSpPr>
        <p:spPr>
          <a:xfrm>
            <a:off x="6127775" y="269693"/>
            <a:ext cx="1066250" cy="5048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27B79836-C8E4-E3E7-472D-F6AD3E1BB1D1}"/>
              </a:ext>
            </a:extLst>
          </p:cNvPr>
          <p:cNvSpPr/>
          <p:nvPr/>
        </p:nvSpPr>
        <p:spPr>
          <a:xfrm>
            <a:off x="1105947" y="269693"/>
            <a:ext cx="5898940" cy="504826"/>
          </a:xfrm>
          <a:custGeom>
            <a:avLst/>
            <a:gdLst>
              <a:gd name="connsiteX0" fmla="*/ 205868 w 5898940"/>
              <a:gd name="connsiteY0" fmla="*/ 0 h 504826"/>
              <a:gd name="connsiteX1" fmla="*/ 5646527 w 5898940"/>
              <a:gd name="connsiteY1" fmla="*/ 0 h 504826"/>
              <a:gd name="connsiteX2" fmla="*/ 5898940 w 5898940"/>
              <a:gd name="connsiteY2" fmla="*/ 252413 h 504826"/>
              <a:gd name="connsiteX3" fmla="*/ 5898939 w 5898940"/>
              <a:gd name="connsiteY3" fmla="*/ 252413 h 504826"/>
              <a:gd name="connsiteX4" fmla="*/ 5646526 w 5898940"/>
              <a:gd name="connsiteY4" fmla="*/ 504826 h 504826"/>
              <a:gd name="connsiteX5" fmla="*/ 0 w 5898940"/>
              <a:gd name="connsiteY5" fmla="*/ 504825 h 504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98940" h="504826">
                <a:moveTo>
                  <a:pt x="205868" y="0"/>
                </a:moveTo>
                <a:lnTo>
                  <a:pt x="5646527" y="0"/>
                </a:lnTo>
                <a:cubicBezTo>
                  <a:pt x="5785931" y="0"/>
                  <a:pt x="5898940" y="113009"/>
                  <a:pt x="5898940" y="252413"/>
                </a:cubicBezTo>
                <a:lnTo>
                  <a:pt x="5898939" y="252413"/>
                </a:lnTo>
                <a:cubicBezTo>
                  <a:pt x="5898939" y="391817"/>
                  <a:pt x="5785930" y="504826"/>
                  <a:pt x="5646526" y="504826"/>
                </a:cubicBezTo>
                <a:lnTo>
                  <a:pt x="0" y="504825"/>
                </a:lnTo>
                <a:close/>
              </a:path>
            </a:pathLst>
          </a:custGeom>
          <a:solidFill>
            <a:srgbClr val="FC4C4C"/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r>
              <a:rPr kumimoji="0" lang="ko-KR" altLang="en-US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개발환경 구성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89417891-6592-305C-AEA7-3152DA4BFF00}"/>
              </a:ext>
            </a:extLst>
          </p:cNvPr>
          <p:cNvSpPr/>
          <p:nvPr/>
        </p:nvSpPr>
        <p:spPr>
          <a:xfrm>
            <a:off x="1106471" y="693043"/>
            <a:ext cx="129121" cy="80193"/>
          </a:xfrm>
          <a:custGeom>
            <a:avLst/>
            <a:gdLst>
              <a:gd name="connsiteX0" fmla="*/ 32702 w 129121"/>
              <a:gd name="connsiteY0" fmla="*/ 0 h 80193"/>
              <a:gd name="connsiteX1" fmla="*/ 129121 w 129121"/>
              <a:gd name="connsiteY1" fmla="*/ 0 h 80193"/>
              <a:gd name="connsiteX2" fmla="*/ 128802 w 129121"/>
              <a:gd name="connsiteY2" fmla="*/ 765 h 80193"/>
              <a:gd name="connsiteX3" fmla="*/ 0 w 129121"/>
              <a:gd name="connsiteY3" fmla="*/ 80193 h 80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121" h="80193">
                <a:moveTo>
                  <a:pt x="32702" y="0"/>
                </a:moveTo>
                <a:lnTo>
                  <a:pt x="129121" y="0"/>
                </a:lnTo>
                <a:lnTo>
                  <a:pt x="128802" y="765"/>
                </a:lnTo>
                <a:lnTo>
                  <a:pt x="0" y="80193"/>
                </a:lnTo>
                <a:close/>
              </a:path>
            </a:pathLst>
          </a:custGeom>
          <a:solidFill>
            <a:schemeClr val="tx1">
              <a:alpha val="40000"/>
            </a:schemeClr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77693F93-20BD-0A20-1AB3-F40A924B6BE1}"/>
              </a:ext>
            </a:extLst>
          </p:cNvPr>
          <p:cNvSpPr/>
          <p:nvPr/>
        </p:nvSpPr>
        <p:spPr>
          <a:xfrm>
            <a:off x="371476" y="188218"/>
            <a:ext cx="1066250" cy="504825"/>
          </a:xfrm>
          <a:custGeom>
            <a:avLst/>
            <a:gdLst>
              <a:gd name="connsiteX0" fmla="*/ 0 w 1066250"/>
              <a:gd name="connsiteY0" fmla="*/ 252412 h 504825"/>
              <a:gd name="connsiteX1" fmla="*/ 0 w 1066250"/>
              <a:gd name="connsiteY1" fmla="*/ 252413 h 504825"/>
              <a:gd name="connsiteX2" fmla="*/ 0 w 1066250"/>
              <a:gd name="connsiteY2" fmla="*/ 252413 h 504825"/>
              <a:gd name="connsiteX3" fmla="*/ 252413 w 1066250"/>
              <a:gd name="connsiteY3" fmla="*/ 0 h 504825"/>
              <a:gd name="connsiteX4" fmla="*/ 1066250 w 1066250"/>
              <a:gd name="connsiteY4" fmla="*/ 0 h 504825"/>
              <a:gd name="connsiteX5" fmla="*/ 860382 w 1066250"/>
              <a:gd name="connsiteY5" fmla="*/ 504825 h 504825"/>
              <a:gd name="connsiteX6" fmla="*/ 252413 w 1066250"/>
              <a:gd name="connsiteY6" fmla="*/ 504825 h 504825"/>
              <a:gd name="connsiteX7" fmla="*/ 19836 w 1066250"/>
              <a:gd name="connsiteY7" fmla="*/ 350663 h 504825"/>
              <a:gd name="connsiteX8" fmla="*/ 0 w 1066250"/>
              <a:gd name="connsiteY8" fmla="*/ 252413 h 504825"/>
              <a:gd name="connsiteX9" fmla="*/ 19836 w 1066250"/>
              <a:gd name="connsiteY9" fmla="*/ 154162 h 504825"/>
              <a:gd name="connsiteX10" fmla="*/ 252413 w 1066250"/>
              <a:gd name="connsiteY10" fmla="*/ 0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66250" h="504825">
                <a:moveTo>
                  <a:pt x="0" y="252412"/>
                </a:moveTo>
                <a:lnTo>
                  <a:pt x="0" y="252413"/>
                </a:lnTo>
                <a:lnTo>
                  <a:pt x="0" y="252413"/>
                </a:lnTo>
                <a:close/>
                <a:moveTo>
                  <a:pt x="252413" y="0"/>
                </a:moveTo>
                <a:lnTo>
                  <a:pt x="1066250" y="0"/>
                </a:lnTo>
                <a:lnTo>
                  <a:pt x="860382" y="504825"/>
                </a:lnTo>
                <a:lnTo>
                  <a:pt x="252413" y="504825"/>
                </a:lnTo>
                <a:cubicBezTo>
                  <a:pt x="147860" y="504825"/>
                  <a:pt x="58154" y="441257"/>
                  <a:pt x="19836" y="350663"/>
                </a:cubicBezTo>
                <a:lnTo>
                  <a:pt x="0" y="252413"/>
                </a:lnTo>
                <a:lnTo>
                  <a:pt x="19836" y="154162"/>
                </a:lnTo>
                <a:cubicBezTo>
                  <a:pt x="58154" y="63568"/>
                  <a:pt x="147860" y="0"/>
                  <a:pt x="25241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BFB4EE29-C09E-7602-727E-237B08C776E1}"/>
              </a:ext>
            </a:extLst>
          </p:cNvPr>
          <p:cNvCxnSpPr/>
          <p:nvPr/>
        </p:nvCxnSpPr>
        <p:spPr>
          <a:xfrm>
            <a:off x="7092426" y="504825"/>
            <a:ext cx="5112000" cy="0"/>
          </a:xfrm>
          <a:prstGeom prst="line">
            <a:avLst/>
          </a:prstGeom>
          <a:ln w="3175">
            <a:solidFill>
              <a:srgbClr val="FC4C4C"/>
            </a:solidFill>
            <a:prstDash val="dash"/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E5D6E26-9AB9-BF21-4162-72E7DBF14AC3}"/>
              </a:ext>
            </a:extLst>
          </p:cNvPr>
          <p:cNvSpPr/>
          <p:nvPr/>
        </p:nvSpPr>
        <p:spPr>
          <a:xfrm>
            <a:off x="1103577" y="2824968"/>
            <a:ext cx="5506678" cy="14416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/>
              <a:t>Project </a:t>
            </a:r>
            <a:r>
              <a:rPr lang="ko-KR" altLang="en-US" sz="1200" dirty="0"/>
              <a:t>폴더 생성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 err="1">
                <a:effectLst/>
              </a:rPr>
              <a:t>npm</a:t>
            </a:r>
            <a:r>
              <a:rPr lang="ko-KR" altLang="en-US" sz="1200" dirty="0">
                <a:effectLst/>
              </a:rPr>
              <a:t> 을 사용하여 </a:t>
            </a:r>
            <a:r>
              <a:rPr lang="en-US" altLang="ko-KR" sz="1200" dirty="0">
                <a:effectLst/>
              </a:rPr>
              <a:t>typescript</a:t>
            </a:r>
            <a:r>
              <a:rPr lang="ko-KR" altLang="en-US" sz="1200" dirty="0">
                <a:effectLst/>
              </a:rPr>
              <a:t> 설치</a:t>
            </a:r>
            <a:endParaRPr lang="en-US" altLang="ko-KR" sz="1200" dirty="0">
              <a:effectLst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 err="1"/>
              <a:t>npx</a:t>
            </a:r>
            <a:r>
              <a:rPr lang="en-US" altLang="ko-KR" sz="1200" dirty="0"/>
              <a:t> </a:t>
            </a:r>
            <a:r>
              <a:rPr lang="en-US" altLang="ko-KR" sz="1200" dirty="0" err="1"/>
              <a:t>tsc</a:t>
            </a:r>
            <a:r>
              <a:rPr lang="en-US" altLang="ko-KR" sz="1200" dirty="0"/>
              <a:t> --</a:t>
            </a:r>
            <a:r>
              <a:rPr lang="en-US" altLang="ko-KR" sz="1200" dirty="0" err="1"/>
              <a:t>init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 err="1"/>
              <a:t>index.html</a:t>
            </a:r>
            <a:r>
              <a:rPr lang="ko-KR" altLang="en-US" sz="1200" dirty="0"/>
              <a:t> 생성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http-server </a:t>
            </a:r>
            <a:r>
              <a:rPr lang="ko-KR" altLang="en-US" sz="1200" dirty="0"/>
              <a:t>실행</a:t>
            </a:r>
            <a:endParaRPr lang="en-US" altLang="ko-KR" sz="1200" dirty="0">
              <a:effectLst/>
            </a:endParaRPr>
          </a:p>
        </p:txBody>
      </p:sp>
      <p:pic>
        <p:nvPicPr>
          <p:cNvPr id="4098" name="Picture 2" descr="처음 시작하는 Node.js 개발 - 2 - npm | HEROPY">
            <a:extLst>
              <a:ext uri="{FF2B5EF4-FFF2-40B4-BE49-F238E27FC236}">
                <a16:creationId xmlns:a16="http://schemas.microsoft.com/office/drawing/2014/main" id="{737DE294-3997-4870-A6F8-4ED22253A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095" y="903807"/>
            <a:ext cx="4273025" cy="2136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54AB7D4-F5D3-5BE3-E1C8-B86E288767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5417" y="1505378"/>
            <a:ext cx="7772400" cy="3491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33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94ADAD-360E-F618-D523-20CEAFA6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TS] TypeScript란?">
            <a:extLst>
              <a:ext uri="{FF2B5EF4-FFF2-40B4-BE49-F238E27FC236}">
                <a16:creationId xmlns:a16="http://schemas.microsoft.com/office/drawing/2014/main" id="{5689C397-AE45-197D-BFBD-B99D302AA2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685" y="1066793"/>
            <a:ext cx="2601307" cy="1464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97433B9-6C02-1C2B-45ED-A193987A6010}"/>
              </a:ext>
            </a:extLst>
          </p:cNvPr>
          <p:cNvSpPr/>
          <p:nvPr/>
        </p:nvSpPr>
        <p:spPr>
          <a:xfrm>
            <a:off x="6127775" y="269693"/>
            <a:ext cx="1066250" cy="5048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27B79836-C8E4-E3E7-472D-F6AD3E1BB1D1}"/>
              </a:ext>
            </a:extLst>
          </p:cNvPr>
          <p:cNvSpPr/>
          <p:nvPr/>
        </p:nvSpPr>
        <p:spPr>
          <a:xfrm>
            <a:off x="1105947" y="269693"/>
            <a:ext cx="5898940" cy="504826"/>
          </a:xfrm>
          <a:custGeom>
            <a:avLst/>
            <a:gdLst>
              <a:gd name="connsiteX0" fmla="*/ 205868 w 5898940"/>
              <a:gd name="connsiteY0" fmla="*/ 0 h 504826"/>
              <a:gd name="connsiteX1" fmla="*/ 5646527 w 5898940"/>
              <a:gd name="connsiteY1" fmla="*/ 0 h 504826"/>
              <a:gd name="connsiteX2" fmla="*/ 5898940 w 5898940"/>
              <a:gd name="connsiteY2" fmla="*/ 252413 h 504826"/>
              <a:gd name="connsiteX3" fmla="*/ 5898939 w 5898940"/>
              <a:gd name="connsiteY3" fmla="*/ 252413 h 504826"/>
              <a:gd name="connsiteX4" fmla="*/ 5646526 w 5898940"/>
              <a:gd name="connsiteY4" fmla="*/ 504826 h 504826"/>
              <a:gd name="connsiteX5" fmla="*/ 0 w 5898940"/>
              <a:gd name="connsiteY5" fmla="*/ 504825 h 504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98940" h="504826">
                <a:moveTo>
                  <a:pt x="205868" y="0"/>
                </a:moveTo>
                <a:lnTo>
                  <a:pt x="5646527" y="0"/>
                </a:lnTo>
                <a:cubicBezTo>
                  <a:pt x="5785931" y="0"/>
                  <a:pt x="5898940" y="113009"/>
                  <a:pt x="5898940" y="252413"/>
                </a:cubicBezTo>
                <a:lnTo>
                  <a:pt x="5898939" y="252413"/>
                </a:lnTo>
                <a:cubicBezTo>
                  <a:pt x="5898939" y="391817"/>
                  <a:pt x="5785930" y="504826"/>
                  <a:pt x="5646526" y="504826"/>
                </a:cubicBezTo>
                <a:lnTo>
                  <a:pt x="0" y="504825"/>
                </a:lnTo>
                <a:close/>
              </a:path>
            </a:pathLst>
          </a:custGeom>
          <a:solidFill>
            <a:srgbClr val="FC4C4C"/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r>
              <a:rPr kumimoji="0" lang="en-US" altLang="ko-KR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Typescript</a:t>
            </a:r>
            <a:r>
              <a:rPr kumimoji="0" lang="ko-KR" altLang="en-US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란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89417891-6592-305C-AEA7-3152DA4BFF00}"/>
              </a:ext>
            </a:extLst>
          </p:cNvPr>
          <p:cNvSpPr/>
          <p:nvPr/>
        </p:nvSpPr>
        <p:spPr>
          <a:xfrm>
            <a:off x="1106471" y="693043"/>
            <a:ext cx="129121" cy="80193"/>
          </a:xfrm>
          <a:custGeom>
            <a:avLst/>
            <a:gdLst>
              <a:gd name="connsiteX0" fmla="*/ 32702 w 129121"/>
              <a:gd name="connsiteY0" fmla="*/ 0 h 80193"/>
              <a:gd name="connsiteX1" fmla="*/ 129121 w 129121"/>
              <a:gd name="connsiteY1" fmla="*/ 0 h 80193"/>
              <a:gd name="connsiteX2" fmla="*/ 128802 w 129121"/>
              <a:gd name="connsiteY2" fmla="*/ 765 h 80193"/>
              <a:gd name="connsiteX3" fmla="*/ 0 w 129121"/>
              <a:gd name="connsiteY3" fmla="*/ 80193 h 80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121" h="80193">
                <a:moveTo>
                  <a:pt x="32702" y="0"/>
                </a:moveTo>
                <a:lnTo>
                  <a:pt x="129121" y="0"/>
                </a:lnTo>
                <a:lnTo>
                  <a:pt x="128802" y="765"/>
                </a:lnTo>
                <a:lnTo>
                  <a:pt x="0" y="80193"/>
                </a:lnTo>
                <a:close/>
              </a:path>
            </a:pathLst>
          </a:custGeom>
          <a:solidFill>
            <a:schemeClr val="tx1">
              <a:alpha val="40000"/>
            </a:schemeClr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77693F93-20BD-0A20-1AB3-F40A924B6BE1}"/>
              </a:ext>
            </a:extLst>
          </p:cNvPr>
          <p:cNvSpPr/>
          <p:nvPr/>
        </p:nvSpPr>
        <p:spPr>
          <a:xfrm>
            <a:off x="371476" y="188218"/>
            <a:ext cx="1066250" cy="504825"/>
          </a:xfrm>
          <a:custGeom>
            <a:avLst/>
            <a:gdLst>
              <a:gd name="connsiteX0" fmla="*/ 0 w 1066250"/>
              <a:gd name="connsiteY0" fmla="*/ 252412 h 504825"/>
              <a:gd name="connsiteX1" fmla="*/ 0 w 1066250"/>
              <a:gd name="connsiteY1" fmla="*/ 252413 h 504825"/>
              <a:gd name="connsiteX2" fmla="*/ 0 w 1066250"/>
              <a:gd name="connsiteY2" fmla="*/ 252413 h 504825"/>
              <a:gd name="connsiteX3" fmla="*/ 252413 w 1066250"/>
              <a:gd name="connsiteY3" fmla="*/ 0 h 504825"/>
              <a:gd name="connsiteX4" fmla="*/ 1066250 w 1066250"/>
              <a:gd name="connsiteY4" fmla="*/ 0 h 504825"/>
              <a:gd name="connsiteX5" fmla="*/ 860382 w 1066250"/>
              <a:gd name="connsiteY5" fmla="*/ 504825 h 504825"/>
              <a:gd name="connsiteX6" fmla="*/ 252413 w 1066250"/>
              <a:gd name="connsiteY6" fmla="*/ 504825 h 504825"/>
              <a:gd name="connsiteX7" fmla="*/ 19836 w 1066250"/>
              <a:gd name="connsiteY7" fmla="*/ 350663 h 504825"/>
              <a:gd name="connsiteX8" fmla="*/ 0 w 1066250"/>
              <a:gd name="connsiteY8" fmla="*/ 252413 h 504825"/>
              <a:gd name="connsiteX9" fmla="*/ 19836 w 1066250"/>
              <a:gd name="connsiteY9" fmla="*/ 154162 h 504825"/>
              <a:gd name="connsiteX10" fmla="*/ 252413 w 1066250"/>
              <a:gd name="connsiteY10" fmla="*/ 0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66250" h="504825">
                <a:moveTo>
                  <a:pt x="0" y="252412"/>
                </a:moveTo>
                <a:lnTo>
                  <a:pt x="0" y="252413"/>
                </a:lnTo>
                <a:lnTo>
                  <a:pt x="0" y="252413"/>
                </a:lnTo>
                <a:close/>
                <a:moveTo>
                  <a:pt x="252413" y="0"/>
                </a:moveTo>
                <a:lnTo>
                  <a:pt x="1066250" y="0"/>
                </a:lnTo>
                <a:lnTo>
                  <a:pt x="860382" y="504825"/>
                </a:lnTo>
                <a:lnTo>
                  <a:pt x="252413" y="504825"/>
                </a:lnTo>
                <a:cubicBezTo>
                  <a:pt x="147860" y="504825"/>
                  <a:pt x="58154" y="441257"/>
                  <a:pt x="19836" y="350663"/>
                </a:cubicBezTo>
                <a:lnTo>
                  <a:pt x="0" y="252413"/>
                </a:lnTo>
                <a:lnTo>
                  <a:pt x="19836" y="154162"/>
                </a:lnTo>
                <a:cubicBezTo>
                  <a:pt x="58154" y="63568"/>
                  <a:pt x="147860" y="0"/>
                  <a:pt x="25241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Tmon몬소리 Black" panose="02000A03000000000000" pitchFamily="2" charset="-127"/>
                <a:cs typeface="+mn-cs"/>
              </a:rPr>
              <a:t>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BFB4EE29-C09E-7602-727E-237B08C776E1}"/>
              </a:ext>
            </a:extLst>
          </p:cNvPr>
          <p:cNvCxnSpPr/>
          <p:nvPr/>
        </p:nvCxnSpPr>
        <p:spPr>
          <a:xfrm>
            <a:off x="7092426" y="504825"/>
            <a:ext cx="5112000" cy="0"/>
          </a:xfrm>
          <a:prstGeom prst="line">
            <a:avLst/>
          </a:prstGeom>
          <a:ln w="3175">
            <a:solidFill>
              <a:srgbClr val="FC4C4C"/>
            </a:solidFill>
            <a:prstDash val="dash"/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E5D6E26-9AB9-BF21-4162-72E7DBF14AC3}"/>
              </a:ext>
            </a:extLst>
          </p:cNvPr>
          <p:cNvSpPr/>
          <p:nvPr/>
        </p:nvSpPr>
        <p:spPr>
          <a:xfrm>
            <a:off x="4627488" y="1265899"/>
            <a:ext cx="5506678" cy="11646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" altLang="ko-KR" sz="1200" dirty="0"/>
              <a:t>TypeScript</a:t>
            </a:r>
            <a:r>
              <a:rPr lang="ko-KR" altLang="en-US" sz="1200" dirty="0"/>
              <a:t>는 </a:t>
            </a:r>
            <a:r>
              <a:rPr lang="en" altLang="ko-KR" sz="1200" dirty="0"/>
              <a:t>Microsoft</a:t>
            </a:r>
            <a:r>
              <a:rPr lang="ko-KR" altLang="en-US" sz="1200" dirty="0"/>
              <a:t>에서 개발한 </a:t>
            </a:r>
            <a:r>
              <a:rPr lang="en" altLang="ko-KR" sz="1200" dirty="0"/>
              <a:t>JavaScript</a:t>
            </a:r>
            <a:r>
              <a:rPr lang="ko-KR" altLang="en-US" sz="1200" dirty="0"/>
              <a:t>의 상위 집합입니다</a:t>
            </a:r>
            <a:r>
              <a:rPr lang="en-US" altLang="ko-KR" sz="12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 dirty="0"/>
              <a:t>정적 타입을 지원하여 런타임 오류를 줄이고 코드 품질을 향상시킵니다</a:t>
            </a:r>
            <a:r>
              <a:rPr lang="en-US" altLang="ko-KR" sz="1200" dirty="0"/>
              <a:t>.</a:t>
            </a:r>
          </a:p>
          <a:p>
            <a:pPr>
              <a:lnSpc>
                <a:spcPct val="150000"/>
              </a:lnSpc>
            </a:pPr>
            <a:r>
              <a:rPr lang="en" altLang="ko-KR" sz="1200" dirty="0"/>
              <a:t>ECMAScript </a:t>
            </a:r>
            <a:r>
              <a:rPr lang="ko-KR" altLang="en-US" sz="1200" dirty="0"/>
              <a:t>최신 기능을 포함하며</a:t>
            </a:r>
            <a:r>
              <a:rPr lang="en-US" altLang="ko-KR" sz="1200" dirty="0"/>
              <a:t>, </a:t>
            </a:r>
            <a:r>
              <a:rPr lang="en" altLang="ko-KR" sz="1200" dirty="0"/>
              <a:t>JavaScript</a:t>
            </a:r>
            <a:r>
              <a:rPr lang="ko-KR" altLang="en-US" sz="1200" dirty="0"/>
              <a:t>로 </a:t>
            </a:r>
            <a:r>
              <a:rPr lang="ko-KR" altLang="en-US" sz="1200" dirty="0" err="1"/>
              <a:t>컴파일됩니다</a:t>
            </a:r>
            <a:r>
              <a:rPr lang="en-US" altLang="ko-KR" sz="12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 dirty="0"/>
              <a:t>대규모 프로젝트에서 유지보수성과 안정성을 제공합니다</a:t>
            </a:r>
            <a:r>
              <a:rPr lang="en-US" altLang="ko-KR" sz="1200" dirty="0"/>
              <a:t>.</a:t>
            </a:r>
            <a:endParaRPr lang="ko-KR" altLang="en-US" sz="12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AEED067-33A6-400C-5B47-32DADBD98444}"/>
              </a:ext>
            </a:extLst>
          </p:cNvPr>
          <p:cNvSpPr/>
          <p:nvPr/>
        </p:nvSpPr>
        <p:spPr>
          <a:xfrm>
            <a:off x="999705" y="2634603"/>
            <a:ext cx="10027131" cy="373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변수 선언</a:t>
            </a:r>
            <a:endParaRPr lang="en-US" altLang="ko-KR" sz="1400" b="1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1" name="자유형 80">
            <a:extLst>
              <a:ext uri="{FF2B5EF4-FFF2-40B4-BE49-F238E27FC236}">
                <a16:creationId xmlns:a16="http://schemas.microsoft.com/office/drawing/2014/main" id="{1EAEB1AE-5571-5F9D-9450-EAF6A41A90B5}"/>
              </a:ext>
            </a:extLst>
          </p:cNvPr>
          <p:cNvSpPr/>
          <p:nvPr/>
        </p:nvSpPr>
        <p:spPr>
          <a:xfrm>
            <a:off x="3539424" y="1610139"/>
            <a:ext cx="963002" cy="109331"/>
          </a:xfrm>
          <a:custGeom>
            <a:avLst/>
            <a:gdLst>
              <a:gd name="connsiteX0" fmla="*/ 1921397 w 1921397"/>
              <a:gd name="connsiteY0" fmla="*/ 0 h 1759351"/>
              <a:gd name="connsiteX1" fmla="*/ 0 w 1921397"/>
              <a:gd name="connsiteY1" fmla="*/ 1307939 h 1759351"/>
              <a:gd name="connsiteX2" fmla="*/ 11574 w 1921397"/>
              <a:gd name="connsiteY2" fmla="*/ 1759351 h 1759351"/>
              <a:gd name="connsiteX0" fmla="*/ 1921397 w 1921397"/>
              <a:gd name="connsiteY0" fmla="*/ 0 h 1759351"/>
              <a:gd name="connsiteX1" fmla="*/ 0 w 1921397"/>
              <a:gd name="connsiteY1" fmla="*/ 1307939 h 1759351"/>
              <a:gd name="connsiteX2" fmla="*/ 8399 w 1921397"/>
              <a:gd name="connsiteY2" fmla="*/ 1759351 h 1759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21397" h="1759351">
                <a:moveTo>
                  <a:pt x="1921397" y="0"/>
                </a:moveTo>
                <a:lnTo>
                  <a:pt x="0" y="1307939"/>
                </a:lnTo>
                <a:lnTo>
                  <a:pt x="8399" y="1759351"/>
                </a:lnTo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  <a:prstDash val="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D106B3F-1247-F2A7-5AA0-066AEF0D9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1033" y="4868572"/>
            <a:ext cx="5947578" cy="145508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6DB9B4B-ACDA-EA11-D61D-A65DF7BEF4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378" y="2667916"/>
            <a:ext cx="4872430" cy="276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301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94ADAD-360E-F618-D523-20CEAFA68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97433B9-6C02-1C2B-45ED-A193987A6010}"/>
              </a:ext>
            </a:extLst>
          </p:cNvPr>
          <p:cNvSpPr/>
          <p:nvPr/>
        </p:nvSpPr>
        <p:spPr>
          <a:xfrm>
            <a:off x="6127775" y="269693"/>
            <a:ext cx="1066250" cy="50482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27B79836-C8E4-E3E7-472D-F6AD3E1BB1D1}"/>
              </a:ext>
            </a:extLst>
          </p:cNvPr>
          <p:cNvSpPr/>
          <p:nvPr/>
        </p:nvSpPr>
        <p:spPr>
          <a:xfrm>
            <a:off x="1105947" y="269693"/>
            <a:ext cx="5898940" cy="504826"/>
          </a:xfrm>
          <a:custGeom>
            <a:avLst/>
            <a:gdLst>
              <a:gd name="connsiteX0" fmla="*/ 205868 w 5898940"/>
              <a:gd name="connsiteY0" fmla="*/ 0 h 504826"/>
              <a:gd name="connsiteX1" fmla="*/ 5646527 w 5898940"/>
              <a:gd name="connsiteY1" fmla="*/ 0 h 504826"/>
              <a:gd name="connsiteX2" fmla="*/ 5898940 w 5898940"/>
              <a:gd name="connsiteY2" fmla="*/ 252413 h 504826"/>
              <a:gd name="connsiteX3" fmla="*/ 5898939 w 5898940"/>
              <a:gd name="connsiteY3" fmla="*/ 252413 h 504826"/>
              <a:gd name="connsiteX4" fmla="*/ 5646526 w 5898940"/>
              <a:gd name="connsiteY4" fmla="*/ 504826 h 504826"/>
              <a:gd name="connsiteX5" fmla="*/ 0 w 5898940"/>
              <a:gd name="connsiteY5" fmla="*/ 504825 h 504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98940" h="504826">
                <a:moveTo>
                  <a:pt x="205868" y="0"/>
                </a:moveTo>
                <a:lnTo>
                  <a:pt x="5646527" y="0"/>
                </a:lnTo>
                <a:cubicBezTo>
                  <a:pt x="5785931" y="0"/>
                  <a:pt x="5898940" y="113009"/>
                  <a:pt x="5898940" y="252413"/>
                </a:cubicBezTo>
                <a:lnTo>
                  <a:pt x="5898939" y="252413"/>
                </a:lnTo>
                <a:cubicBezTo>
                  <a:pt x="5898939" y="391817"/>
                  <a:pt x="5785930" y="504826"/>
                  <a:pt x="5646526" y="504826"/>
                </a:cubicBezTo>
                <a:lnTo>
                  <a:pt x="0" y="504825"/>
                </a:lnTo>
                <a:close/>
              </a:path>
            </a:pathLst>
          </a:custGeom>
          <a:solidFill>
            <a:srgbClr val="FC4C4C"/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r>
              <a:rPr kumimoji="0" lang="en-US" altLang="ko-KR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Typescript</a:t>
            </a:r>
            <a:r>
              <a:rPr kumimoji="0" lang="ko-KR" altLang="en-US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mon몬소리 Black" panose="02000A03000000000000" pitchFamily="2" charset="-127"/>
                <a:ea typeface="Tmon몬소리 Black" panose="02000A03000000000000" pitchFamily="2" charset="-127"/>
                <a:cs typeface="+mn-cs"/>
              </a:rPr>
              <a:t>란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89417891-6592-305C-AEA7-3152DA4BFF00}"/>
              </a:ext>
            </a:extLst>
          </p:cNvPr>
          <p:cNvSpPr/>
          <p:nvPr/>
        </p:nvSpPr>
        <p:spPr>
          <a:xfrm>
            <a:off x="1106471" y="693043"/>
            <a:ext cx="129121" cy="80193"/>
          </a:xfrm>
          <a:custGeom>
            <a:avLst/>
            <a:gdLst>
              <a:gd name="connsiteX0" fmla="*/ 32702 w 129121"/>
              <a:gd name="connsiteY0" fmla="*/ 0 h 80193"/>
              <a:gd name="connsiteX1" fmla="*/ 129121 w 129121"/>
              <a:gd name="connsiteY1" fmla="*/ 0 h 80193"/>
              <a:gd name="connsiteX2" fmla="*/ 128802 w 129121"/>
              <a:gd name="connsiteY2" fmla="*/ 765 h 80193"/>
              <a:gd name="connsiteX3" fmla="*/ 0 w 129121"/>
              <a:gd name="connsiteY3" fmla="*/ 80193 h 80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121" h="80193">
                <a:moveTo>
                  <a:pt x="32702" y="0"/>
                </a:moveTo>
                <a:lnTo>
                  <a:pt x="129121" y="0"/>
                </a:lnTo>
                <a:lnTo>
                  <a:pt x="128802" y="765"/>
                </a:lnTo>
                <a:lnTo>
                  <a:pt x="0" y="80193"/>
                </a:lnTo>
                <a:close/>
              </a:path>
            </a:pathLst>
          </a:custGeom>
          <a:solidFill>
            <a:schemeClr val="tx1">
              <a:alpha val="40000"/>
            </a:schemeClr>
          </a:solidFill>
          <a:ln>
            <a:noFill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자유형: 도형 11">
            <a:extLst>
              <a:ext uri="{FF2B5EF4-FFF2-40B4-BE49-F238E27FC236}">
                <a16:creationId xmlns:a16="http://schemas.microsoft.com/office/drawing/2014/main" id="{77693F93-20BD-0A20-1AB3-F40A924B6BE1}"/>
              </a:ext>
            </a:extLst>
          </p:cNvPr>
          <p:cNvSpPr/>
          <p:nvPr/>
        </p:nvSpPr>
        <p:spPr>
          <a:xfrm>
            <a:off x="371476" y="188218"/>
            <a:ext cx="1066250" cy="504825"/>
          </a:xfrm>
          <a:custGeom>
            <a:avLst/>
            <a:gdLst>
              <a:gd name="connsiteX0" fmla="*/ 0 w 1066250"/>
              <a:gd name="connsiteY0" fmla="*/ 252412 h 504825"/>
              <a:gd name="connsiteX1" fmla="*/ 0 w 1066250"/>
              <a:gd name="connsiteY1" fmla="*/ 252413 h 504825"/>
              <a:gd name="connsiteX2" fmla="*/ 0 w 1066250"/>
              <a:gd name="connsiteY2" fmla="*/ 252413 h 504825"/>
              <a:gd name="connsiteX3" fmla="*/ 252413 w 1066250"/>
              <a:gd name="connsiteY3" fmla="*/ 0 h 504825"/>
              <a:gd name="connsiteX4" fmla="*/ 1066250 w 1066250"/>
              <a:gd name="connsiteY4" fmla="*/ 0 h 504825"/>
              <a:gd name="connsiteX5" fmla="*/ 860382 w 1066250"/>
              <a:gd name="connsiteY5" fmla="*/ 504825 h 504825"/>
              <a:gd name="connsiteX6" fmla="*/ 252413 w 1066250"/>
              <a:gd name="connsiteY6" fmla="*/ 504825 h 504825"/>
              <a:gd name="connsiteX7" fmla="*/ 19836 w 1066250"/>
              <a:gd name="connsiteY7" fmla="*/ 350663 h 504825"/>
              <a:gd name="connsiteX8" fmla="*/ 0 w 1066250"/>
              <a:gd name="connsiteY8" fmla="*/ 252413 h 504825"/>
              <a:gd name="connsiteX9" fmla="*/ 19836 w 1066250"/>
              <a:gd name="connsiteY9" fmla="*/ 154162 h 504825"/>
              <a:gd name="connsiteX10" fmla="*/ 252413 w 1066250"/>
              <a:gd name="connsiteY10" fmla="*/ 0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66250" h="504825">
                <a:moveTo>
                  <a:pt x="0" y="252412"/>
                </a:moveTo>
                <a:lnTo>
                  <a:pt x="0" y="252413"/>
                </a:lnTo>
                <a:lnTo>
                  <a:pt x="0" y="252413"/>
                </a:lnTo>
                <a:close/>
                <a:moveTo>
                  <a:pt x="252413" y="0"/>
                </a:moveTo>
                <a:lnTo>
                  <a:pt x="1066250" y="0"/>
                </a:lnTo>
                <a:lnTo>
                  <a:pt x="860382" y="504825"/>
                </a:lnTo>
                <a:lnTo>
                  <a:pt x="252413" y="504825"/>
                </a:lnTo>
                <a:cubicBezTo>
                  <a:pt x="147860" y="504825"/>
                  <a:pt x="58154" y="441257"/>
                  <a:pt x="19836" y="350663"/>
                </a:cubicBezTo>
                <a:lnTo>
                  <a:pt x="0" y="252413"/>
                </a:lnTo>
                <a:lnTo>
                  <a:pt x="19836" y="154162"/>
                </a:lnTo>
                <a:cubicBezTo>
                  <a:pt x="58154" y="63568"/>
                  <a:pt x="147860" y="0"/>
                  <a:pt x="25241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1" u="none" strike="noStrike" kern="0" cap="none" spc="0" normalizeH="0" baseline="0" noProof="0" dirty="0">
                <a:ln w="9525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Tmon몬소리 Black" panose="02000A03000000000000" pitchFamily="2" charset="-127"/>
                <a:cs typeface="+mn-cs"/>
              </a:rPr>
              <a:t>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BFB4EE29-C09E-7602-727E-237B08C776E1}"/>
              </a:ext>
            </a:extLst>
          </p:cNvPr>
          <p:cNvCxnSpPr/>
          <p:nvPr/>
        </p:nvCxnSpPr>
        <p:spPr>
          <a:xfrm>
            <a:off x="7092426" y="504825"/>
            <a:ext cx="5112000" cy="0"/>
          </a:xfrm>
          <a:prstGeom prst="line">
            <a:avLst/>
          </a:prstGeom>
          <a:ln w="3175">
            <a:solidFill>
              <a:srgbClr val="FC4C4C"/>
            </a:solidFill>
            <a:prstDash val="dash"/>
            <a:head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AEED067-33A6-400C-5B47-32DADBD98444}"/>
              </a:ext>
            </a:extLst>
          </p:cNvPr>
          <p:cNvSpPr/>
          <p:nvPr/>
        </p:nvSpPr>
        <p:spPr>
          <a:xfrm>
            <a:off x="1082434" y="1045541"/>
            <a:ext cx="10027131" cy="373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함수</a:t>
            </a:r>
            <a:endParaRPr lang="en-US" altLang="ko-KR" sz="1400" b="1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DD4654D-A1C1-0204-F3E6-CEB2CE24EC1F}"/>
              </a:ext>
            </a:extLst>
          </p:cNvPr>
          <p:cNvSpPr/>
          <p:nvPr/>
        </p:nvSpPr>
        <p:spPr>
          <a:xfrm>
            <a:off x="1105947" y="3709072"/>
            <a:ext cx="10027131" cy="373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인터페이스</a:t>
            </a:r>
            <a:endParaRPr lang="en-US" altLang="ko-KR" sz="1400" b="1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026A5A3-A3EA-DCA7-CA47-5289DEE89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063" y="1045541"/>
            <a:ext cx="5237921" cy="262727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80FFA1D-0DC4-ACF3-A21F-3B3C54EB9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063" y="3677322"/>
            <a:ext cx="5108665" cy="3170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24062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1430</TotalTime>
  <Words>82</Words>
  <Application>Microsoft Macintosh PowerPoint</Application>
  <PresentationFormat>와이드스크린</PresentationFormat>
  <Paragraphs>26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맑은 고딕</vt:lpstr>
      <vt:lpstr>Tmon몬소리 Black</vt:lpstr>
      <vt:lpstr>Arial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현석 조</dc:creator>
  <cp:lastModifiedBy>aton</cp:lastModifiedBy>
  <cp:revision>13</cp:revision>
  <dcterms:created xsi:type="dcterms:W3CDTF">2025-02-16T02:18:17Z</dcterms:created>
  <dcterms:modified xsi:type="dcterms:W3CDTF">2025-02-27T01:57:37Z</dcterms:modified>
</cp:coreProperties>
</file>